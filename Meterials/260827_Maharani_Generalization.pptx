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4" r:id="rId3"/>
    <p:sldId id="258" r:id="rId4"/>
    <p:sldId id="261" r:id="rId5"/>
    <p:sldId id="257" r:id="rId6"/>
    <p:sldId id="279" r:id="rId7"/>
    <p:sldId id="262" r:id="rId8"/>
    <p:sldId id="280" r:id="rId9"/>
    <p:sldId id="264" r:id="rId10"/>
    <p:sldId id="265" r:id="rId11"/>
    <p:sldId id="266" r:id="rId12"/>
    <p:sldId id="275" r:id="rId13"/>
    <p:sldId id="281" r:id="rId14"/>
    <p:sldId id="269" r:id="rId15"/>
    <p:sldId id="271" r:id="rId16"/>
    <p:sldId id="273" r:id="rId17"/>
    <p:sldId id="272" r:id="rId18"/>
    <p:sldId id="276" r:id="rId19"/>
    <p:sldId id="282" r:id="rId20"/>
    <p:sldId id="283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915" autoAdjust="0"/>
  </p:normalViewPr>
  <p:slideViewPr>
    <p:cSldViewPr snapToGrid="0">
      <p:cViewPr varScale="1">
        <p:scale>
          <a:sx n="66" d="100"/>
          <a:sy n="66" d="100"/>
        </p:scale>
        <p:origin x="1330" y="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75755-020F-4E52-99F9-D688E30E4321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2806E-9097-4E14-B78A-A29C16AF82E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636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6338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In the usual condition, standard model have higher robust error. </a:t>
            </a:r>
            <a:br>
              <a:rPr lang="en-ID" dirty="0"/>
            </a:br>
            <a:r>
              <a:rPr lang="en-ID" dirty="0"/>
              <a:t>Whilst prior works has tried to reduce that robust error, they hurt the standard error to 4x higher than standard training on clean samples.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3937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0805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>
                <a:latin typeface="+mn-lt"/>
              </a:rPr>
              <a:t>since the previous works focus on reducing the robust error, this paper take side on standard error on the clean examples of adversarially trained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2970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latinLnBrk="0" hangingPunct="1"/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 training have low accuracy on adversary examples. When we try to improve them by robust accuracy, it decrease the standard accuracy.</a:t>
            </a:r>
            <a:endParaRPr lang="en-ID" dirty="0">
              <a:effectLst/>
            </a:endParaRPr>
          </a:p>
          <a:p>
            <a:pPr rtl="0" eaLnBrk="1" latinLnBrk="0" hangingPunct="1"/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trade off in accuracy and robustness.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269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2204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9812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5248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D" dirty="0"/>
            </a:b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0850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2585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Goal: </a:t>
            </a:r>
            <a:r>
              <a:rPr lang="en-ID" sz="1200" dirty="0">
                <a:latin typeface="Aptos Narrow" panose="020B0004020202020204" pitchFamily="34" charset="0"/>
              </a:rPr>
              <a:t>where</a:t>
            </a:r>
            <a:r>
              <a:rPr lang="en-ID" sz="1200" dirty="0"/>
              <a:t> standard error after robust training is no greater than standard error before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8218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difficult due to:</a:t>
            </a:r>
          </a:p>
          <a:p>
            <a:pPr lvl="1"/>
            <a:r>
              <a:rPr lang="en-US" dirty="0"/>
              <a:t>cost of gathering additional data and obtaining </a:t>
            </a:r>
            <a:r>
              <a:rPr lang="en-ID" dirty="0"/>
              <a:t>high-quality labels.</a:t>
            </a:r>
            <a:endParaRPr lang="en-US" dirty="0"/>
          </a:p>
          <a:p>
            <a:endParaRPr lang="en-ID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375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20624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4523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F851-9522-191D-CBEE-D2BAFA5B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01101-A89C-C644-8B3D-43337AD79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7C1D8-5F4D-934E-0135-FDE521332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90244-8C55-CD4B-C81E-5999B55B0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2806E-9097-4E14-B78A-A29C16AF82EC}" type="slidenum">
              <a:rPr lang="en-ID" smtClean="0"/>
              <a:t>21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6714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F04-B642-3AE5-B039-F8EFD77AB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780E5-20E4-2608-D92F-969AD0AD1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B05A-526A-495C-0C9F-34932A56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8C42-111B-464C-ACF9-FEB02A56E50A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F8197-5511-C621-120F-3F67EFCA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3F95E-CB01-CA5F-0BCC-9862505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7319-617A-48FA-9670-AC871E02AE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709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DBC6-DD02-0E8D-132E-5D6FD42CA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D8DFB-9C7F-DA39-14CD-E9060F700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4E7A3-46DD-59D1-A905-33A16900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8C42-111B-464C-ACF9-FEB02A56E50A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E303E-4A1C-BA23-355B-2B057803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1FEF5-67E1-65B9-2D98-3FCD6E628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7319-617A-48FA-9670-AC871E02AE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356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4767-B2AB-1434-96B8-E4FA51ED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DA072-2A58-22B5-882E-58E91994C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2F5A-8F45-9DD4-CC4F-4819A6A4F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8C42-111B-464C-ACF9-FEB02A56E50A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B29F9-E1B5-F654-437D-EE603E7D4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16FF2-B686-44D6-28A8-ED0C836E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7319-617A-48FA-9670-AC871E02AE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3831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68016-11CF-359C-FEFF-B529500A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E30DE-E79B-4FB5-C588-7C6CED130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BFD93-CE7C-65DD-CCAA-46C5D2F6D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A4844-FE37-CCEC-6FA6-88F1EC4C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8C42-111B-464C-ACF9-FEB02A56E50A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C5924-22BE-FEC8-D476-427642DC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3F4C6-F173-AD2B-B69D-D62240A8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7319-617A-48FA-9670-AC871E02AE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209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83EF-CA76-073B-E564-6E103F03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7933E-677D-D059-1401-83948CF77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0DE9C-09EE-41F2-77C6-926E6FA9B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70500-5ABC-0628-AFCF-3694A5C0C7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69B20-A449-A2F8-291E-E3B6597A0C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476A41-F29E-AD5A-557B-C268C099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8C42-111B-464C-ACF9-FEB02A56E50A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328825-864D-CAEB-28F9-F7718FDE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65A092-FCA0-35C5-8082-56A3DA8E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7319-617A-48FA-9670-AC871E02AE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748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C1BFD-58AF-41B3-F417-DE4DDBCCE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3EFD6-E3D3-A54B-7223-0C8704F65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8C42-111B-464C-ACF9-FEB02A56E50A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3256B-F84B-0B9B-7205-B12CB5ED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D4EFA-3358-AF26-C835-319A116B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7319-617A-48FA-9670-AC871E02AE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3767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AEDDAB-0887-0A3C-3655-1856D2409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8C42-111B-464C-ACF9-FEB02A56E50A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05ADC-E5FD-C9AD-8355-D0C23BDB6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DE2BD-8E2D-919A-4B23-39B222FD5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7319-617A-48FA-9670-AC871E02AE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432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471A8-BF92-1359-BA49-4FC40CE3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E7906-7C2B-A137-7AFC-93B7AC2D9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7C35F-E3FA-577A-A0BB-AFC528913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F00B7-0FFD-E3EC-B98D-D59A962EF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8C42-111B-464C-ACF9-FEB02A56E50A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58A1F-36BE-160C-1CAA-B6092449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37139-1210-8CAD-504D-09D7E1C3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7319-617A-48FA-9670-AC871E02AE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605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EA2D7-56B3-A8D7-AE33-88937B8E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DAA0EB-32DB-B75C-2E58-B16432183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4E95C-1E98-67EE-28C4-C134EC898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E7532-371F-B972-EFAF-3774EE1A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8C42-111B-464C-ACF9-FEB02A56E50A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012CD-D10A-9A6D-0B91-BB6A8FCEF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4FE1C-CB21-E5AD-541E-D3430A4DD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7319-617A-48FA-9670-AC871E02AE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8075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63C86-B422-AF3E-E9A1-F935B20CB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9B303-B0A1-7C91-6F2F-5B53F9369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0A533-9427-344C-735D-C40D3D017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8C42-111B-464C-ACF9-FEB02A56E50A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B0BFF-9A94-8494-BE2E-B8686050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EAA61-03EA-1C08-BA14-CF9B068F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7319-617A-48FA-9670-AC871E02AE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9928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9F7F7A-2A1C-9C0F-B2C2-36B047F44D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D000E-60D4-9F25-C840-566D441A1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CE4B6-616C-31A8-5703-3EB861CB1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8C42-111B-464C-ACF9-FEB02A56E50A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F999D-0961-35C3-DEF7-69A783DD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C4679-91FB-1D66-27B9-2269BE183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7319-617A-48FA-9670-AC871E02AE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16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FBD213-BB67-5BD4-7BD7-25F55AB77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BA034-298A-D80F-3909-108B37E19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601F3-64E7-89E2-FD87-BE97318B3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D8C42-111B-464C-ACF9-FEB02A56E50A}" type="datetimeFigureOut">
              <a:rPr lang="en-ID" smtClean="0"/>
              <a:t>28/08/2026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067BB-3AEA-3538-D627-2C1DC9526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DF311-7A3A-8C6D-747A-A781C4BD0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97319-617A-48FA-9670-AC871E02AE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721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6E4AC-E18C-44F0-4A71-09E96BAA7E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1. Adversarial Training Can Hurt Generalization</a:t>
            </a:r>
            <a:br>
              <a:rPr lang="en-US" sz="3200" b="1" dirty="0"/>
            </a:br>
            <a:r>
              <a:rPr lang="en-US" sz="3200" b="1" dirty="0"/>
              <a:t>2. Unlabeled Data Improves Adversarial Robustness</a:t>
            </a:r>
            <a:endParaRPr lang="en-ID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0C34A-678B-E939-AC6D-C3BD74F8D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Textbook Seminar</a:t>
            </a:r>
          </a:p>
          <a:p>
            <a:r>
              <a:rPr lang="en-US" dirty="0"/>
              <a:t>Maharani Intan</a:t>
            </a:r>
          </a:p>
          <a:p>
            <a:r>
              <a:rPr lang="en-US" dirty="0"/>
              <a:t>August 27, 2026</a:t>
            </a:r>
          </a:p>
          <a:p>
            <a:r>
              <a:rPr lang="en-US" i="1" dirty="0"/>
              <a:t>Revision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3846559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254C-A278-FDD6-9BCF-2871E4D48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State-of-art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8CD5B2-42A2-4E34-47EA-EC3679AFBA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77908"/>
          <a:ext cx="7283824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26">
                  <a:extLst>
                    <a:ext uri="{9D8B030D-6E8A-4147-A177-3AD203B41FA5}">
                      <a16:colId xmlns:a16="http://schemas.microsoft.com/office/drawing/2014/main" val="2265176105"/>
                    </a:ext>
                  </a:extLst>
                </a:gridCol>
                <a:gridCol w="1559859">
                  <a:extLst>
                    <a:ext uri="{9D8B030D-6E8A-4147-A177-3AD203B41FA5}">
                      <a16:colId xmlns:a16="http://schemas.microsoft.com/office/drawing/2014/main" val="1962103686"/>
                    </a:ext>
                  </a:extLst>
                </a:gridCol>
                <a:gridCol w="1742739">
                  <a:extLst>
                    <a:ext uri="{9D8B030D-6E8A-4147-A177-3AD203B41FA5}">
                      <a16:colId xmlns:a16="http://schemas.microsoft.com/office/drawing/2014/main" val="209678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D" b="1" dirty="0"/>
                        <a:t>Model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/>
                        <a:t>Robust Error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/>
                        <a:t>Standard Error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866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Standard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294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Adversarial training [Madry et al. 2018]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0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TRADES [Zhang et al. 2019]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98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Adv training ++ [Rice et al. 2020]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113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D" dirty="0"/>
                        <a:t>Fast adv training [Zhang et al. 2019]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798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MART[Wang et al. 2019]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10340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258ADD7-2BFE-0EBE-D8E1-7D3ECD19A3FC}"/>
              </a:ext>
            </a:extLst>
          </p:cNvPr>
          <p:cNvSpPr/>
          <p:nvPr/>
        </p:nvSpPr>
        <p:spPr>
          <a:xfrm>
            <a:off x="6766561" y="3923619"/>
            <a:ext cx="1032733" cy="20125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4BE62-BF18-7683-80B4-EA73599A7512}"/>
              </a:ext>
            </a:extLst>
          </p:cNvPr>
          <p:cNvSpPr txBox="1"/>
          <p:nvPr/>
        </p:nvSpPr>
        <p:spPr>
          <a:xfrm>
            <a:off x="8122024" y="4388642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solidFill>
                  <a:srgbClr val="FF0000"/>
                </a:solidFill>
              </a:rPr>
              <a:t>4x higher!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6A7A4C-3F63-0A0D-7D54-9A9EEA417DC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D" sz="2400" dirty="0"/>
              <a:t>Standard Error	: % test set misclassified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D" sz="2400" dirty="0"/>
              <a:t>Robust Error		: % test set misclassified under a strong attack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77785A-D313-020C-FDB3-2D25AF31EC27}"/>
              </a:ext>
            </a:extLst>
          </p:cNvPr>
          <p:cNvSpPr txBox="1"/>
          <p:nvPr/>
        </p:nvSpPr>
        <p:spPr>
          <a:xfrm>
            <a:off x="838200" y="6279792"/>
            <a:ext cx="10119852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F. Croce and M. Hein, “Reliable Evaluation of Adversarial Robustness with an Ensemble of Diverse Parameter-Free Attacks,” ICML, 2020.</a:t>
            </a:r>
            <a:endParaRPr lang="en-ID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2B687D-3C1E-94BB-21C0-B4EC5838472F}"/>
              </a:ext>
            </a:extLst>
          </p:cNvPr>
          <p:cNvSpPr/>
          <p:nvPr/>
        </p:nvSpPr>
        <p:spPr>
          <a:xfrm>
            <a:off x="5163671" y="3625327"/>
            <a:ext cx="932329" cy="4195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2294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7429F-1EB2-BA76-306D-E2C0D232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C9BE-BE06-A34E-8E06-162EDAA03C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1. Adversarial Training Can Hurt Generalization</a:t>
            </a:r>
            <a:endParaRPr lang="en-ID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33F26-CE1F-C41F-DA39-F16D35B29C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 sz="1800" dirty="0"/>
              <a:t>Aditi Raghunathan*  Sang Michael Xie *  Fanny Yang  John C. Duchi Percy Liang </a:t>
            </a:r>
          </a:p>
          <a:p>
            <a:r>
              <a:rPr lang="en-ID" sz="1800" dirty="0"/>
              <a:t>Stanford University</a:t>
            </a:r>
          </a:p>
          <a:p>
            <a:r>
              <a:rPr lang="en-ID" sz="1800" dirty="0"/>
              <a:t>ICML 2019</a:t>
            </a:r>
          </a:p>
        </p:txBody>
      </p:sp>
    </p:spTree>
    <p:extLst>
      <p:ext uri="{BB962C8B-B14F-4D97-AF65-F5344CB8AC3E}">
        <p14:creationId xmlns:p14="http://schemas.microsoft.com/office/powerpoint/2010/main" val="1847164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02F2-9DFB-4845-53A7-B76C370CA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Works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A168-80D9-93DE-A2F4-7887DA9E6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[11,16,5,7] Focus on </a:t>
            </a:r>
            <a:r>
              <a:rPr lang="en-ID" sz="2400" b="1" dirty="0"/>
              <a:t>robust generalization</a:t>
            </a:r>
            <a:r>
              <a:rPr lang="en-ID" sz="2400" dirty="0"/>
              <a:t> - sample complexity that has high robust accuracy</a:t>
            </a:r>
            <a:endParaRPr lang="en-ID" sz="2400" b="1" dirty="0"/>
          </a:p>
          <a:p>
            <a:pPr marL="0" indent="0" algn="just">
              <a:buNone/>
            </a:pPr>
            <a:r>
              <a:rPr lang="en-ID" sz="2400" b="1" dirty="0"/>
              <a:t>Core shift: </a:t>
            </a:r>
            <a:r>
              <a:rPr lang="en-ID" sz="2400" dirty="0"/>
              <a:t> </a:t>
            </a:r>
            <a:r>
              <a:rPr lang="en-US" sz="2400" dirty="0"/>
              <a:t>Focus on </a:t>
            </a:r>
            <a:r>
              <a:rPr lang="en-ID" sz="2400" b="1" dirty="0"/>
              <a:t>standard generalization</a:t>
            </a:r>
            <a:r>
              <a:rPr lang="en-ID" sz="2400" dirty="0"/>
              <a:t> - how well the adversarially trained models on unseen </a:t>
            </a:r>
            <a:r>
              <a:rPr lang="en-ID" sz="2400" b="1" dirty="0"/>
              <a:t>clean</a:t>
            </a:r>
            <a:r>
              <a:rPr lang="en-ID" sz="2400" dirty="0"/>
              <a:t> examples.</a:t>
            </a:r>
            <a:r>
              <a:rPr lang="ko-KR" altLang="en-US" sz="2400" dirty="0"/>
              <a:t>　</a:t>
            </a:r>
            <a:endParaRPr lang="en-ID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ID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2209DD-D299-3A51-3154-E5CEBB6008D1}"/>
              </a:ext>
            </a:extLst>
          </p:cNvPr>
          <p:cNvSpPr txBox="1"/>
          <p:nvPr/>
        </p:nvSpPr>
        <p:spPr>
          <a:xfrm>
            <a:off x="838200" y="5665569"/>
            <a:ext cx="1006602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D" sz="1200" dirty="0"/>
              <a:t>[5] </a:t>
            </a:r>
            <a:r>
              <a:rPr lang="en-US" sz="1200" dirty="0"/>
              <a:t>J. Khim and P. Loh. Adversarial risk bounds for binary classification via function transformation. arXiv:1810.09519, 2018.</a:t>
            </a:r>
          </a:p>
          <a:p>
            <a:r>
              <a:rPr lang="en-US" sz="1200" dirty="0"/>
              <a:t>[7] O. Montasser, S. Hanneke, and N. Srebro. VC classes are </a:t>
            </a:r>
            <a:r>
              <a:rPr lang="en-US" sz="1200" dirty="0" err="1"/>
              <a:t>adversarially</a:t>
            </a:r>
            <a:r>
              <a:rPr lang="en-US" sz="1200" dirty="0"/>
              <a:t> robustly learnable, but only improperly. arXiv:1902.04217, 2019.</a:t>
            </a:r>
            <a:endParaRPr lang="en-ID" sz="1200" dirty="0"/>
          </a:p>
          <a:p>
            <a:r>
              <a:rPr lang="en-ID" sz="1200" dirty="0"/>
              <a:t>[11] L. Schmidt, S. </a:t>
            </a:r>
            <a:r>
              <a:rPr lang="en-ID" sz="1200" dirty="0" err="1"/>
              <a:t>Santurkar</a:t>
            </a:r>
            <a:r>
              <a:rPr lang="en-ID" sz="1200" dirty="0"/>
              <a:t>, D. Tsipras, K. Talwar, and A. Madry. Adversarially robust generalization requires more data. </a:t>
            </a:r>
            <a:r>
              <a:rPr lang="en-ID" sz="1200" dirty="0" err="1"/>
              <a:t>NeurIPS</a:t>
            </a:r>
            <a:r>
              <a:rPr lang="en-ID" sz="1200" dirty="0"/>
              <a:t>, 2018.</a:t>
            </a:r>
          </a:p>
          <a:p>
            <a:r>
              <a:rPr lang="en-ID" sz="1200" dirty="0"/>
              <a:t>[16] </a:t>
            </a:r>
            <a:r>
              <a:rPr lang="en-US" sz="1200" dirty="0"/>
              <a:t>D. Yin, K. Ramchandran, and P. Bartlett. Rademacher complexity for </a:t>
            </a:r>
            <a:r>
              <a:rPr lang="en-US" sz="1200" dirty="0" err="1"/>
              <a:t>adversarially</a:t>
            </a:r>
            <a:r>
              <a:rPr lang="en-US" sz="1200" dirty="0"/>
              <a:t> robust generalization. arXiv:1810.11914, 2018.</a:t>
            </a:r>
          </a:p>
        </p:txBody>
      </p:sp>
    </p:spTree>
    <p:extLst>
      <p:ext uri="{BB962C8B-B14F-4D97-AF65-F5344CB8AC3E}">
        <p14:creationId xmlns:p14="http://schemas.microsoft.com/office/powerpoint/2010/main" val="2162471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736EC-1245-8E4A-3D6E-A425095F7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3637"/>
          </a:xfrm>
        </p:spPr>
        <p:txBody>
          <a:bodyPr/>
          <a:lstStyle/>
          <a:p>
            <a:r>
              <a:rPr lang="en-US" dirty="0"/>
              <a:t>Motivation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B902-ECD0-439C-C5D3-3A48B4BF6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7940"/>
            <a:ext cx="10515600" cy="4563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Trade Off</a:t>
            </a:r>
            <a:endParaRPr lang="en-US" sz="1800" dirty="0"/>
          </a:p>
          <a:p>
            <a:r>
              <a:rPr lang="en-US" sz="1800" dirty="0"/>
              <a:t>Standard training      : ↑ High standard accuracy, ↓ Low robust accuracy</a:t>
            </a:r>
          </a:p>
          <a:p>
            <a:r>
              <a:rPr lang="en-US" sz="1800" dirty="0"/>
              <a:t>Adversarial training : ↓ Low standard accuracy, ↑ High robust accuracy</a:t>
            </a:r>
            <a:endParaRPr lang="en-ID" sz="1800" dirty="0"/>
          </a:p>
          <a:p>
            <a:pPr marL="0" indent="0">
              <a:buNone/>
            </a:pPr>
            <a:endParaRPr lang="en-ID" sz="1800" dirty="0"/>
          </a:p>
          <a:p>
            <a:pPr marL="0" indent="0">
              <a:buNone/>
            </a:pP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240CA-90C8-E940-CF5F-85C92BEA8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316" y="2618239"/>
            <a:ext cx="3017319" cy="135812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AC3A64-D101-0830-083F-B0BACE50D31A}"/>
              </a:ext>
            </a:extLst>
          </p:cNvPr>
          <p:cNvCxnSpPr>
            <a:cxnSpLocks/>
          </p:cNvCxnSpPr>
          <p:nvPr/>
        </p:nvCxnSpPr>
        <p:spPr>
          <a:xfrm>
            <a:off x="4352819" y="3509791"/>
            <a:ext cx="0" cy="2065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6DF95C-B9F0-3DE6-C2CB-24EBD68E0810}"/>
              </a:ext>
            </a:extLst>
          </p:cNvPr>
          <p:cNvCxnSpPr>
            <a:cxnSpLocks/>
          </p:cNvCxnSpPr>
          <p:nvPr/>
        </p:nvCxnSpPr>
        <p:spPr>
          <a:xfrm flipV="1">
            <a:off x="4352819" y="3130856"/>
            <a:ext cx="0" cy="191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588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0DED-6DC4-1D7D-ED17-3C9CD0F4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Previous Hypotheses of the </a:t>
            </a:r>
            <a:r>
              <a:rPr lang="en-ID" dirty="0">
                <a:solidFill>
                  <a:srgbClr val="FF0000"/>
                </a:solidFill>
              </a:rPr>
              <a:t>Trade-off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6C2C1-21BD-96CA-D16E-827993789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37396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ID" sz="1800" b="1" dirty="0"/>
                  <a:t>Hypothesis 1 : Fundamentally incompatible </a:t>
                </a:r>
              </a:p>
              <a:p>
                <a:pPr algn="just"/>
                <a:r>
                  <a:rPr lang="en-ID" sz="1800" dirty="0"/>
                  <a:t>Because adversarial perturbations can change the Bayes optimal predictions makes it, even in infinite data [14][19].</a:t>
                </a:r>
              </a:p>
              <a:p>
                <a:pPr algn="just"/>
                <a:r>
                  <a:rPr lang="en-ID" sz="1800" dirty="0"/>
                  <a:t>Bayes optimal predictions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D" sz="18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ID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sz="1800" dirty="0"/>
                  <a:t>= </a:t>
                </a:r>
                <a:r>
                  <a:rPr lang="en-ID" sz="1800" b="1" dirty="0"/>
                  <a:t>best possible predictor </a:t>
                </a:r>
                <a:r>
                  <a:rPr lang="en-ID" sz="1800" dirty="0"/>
                  <a:t>(minimum expected loss) </a:t>
                </a:r>
                <a:endParaRPr lang="en-ID" sz="1800" dirty="0">
                  <a:latin typeface="Cambria Math" panose="02040503050406030204" pitchFamily="18" charset="0"/>
                </a:endParaRPr>
              </a:p>
              <a:p>
                <a:pPr marL="0" indent="0" algn="just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ID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ID" sz="18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ID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D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D" sz="1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D" sz="1800" i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ID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D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D" sz="180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D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D" sz="1800" dirty="0"/>
              </a:p>
              <a:p>
                <a:pPr marL="0" indent="0" algn="just">
                  <a:buNone/>
                </a:pPr>
                <a:r>
                  <a:rPr lang="en-ID" sz="1800" b="1" dirty="0"/>
                  <a:t>Hypothesis 2 : Model limitation</a:t>
                </a:r>
              </a:p>
              <a:p>
                <a:pPr algn="just"/>
                <a:r>
                  <a:rPr lang="en-ID" sz="1800" dirty="0"/>
                  <a:t>Limited hypothesis class due to insufficient </a:t>
                </a:r>
                <a:r>
                  <a:rPr lang="en-ID" sz="1800" b="1" dirty="0"/>
                  <a:t>model capacity </a:t>
                </a:r>
                <a:r>
                  <a:rPr lang="en-ID" sz="1800" dirty="0"/>
                  <a:t>[9].</a:t>
                </a:r>
              </a:p>
              <a:p>
                <a:pPr algn="just"/>
                <a:r>
                  <a:rPr lang="en-ID" sz="1800" dirty="0"/>
                  <a:t>A restricted hypothesis class may be unable to represent a predictor that is both </a:t>
                </a:r>
                <a:r>
                  <a:rPr lang="en-ID" sz="1800" b="1" dirty="0"/>
                  <a:t>standard-accurate and robust</a:t>
                </a:r>
                <a:r>
                  <a:rPr lang="en-ID" sz="1800" dirty="0"/>
                  <a:t>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ID" sz="1000" dirty="0">
                  <a:solidFill>
                    <a:srgbClr val="FF0000"/>
                  </a:solidFill>
                </a:endParaRPr>
              </a:p>
              <a:p>
                <a:pPr marL="0" indent="0" algn="just">
                  <a:buNone/>
                </a:pPr>
                <a:r>
                  <a:rPr lang="en-ID" sz="1800" dirty="0">
                    <a:solidFill>
                      <a:srgbClr val="FF0000"/>
                    </a:solidFill>
                  </a:rPr>
                  <a:t>Key motivation : </a:t>
                </a:r>
                <a:r>
                  <a:rPr lang="en-ID" sz="1800" dirty="0"/>
                  <a:t>If we rule out these explanations, does the trade-off disappear? </a:t>
                </a:r>
              </a:p>
              <a:p>
                <a:pPr marL="0" indent="0" algn="just">
                  <a:buNone/>
                </a:pPr>
                <a:r>
                  <a:rPr lang="en-ID" sz="1800" dirty="0">
                    <a:solidFill>
                      <a:srgbClr val="FF0000"/>
                    </a:solidFill>
                  </a:rPr>
                  <a:t>New hypothesis </a:t>
                </a:r>
                <a:r>
                  <a:rPr lang="en-ID" sz="1800" dirty="0"/>
                  <a:t>: Could it be due to </a:t>
                </a:r>
                <a:r>
                  <a:rPr lang="en-US" sz="1800" dirty="0"/>
                  <a:t>optimization issues</a:t>
                </a:r>
                <a:r>
                  <a:rPr lang="en-US" sz="1800" i="1" dirty="0"/>
                  <a:t>?” </a:t>
                </a:r>
              </a:p>
              <a:p>
                <a:endParaRPr lang="en-ID" sz="1800" dirty="0"/>
              </a:p>
              <a:p>
                <a:pPr marL="0" indent="0">
                  <a:buNone/>
                </a:pPr>
                <a:endParaRPr lang="en-ID" sz="1800" dirty="0"/>
              </a:p>
              <a:p>
                <a:pPr marL="0" indent="0">
                  <a:buNone/>
                </a:pPr>
                <a:endParaRPr lang="en-ID" sz="1800" dirty="0"/>
              </a:p>
              <a:p>
                <a:endParaRPr lang="en-ID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6C2C1-21BD-96CA-D16E-827993789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37396"/>
                <a:ext cx="10515600" cy="4351338"/>
              </a:xfrm>
              <a:blipFill>
                <a:blip r:embed="rId3"/>
                <a:stretch>
                  <a:fillRect l="-522" t="-1403" r="-464" b="-84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D922710-2E51-421F-4BDF-96B132697AF2}"/>
              </a:ext>
            </a:extLst>
          </p:cNvPr>
          <p:cNvSpPr txBox="1"/>
          <p:nvPr/>
        </p:nvSpPr>
        <p:spPr>
          <a:xfrm>
            <a:off x="1062990" y="5988734"/>
            <a:ext cx="1006602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D" sz="1200" dirty="0"/>
              <a:t>[</a:t>
            </a:r>
            <a:r>
              <a:rPr lang="en-US" sz="1200" dirty="0"/>
              <a:t>9] P. Nakkiran. Adversarial robustness maybe at odds with </a:t>
            </a:r>
            <a:r>
              <a:rPr lang="en-ID" sz="1200" dirty="0"/>
              <a:t>simplicity. </a:t>
            </a:r>
            <a:r>
              <a:rPr lang="en-ID" sz="1200" dirty="0" err="1"/>
              <a:t>arXiv</a:t>
            </a:r>
            <a:r>
              <a:rPr lang="en-ID" sz="1200" dirty="0"/>
              <a:t> preprint arXiv:1901.00532, 2019.</a:t>
            </a:r>
          </a:p>
          <a:p>
            <a:r>
              <a:rPr lang="en-ID" sz="1200" dirty="0"/>
              <a:t>[14] D. Tsipras, S. </a:t>
            </a:r>
            <a:r>
              <a:rPr lang="en-ID" sz="1200" dirty="0" err="1"/>
              <a:t>Santurkar</a:t>
            </a:r>
            <a:r>
              <a:rPr lang="en-ID" sz="1200" dirty="0"/>
              <a:t>, L. Engstrom, A. Turner, and </a:t>
            </a:r>
            <a:r>
              <a:rPr lang="en-US" sz="1200" dirty="0"/>
              <a:t>A. Madry. Robustness may be at odds with accuracy. </a:t>
            </a:r>
            <a:r>
              <a:rPr lang="en-ID" sz="1200" dirty="0"/>
              <a:t>(ICLR), 2019.</a:t>
            </a:r>
          </a:p>
          <a:p>
            <a:r>
              <a:rPr lang="en-ID" sz="1200" dirty="0"/>
              <a:t>[19] H. Zhang, Y. Yu, J. Jiao, E. P. Xing, L. E. </a:t>
            </a:r>
            <a:r>
              <a:rPr lang="en-ID" sz="1200" dirty="0" err="1"/>
              <a:t>Ghaoui</a:t>
            </a:r>
            <a:r>
              <a:rPr lang="en-ID" sz="1200" dirty="0"/>
              <a:t>, </a:t>
            </a:r>
            <a:r>
              <a:rPr lang="en-US" sz="1200" dirty="0"/>
              <a:t>and M. I. Jordan. Theoretically principled trade-off between robustness and accuracy. (ICML), 2019.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392990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7115-88CA-5017-6EAF-BC76CC99E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8A612-F350-00F6-CC83-14C25CC838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5650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1600" b="1" dirty="0"/>
                  <a:t>Remove optimization issue</a:t>
                </a:r>
              </a:p>
              <a:p>
                <a:pPr marL="0" indent="0">
                  <a:buNone/>
                </a:pPr>
                <a:r>
                  <a:rPr lang="en-US" sz="1600" dirty="0"/>
                  <a:t>Using convex learning problem to find global optimum</a:t>
                </a:r>
                <a:endParaRPr lang="en-US" sz="1600" b="1" dirty="0"/>
              </a:p>
              <a:p>
                <a:pPr marL="342900" indent="-342900">
                  <a:buFont typeface="+mj-lt"/>
                  <a:buAutoNum type="arabicPeriod" startAt="2"/>
                </a:pPr>
                <a:r>
                  <a:rPr lang="en-US" sz="1600" b="1" dirty="0"/>
                  <a:t>Remove fundamental incompatibility</a:t>
                </a:r>
              </a:p>
              <a:p>
                <a:r>
                  <a:rPr lang="en-ID" sz="1600" dirty="0"/>
                  <a:t>Construct Bayes estimator compatible →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D" sz="16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D" sz="16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D" sz="16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˜"/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ID" sz="1600">
                        <a:latin typeface="Cambria Math" panose="02040503050406030204" pitchFamily="18" charset="0"/>
                      </a:rPr>
                      <m:t> ∀ </m:t>
                    </m:r>
                    <m:acc>
                      <m:accPr>
                        <m:chr m:val="˜"/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D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D" sz="1600">
                        <a:latin typeface="Cambria Math" panose="02040503050406030204" pitchFamily="18" charset="0"/>
                      </a:rPr>
                      <m:t>ℬ</m:t>
                    </m:r>
                    <m:d>
                      <m:d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D" sz="1600" dirty="0"/>
              </a:p>
              <a:p>
                <a:r>
                  <a:rPr lang="en-ID" sz="1600" dirty="0"/>
                  <a:t>Standard estimator	</a:t>
                </a:r>
                <a14:m>
                  <m:oMath xmlns:m="http://schemas.openxmlformats.org/officeDocument/2006/math">
                    <m:r>
                      <a:rPr lang="en-ID" sz="1600" b="0" i="0" smtClean="0">
                        <a:latin typeface="Cambria Math" panose="02040503050406030204" pitchFamily="18" charset="0"/>
                      </a:rPr>
                      <m:t> : </m:t>
                    </m:r>
                    <m:sSubSup>
                      <m:sSubSup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ˆ"/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D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D" sz="1600" i="1">
                            <a:latin typeface="Cambria Math" panose="02040503050406030204" pitchFamily="18" charset="0"/>
                          </a:rPr>
                          <m:t>std</m:t>
                        </m:r>
                      </m:sup>
                    </m:sSubSup>
                    <m:r>
                      <a:rPr lang="en-ID" sz="16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fName>
                          <m: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D" sz="1600" i="1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</m:func>
                      </m:e>
                      <m:sub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ℱ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D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ID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D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D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D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D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D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D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D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sz="1600" i="1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D" sz="1600" dirty="0"/>
              </a:p>
              <a:p>
                <a:r>
                  <a:rPr lang="en-ID" sz="1600" dirty="0"/>
                  <a:t>Robust	estimator		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ˆ"/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D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D" sz="1600" i="1">
                            <a:latin typeface="Cambria Math" panose="02040503050406030204" pitchFamily="18" charset="0"/>
                          </a:rPr>
                          <m:t>rob</m:t>
                        </m:r>
                      </m:sup>
                    </m:sSubSup>
                    <m:r>
                      <a:rPr lang="en-ID" sz="16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fName>
                          <m: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𝑎𝑟𝑔</m:t>
                            </m:r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</m:func>
                      </m:e>
                      <m:sub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ℱ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ID" sz="16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sSub>
                                  <m:sSubPr>
                                    <m:ctrlPr>
                                      <a:rPr lang="en-ID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˜"/>
                                        <m:ctrlPr>
                                          <a:rPr lang="en-ID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D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D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d>
                                  <m:dPr>
                                    <m:ctrlPr>
                                      <a:rPr lang="en-ID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D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D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D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en-ID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D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D" sz="16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ID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D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˜"/>
                                                <m:ctrlPr>
                                                  <a:rPr lang="en-ID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ID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ID" sz="16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ID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D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D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D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func>
                      </m:e>
                    </m:nary>
                    <m:r>
                      <a:rPr lang="en-ID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sz="1600" i="1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/>
              </a:p>
              <a:p>
                <a:pPr marL="342900" indent="-342900">
                  <a:buFont typeface="+mj-lt"/>
                  <a:buAutoNum type="arabicPeriod" startAt="3"/>
                </a:pPr>
                <a:r>
                  <a:rPr lang="en-ID" sz="1600" b="1" dirty="0"/>
                  <a:t>Vary model complexity: </a:t>
                </a:r>
              </a:p>
              <a:p>
                <a:r>
                  <a:rPr lang="en-ID" sz="1600" dirty="0"/>
                  <a:t>linear → simple hypothesis class</a:t>
                </a:r>
              </a:p>
              <a:p>
                <a:r>
                  <a:rPr lang="en-ID" sz="1600" i="1" dirty="0"/>
                  <a:t>staircase</a:t>
                </a:r>
                <a:r>
                  <a:rPr lang="en-ID" sz="1600" dirty="0"/>
                  <a:t> → complex hypothesis class , </a:t>
                </a:r>
                <a14:m>
                  <m:oMath xmlns:m="http://schemas.openxmlformats.org/officeDocument/2006/math">
                    <m:r>
                      <a:rPr lang="en-ID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ID" sz="1600" dirty="0"/>
                  <a:t> </a:t>
                </a:r>
                <a14:m>
                  <m:oMath xmlns:m="http://schemas.openxmlformats.org/officeDocument/2006/math">
                    <m:r>
                      <a:rPr lang="en-ID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ID" sz="1600" dirty="0"/>
                  <a:t> [0,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D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D" sz="1600" dirty="0"/>
                  <a:t>] 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D" sz="1600" b="0" i="0" smtClean="0">
                        <a:latin typeface="Cambria Math" panose="02040503050406030204" pitchFamily="18" charset="0"/>
                      </a:rPr>
                      <m:t>B (x) </m:t>
                    </m:r>
                    <m:r>
                      <a:rPr lang="en-ID" sz="1600" b="0" i="1" smtClean="0">
                        <a:latin typeface="Cambria Math" panose="02040503050406030204" pitchFamily="18" charset="0"/>
                      </a:rPr>
                      <m:t>= {[</m:t>
                    </m:r>
                    <m:r>
                      <m:rPr>
                        <m:sty m:val="p"/>
                      </m:rPr>
                      <a:rPr lang="en-ID" sz="1600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D" sz="1600" b="0" i="1" smtClean="0">
                        <a:latin typeface="Cambria Math" panose="02040503050406030204" pitchFamily="18" charset="0"/>
                      </a:rPr>
                      <m:t>] −</m:t>
                    </m:r>
                  </m:oMath>
                </a14:m>
                <a:r>
                  <a:rPr lang="en-ID" sz="1600" dirty="0"/>
                  <a:t> </a:t>
                </a:r>
                <a14:m>
                  <m:oMath xmlns:m="http://schemas.openxmlformats.org/officeDocument/2006/math">
                    <m:r>
                      <a:rPr lang="en-ID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ID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ID" sz="1600" i="1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D" sz="1600" i="1">
                        <a:latin typeface="Cambria Math" panose="02040503050406030204" pitchFamily="18" charset="0"/>
                      </a:rPr>
                      <m:t>x</m:t>
                    </m:r>
                    <m:r>
                      <a:rPr lang="en-ID" sz="1600" i="1">
                        <a:latin typeface="Cambria Math" panose="02040503050406030204" pitchFamily="18" charset="0"/>
                      </a:rPr>
                      <m:t>]+</m:t>
                    </m:r>
                  </m:oMath>
                </a14:m>
                <a:r>
                  <a:rPr lang="en-ID" sz="1600" dirty="0"/>
                  <a:t> </a:t>
                </a:r>
                <a14:m>
                  <m:oMath xmlns:m="http://schemas.openxmlformats.org/officeDocument/2006/math">
                    <m:r>
                      <a:rPr lang="en-ID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ID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ID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/>
                  <a:t>Dataset</a:t>
                </a:r>
                <a:r>
                  <a:rPr lang="en-US" sz="1600" dirty="0"/>
                  <a:t>: CIFAR-10, MNIST</a:t>
                </a:r>
              </a:p>
              <a:p>
                <a:pPr marL="0" indent="0">
                  <a:buNone/>
                </a:pPr>
                <a:r>
                  <a:rPr lang="en-US" sz="1600" b="1" dirty="0"/>
                  <a:t>Different sizes of data </a:t>
                </a:r>
                <a:r>
                  <a:rPr lang="en-US" sz="1600" dirty="0"/>
                  <a:t>: </a:t>
                </a:r>
                <a:r>
                  <a:rPr lang="en-ID" sz="1600" dirty="0"/>
                  <a:t>factors of {1,2,5,8,10,20,40}; {1,2,5,8, 10,20 40,50, 80, 200, 500}</a:t>
                </a:r>
              </a:p>
              <a:p>
                <a:pPr marL="0" indent="0">
                  <a:buNone/>
                </a:pPr>
                <a:endParaRPr lang="en-ID" sz="1600" dirty="0"/>
              </a:p>
              <a:p>
                <a:pPr marL="0" indent="0">
                  <a:buNone/>
                </a:pPr>
                <a:endParaRPr lang="en-ID" sz="1600" dirty="0"/>
              </a:p>
              <a:p>
                <a:pPr marL="0" indent="0">
                  <a:buNone/>
                </a:pPr>
                <a:endParaRPr lang="en-ID" sz="1600" dirty="0"/>
              </a:p>
              <a:p>
                <a:pPr marL="0" indent="0">
                  <a:buNone/>
                </a:pPr>
                <a:endParaRPr lang="en-ID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8A612-F350-00F6-CC83-14C25CC83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5650"/>
              </a:xfrm>
              <a:blipFill>
                <a:blip r:embed="rId3"/>
                <a:stretch>
                  <a:fillRect l="-348" t="-89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2CB211-5BB0-E26B-A7BF-D8656D6EE994}"/>
                  </a:ext>
                </a:extLst>
              </p:cNvPr>
              <p:cNvSpPr txBox="1"/>
              <p:nvPr/>
            </p:nvSpPr>
            <p:spPr>
              <a:xfrm>
                <a:off x="8839200" y="3332614"/>
                <a:ext cx="20621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1400" dirty="0">
                    <a:solidFill>
                      <a:srgbClr val="0070C0"/>
                    </a:solidFill>
                  </a:rPr>
                  <a:t>same 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D" sz="14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ID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2CB211-5BB0-E26B-A7BF-D8656D6EE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3332614"/>
                <a:ext cx="2062163" cy="307777"/>
              </a:xfrm>
              <a:prstGeom prst="rect">
                <a:avLst/>
              </a:prstGeom>
              <a:blipFill>
                <a:blip r:embed="rId4"/>
                <a:stretch>
                  <a:fillRect l="-888" t="-4000" b="-20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6D3AA3BA-BE30-4C2D-7510-5426B3A89D31}"/>
              </a:ext>
            </a:extLst>
          </p:cNvPr>
          <p:cNvSpPr/>
          <p:nvPr/>
        </p:nvSpPr>
        <p:spPr>
          <a:xfrm>
            <a:off x="8608638" y="3273830"/>
            <a:ext cx="230562" cy="47625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97295-13F2-2BA0-9B31-B7C7A206708F}"/>
              </a:ext>
            </a:extLst>
          </p:cNvPr>
          <p:cNvSpPr txBox="1"/>
          <p:nvPr/>
        </p:nvSpPr>
        <p:spPr>
          <a:xfrm>
            <a:off x="7211989" y="2724227"/>
            <a:ext cx="2658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200" dirty="0">
                <a:solidFill>
                  <a:srgbClr val="0070C0"/>
                </a:solidFill>
                <a:latin typeface="Aptos Narrow" panose="020B0004020202020204" pitchFamily="34" charset="0"/>
              </a:rPr>
              <a:t>←</a:t>
            </a:r>
            <a:r>
              <a:rPr lang="en-ID" sz="1200" dirty="0">
                <a:solidFill>
                  <a:srgbClr val="0070C0"/>
                </a:solidFill>
              </a:rPr>
              <a:t>Where perturbations do not change </a:t>
            </a:r>
          </a:p>
          <a:p>
            <a:r>
              <a:rPr lang="en-ID" sz="1200" dirty="0">
                <a:solidFill>
                  <a:srgbClr val="0070C0"/>
                </a:solidFill>
              </a:rPr>
              <a:t>the optimal prediction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1F34DC-7368-8722-1635-D2B820DAC1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1" y="284075"/>
            <a:ext cx="5389602" cy="15533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3C9538-9296-5C77-04A9-EE0C1A6EAC31}"/>
              </a:ext>
            </a:extLst>
          </p:cNvPr>
          <p:cNvSpPr txBox="1"/>
          <p:nvPr/>
        </p:nvSpPr>
        <p:spPr>
          <a:xfrm>
            <a:off x="6658332" y="1733635"/>
            <a:ext cx="7466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200" dirty="0">
                <a:solidFill>
                  <a:srgbClr val="0070C0"/>
                </a:solidFill>
                <a:latin typeface="Aptos Narrow" panose="020B0004020202020204" pitchFamily="34" charset="0"/>
              </a:rPr>
              <a:t>staircase</a:t>
            </a:r>
            <a:endParaRPr lang="en-ID" sz="1200" dirty="0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91197-02D1-2173-A571-6357583D5E9F}"/>
              </a:ext>
            </a:extLst>
          </p:cNvPr>
          <p:cNvSpPr txBox="1"/>
          <p:nvPr/>
        </p:nvSpPr>
        <p:spPr>
          <a:xfrm>
            <a:off x="10819679" y="1707133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200" dirty="0">
                <a:solidFill>
                  <a:srgbClr val="0070C0"/>
                </a:solidFill>
                <a:latin typeface="Aptos Narrow" panose="020B0004020202020204" pitchFamily="34" charset="0"/>
              </a:rPr>
              <a:t>linear</a:t>
            </a:r>
            <a:endParaRPr lang="en-ID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073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86F28-6A8C-AAE5-6BB0-A8D01CEE2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Robust Self-Training (RST)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D88E4B-32AC-A25F-027E-07E0DAA1C1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D" sz="2000" dirty="0"/>
                  <a:t>Robust self-training (RST) : semi-supervised learning technique that leverages unlabelled data to improve model robustness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latin typeface="Aptos Narrow" panose="020B0004020202020204" pitchFamily="34" charset="0"/>
                  </a:rPr>
                  <a:t>→</a:t>
                </a:r>
                <a:r>
                  <a:rPr lang="en-US" sz="2000" dirty="0"/>
                  <a:t>Robust training on a dataset with </a:t>
                </a:r>
                <a:r>
                  <a:rPr lang="en-US" sz="2000" i="1" dirty="0"/>
                  <a:t>n </a:t>
                </a:r>
                <a:r>
                  <a:rPr lang="en-US" sz="2000" dirty="0"/>
                  <a:t>samples augmented with </a:t>
                </a:r>
                <a:r>
                  <a:rPr lang="en-US" sz="2000" i="1" dirty="0"/>
                  <a:t>m </a:t>
                </a:r>
                <a:r>
                  <a:rPr lang="en-US" sz="2000" dirty="0"/>
                  <a:t>unlabeled</a:t>
                </a:r>
                <a:r>
                  <a:rPr lang="en-ID" sz="2000" dirty="0"/>
                  <a:t> samples.</a:t>
                </a:r>
              </a:p>
              <a:p>
                <a:pPr marL="0" indent="0">
                  <a:buNone/>
                </a:pPr>
                <a:endParaRPr lang="en-ID" sz="2000" dirty="0"/>
              </a:p>
              <a:p>
                <a:pPr marL="0" indent="0">
                  <a:buNone/>
                </a:pPr>
                <a:r>
                  <a:rPr lang="en-ID" sz="2000" b="1" dirty="0"/>
                  <a:t>Steps</a:t>
                </a:r>
                <a:r>
                  <a:rPr lang="en-ID" sz="2000" dirty="0"/>
                  <a:t>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ID" sz="2000" dirty="0"/>
                  <a:t>Compute the standard estimator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D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ˆ"/>
                            <m:ctrlPr>
                              <a:rPr lang="en-ID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std</m:t>
                        </m:r>
                      </m:sup>
                    </m:sSubSup>
                  </m:oMath>
                </a14:m>
                <a:r>
                  <a:rPr lang="en-ID" sz="2000" dirty="0"/>
                  <a:t> </a:t>
                </a:r>
                <a:r>
                  <a:rPr lang="en-US" sz="2000" dirty="0"/>
                  <a:t>on the labeled data (X, y) with regularization parameter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Generate pseudo-targets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D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ID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D" sz="2000" b="0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D" sz="2000" b="0" i="1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sub>
                        </m:sSub>
                        <m:r>
                          <a:rPr lang="en-ID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ˆ"/>
                            <m:ctrlPr>
                              <a:rPr lang="en-ID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std</m:t>
                        </m:r>
                      </m:sup>
                    </m:sSubSup>
                  </m:oMath>
                </a14:m>
                <a:r>
                  <a:rPr lang="en-ID" sz="20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D" sz="20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</m:oMath>
                </a14:m>
                <a:r>
                  <a:rPr lang="en-ID" sz="2000" dirty="0"/>
                  <a:t>) by evaluating </a:t>
                </a:r>
                <a:r>
                  <a:rPr lang="en-US" sz="2000" dirty="0"/>
                  <a:t>the standard estimator obtained above on the unlabeled </a:t>
                </a:r>
                <a:r>
                  <a:rPr lang="en-ID" sz="2000" dirty="0"/>
                  <a:t>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  <m:r>
                      <a:rPr lang="en-ID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D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Construct an augmented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D" sz="20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sz="2000" b="0" i="1" smtClean="0">
                            <a:latin typeface="Cambria Math" panose="02040503050406030204" pitchFamily="18" charset="0"/>
                          </a:rPr>
                          <m:t>aug</m:t>
                        </m:r>
                      </m:sub>
                    </m:sSub>
                    <m:r>
                      <a:rPr lang="en-ID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= X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sz="2000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en-ID" sz="2000" b="0" i="1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lang="en-ID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sz="2000" dirty="0"/>
                  <a:t>=y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  <m:r>
                      <a:rPr lang="en-ID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D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Return a robust estimator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D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ˆ"/>
                            <m:ctrlPr>
                              <a:rPr lang="en-ID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D" sz="2000" b="0" i="1" smtClean="0">
                            <a:latin typeface="Cambria Math" panose="02040503050406030204" pitchFamily="18" charset="0"/>
                          </a:rPr>
                          <m:t>rob</m:t>
                        </m:r>
                      </m:sup>
                    </m:sSubSup>
                    <m:r>
                      <a:rPr lang="en-ID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with the augmented dataset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aug</m:t>
                        </m:r>
                      </m:sub>
                    </m:sSub>
                    <m:r>
                      <a:rPr lang="en-ID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sz="2000" i="1">
                            <a:latin typeface="Cambria Math" panose="02040503050406030204" pitchFamily="18" charset="0"/>
                          </a:rPr>
                          <m:t>aug</m:t>
                        </m:r>
                      </m:sub>
                    </m:sSub>
                  </m:oMath>
                </a14:m>
                <a:r>
                  <a:rPr lang="en-US" sz="2000" dirty="0"/>
                  <a:t>) as training data.</a:t>
                </a:r>
                <a:endParaRPr lang="en-ID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D88E4B-32AC-A25F-027E-07E0DAA1C1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487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FEB44C-EDCC-1183-F009-F1A0E1B77949}"/>
              </a:ext>
            </a:extLst>
          </p:cNvPr>
          <p:cNvSpPr txBox="1">
            <a:spLocks/>
          </p:cNvSpPr>
          <p:nvPr/>
        </p:nvSpPr>
        <p:spPr>
          <a:xfrm>
            <a:off x="838200" y="17748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D" dirty="0"/>
          </a:p>
          <a:p>
            <a:pPr marL="0" indent="0">
              <a:buFont typeface="Arial" panose="020B0604020202020204" pitchFamily="34" charset="0"/>
              <a:buNone/>
            </a:pPr>
            <a:endParaRPr lang="en-ID" dirty="0"/>
          </a:p>
          <a:p>
            <a:pPr marL="0" indent="0">
              <a:buFont typeface="Arial" panose="020B0604020202020204" pitchFamily="34" charset="0"/>
              <a:buNone/>
            </a:pP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406D12-772A-5396-8DA1-05F249B3A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: CIFAR-10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90B1A5-9C32-36AF-A2BB-0F0DA7EF3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690688"/>
            <a:ext cx="3754887" cy="1858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13A377-BECC-9E31-EE05-E04E3D5A24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47765" y="1625215"/>
            <a:ext cx="2194165" cy="18918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1B22F8-D4FB-0D6A-293B-B7315F14DF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975" y="4180679"/>
            <a:ext cx="4363437" cy="107194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6E9254C-8530-9283-07F3-163C595315C7}"/>
              </a:ext>
            </a:extLst>
          </p:cNvPr>
          <p:cNvSpPr/>
          <p:nvPr/>
        </p:nvSpPr>
        <p:spPr>
          <a:xfrm>
            <a:off x="3954824" y="4716650"/>
            <a:ext cx="958333" cy="45372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64D73E-9E40-F4D6-3FFE-4CF952184E91}"/>
              </a:ext>
            </a:extLst>
          </p:cNvPr>
          <p:cNvSpPr txBox="1"/>
          <p:nvPr/>
        </p:nvSpPr>
        <p:spPr>
          <a:xfrm>
            <a:off x="3931933" y="5167312"/>
            <a:ext cx="32073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200" dirty="0">
                <a:solidFill>
                  <a:srgbClr val="0070C0"/>
                </a:solidFill>
              </a:rPr>
              <a:t>Improved both standard and robust accuracy!</a:t>
            </a:r>
            <a:endParaRPr lang="en-ID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7186C3-880D-690A-FA84-608CDADBECCB}"/>
              </a:ext>
            </a:extLst>
          </p:cNvPr>
          <p:cNvSpPr txBox="1"/>
          <p:nvPr/>
        </p:nvSpPr>
        <p:spPr>
          <a:xfrm>
            <a:off x="838200" y="1301054"/>
            <a:ext cx="3623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/>
              <a:t>How sample size affects accuracy: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A66AF6E4-31B9-5424-1DB9-141BA6DE4F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0355" y="4035839"/>
            <a:ext cx="2524640" cy="1944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299D37-CE97-05AF-F1B6-38EE9BFE15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9511" y="3969601"/>
            <a:ext cx="2602489" cy="201101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165F3A-563D-029B-58C6-2C60180AE927}"/>
              </a:ext>
            </a:extLst>
          </p:cNvPr>
          <p:cNvCxnSpPr/>
          <p:nvPr/>
        </p:nvCxnSpPr>
        <p:spPr>
          <a:xfrm>
            <a:off x="3009900" y="5008227"/>
            <a:ext cx="0" cy="1590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64AABE-4486-3978-AB4A-AC794B633B48}"/>
              </a:ext>
            </a:extLst>
          </p:cNvPr>
          <p:cNvCxnSpPr>
            <a:cxnSpLocks/>
          </p:cNvCxnSpPr>
          <p:nvPr/>
        </p:nvCxnSpPr>
        <p:spPr>
          <a:xfrm flipV="1">
            <a:off x="3838575" y="5008227"/>
            <a:ext cx="0" cy="15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7AEFB4-F24D-D3AF-37F9-F8877B751485}"/>
              </a:ext>
            </a:extLst>
          </p:cNvPr>
          <p:cNvCxnSpPr>
            <a:cxnSpLocks/>
          </p:cNvCxnSpPr>
          <p:nvPr/>
        </p:nvCxnSpPr>
        <p:spPr>
          <a:xfrm flipV="1">
            <a:off x="3838575" y="4751052"/>
            <a:ext cx="0" cy="15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24FF7C-70F8-9F03-1659-9EB1E86CAC1A}"/>
              </a:ext>
            </a:extLst>
          </p:cNvPr>
          <p:cNvCxnSpPr>
            <a:cxnSpLocks/>
          </p:cNvCxnSpPr>
          <p:nvPr/>
        </p:nvCxnSpPr>
        <p:spPr>
          <a:xfrm flipV="1">
            <a:off x="3000375" y="4751052"/>
            <a:ext cx="0" cy="15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F08BA1F-D966-C942-040D-F64F43E3B5D2}"/>
              </a:ext>
            </a:extLst>
          </p:cNvPr>
          <p:cNvSpPr txBox="1"/>
          <p:nvPr/>
        </p:nvSpPr>
        <p:spPr>
          <a:xfrm>
            <a:off x="7155611" y="1987674"/>
            <a:ext cx="4374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>
                <a:solidFill>
                  <a:srgbClr val="0070C0"/>
                </a:solidFill>
                <a:latin typeface="Aptos Narrow" panose="020B0004020202020204" pitchFamily="34" charset="0"/>
              </a:rPr>
              <a:t>→</a:t>
            </a:r>
            <a:r>
              <a:rPr lang="en-ID" sz="1400" dirty="0">
                <a:solidFill>
                  <a:srgbClr val="0070C0"/>
                </a:solidFill>
              </a:rPr>
              <a:t>Error gap decrease as numbers of samples increases</a:t>
            </a:r>
            <a:endParaRPr lang="en-ID" sz="2000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225BF6-1425-E297-BCD4-FAF2FC7599E1}"/>
              </a:ext>
            </a:extLst>
          </p:cNvPr>
          <p:cNvSpPr txBox="1"/>
          <p:nvPr/>
        </p:nvSpPr>
        <p:spPr>
          <a:xfrm>
            <a:off x="662243" y="5955117"/>
            <a:ext cx="6376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 So, fundamentally incompatible 	 but data insufficiency</a:t>
            </a:r>
          </a:p>
          <a:p>
            <a:endParaRPr lang="en-ID" b="1" dirty="0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A7CF0009-072F-6ECA-C7A1-C2DA40C8EC4E}"/>
              </a:ext>
            </a:extLst>
          </p:cNvPr>
          <p:cNvSpPr/>
          <p:nvPr/>
        </p:nvSpPr>
        <p:spPr>
          <a:xfrm>
            <a:off x="4139086" y="5973501"/>
            <a:ext cx="322863" cy="304781"/>
          </a:xfrm>
          <a:prstGeom prst="mathMultiply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7DC99F-2AAC-829E-1DBA-C04AB6B3486E}"/>
              </a:ext>
            </a:extLst>
          </p:cNvPr>
          <p:cNvSpPr txBox="1"/>
          <p:nvPr/>
        </p:nvSpPr>
        <p:spPr>
          <a:xfrm>
            <a:off x="7792291" y="3831101"/>
            <a:ext cx="41475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200" dirty="0">
                <a:solidFill>
                  <a:srgbClr val="0070C0"/>
                </a:solidFill>
              </a:rPr>
              <a:t>RST somehow outperform both standard and robust training</a:t>
            </a:r>
            <a:endParaRPr lang="en-ID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37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78D8-B551-8CAB-4DF6-E1E1E3CF6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MNIST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2E7F0-3CDF-3DCB-C5C4-18DBAB9A0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1600" dirty="0"/>
              <a:t>By using Xavier initialization, </a:t>
            </a:r>
            <a:r>
              <a:rPr lang="en-US" sz="1600" dirty="0"/>
              <a:t>the adversarially trained model has </a:t>
            </a:r>
            <a:r>
              <a:rPr lang="en-US" sz="1600" b="1" dirty="0"/>
              <a:t>lower test error </a:t>
            </a:r>
            <a:r>
              <a:rPr lang="en-US" sz="1600" dirty="0"/>
              <a:t>than standard trained model.</a:t>
            </a:r>
          </a:p>
          <a:p>
            <a:r>
              <a:rPr lang="en-US" sz="1600" dirty="0"/>
              <a:t>As the sample size increase, both standard and adversarially trained models converge to obtain same small test error. </a:t>
            </a:r>
          </a:p>
          <a:p>
            <a:r>
              <a:rPr lang="en-US" sz="1600" dirty="0"/>
              <a:t>In other words, adversarial training helps the model generalize better when there is limited data. </a:t>
            </a:r>
          </a:p>
          <a:p>
            <a:r>
              <a:rPr lang="en-US" sz="1600" dirty="0"/>
              <a:t>This means that with enough data, standard training catches up.</a:t>
            </a:r>
            <a:br>
              <a:rPr lang="en-US" sz="1600" dirty="0"/>
            </a:br>
            <a:br>
              <a:rPr lang="en-US" sz="1600" dirty="0"/>
            </a:br>
            <a:endParaRPr lang="en-ID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E59FDC-8BA8-2BE6-9968-A57DFDDBB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850" y="3598510"/>
            <a:ext cx="3868150" cy="17639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F77DC4-D2F5-6209-AF8A-AEB5146EBC77}"/>
              </a:ext>
            </a:extLst>
          </p:cNvPr>
          <p:cNvSpPr txBox="1"/>
          <p:nvPr/>
        </p:nvSpPr>
        <p:spPr>
          <a:xfrm>
            <a:off x="838201" y="5665569"/>
            <a:ext cx="1085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complexity       but optimization bug (adversarial training can behave as a </a:t>
            </a:r>
            <a:r>
              <a:rPr lang="en-US" b="1" dirty="0" err="1"/>
              <a:t>regularizer</a:t>
            </a:r>
            <a:r>
              <a:rPr lang="en-US" b="1" dirty="0"/>
              <a:t>)</a:t>
            </a:r>
            <a:endParaRPr lang="en-ID" sz="1050" b="1" dirty="0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46B6E3C3-94BE-7F81-2D2B-45A68BF40839}"/>
              </a:ext>
            </a:extLst>
          </p:cNvPr>
          <p:cNvSpPr/>
          <p:nvPr/>
        </p:nvSpPr>
        <p:spPr>
          <a:xfrm>
            <a:off x="2786536" y="5689808"/>
            <a:ext cx="322863" cy="304781"/>
          </a:xfrm>
          <a:prstGeom prst="mathMultiply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8886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0E634-DE3A-04DA-8EFB-B9B2BDF5C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B1D43-F9AE-F510-B326-094E3D11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Tradeoff</a:t>
            </a:r>
            <a:r>
              <a:rPr lang="en-US" dirty="0"/>
              <a:t> between robustness and accuracy :</a:t>
            </a:r>
            <a:br>
              <a:rPr lang="en-US" dirty="0"/>
            </a:br>
            <a:r>
              <a:rPr lang="en-US" dirty="0"/>
              <a:t>1.Fundamentally incompatible</a:t>
            </a:r>
          </a:p>
          <a:p>
            <a:pPr marL="0" indent="0">
              <a:buNone/>
            </a:pPr>
            <a:r>
              <a:rPr lang="en-US" dirty="0"/>
              <a:t>2. Model limitation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→ due to insufficient samples. Thus, </a:t>
            </a:r>
            <a:r>
              <a:rPr lang="en-US" b="1" dirty="0"/>
              <a:t>additional data is sufficient </a:t>
            </a:r>
            <a:r>
              <a:rPr lang="en-US" dirty="0"/>
              <a:t>to mitigate this.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D" dirty="0"/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BBDCDCB0-C55D-3B64-6DBE-231B49B45440}"/>
              </a:ext>
            </a:extLst>
          </p:cNvPr>
          <p:cNvSpPr/>
          <p:nvPr/>
        </p:nvSpPr>
        <p:spPr>
          <a:xfrm>
            <a:off x="5588000" y="2196783"/>
            <a:ext cx="1016000" cy="822960"/>
          </a:xfrm>
          <a:prstGeom prst="mathMultiply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F454E-5E38-E1F1-AC60-88FFD2F3C83E}"/>
              </a:ext>
            </a:extLst>
          </p:cNvPr>
          <p:cNvSpPr txBox="1"/>
          <p:nvPr/>
        </p:nvSpPr>
        <p:spPr>
          <a:xfrm>
            <a:off x="6604000" y="2423597"/>
            <a:ext cx="2159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solidFill>
                  <a:srgbClr val="FF0000"/>
                </a:solidFill>
              </a:rPr>
              <a:t>Not true in practice!</a:t>
            </a:r>
          </a:p>
        </p:txBody>
      </p:sp>
    </p:spTree>
    <p:extLst>
      <p:ext uri="{BB962C8B-B14F-4D97-AF65-F5344CB8AC3E}">
        <p14:creationId xmlns:p14="http://schemas.microsoft.com/office/powerpoint/2010/main" val="2318808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F96D-F3D0-EDE8-AFCB-BC8DA9AC1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Understand and Mitigate the Trade-Off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E58346-D8E8-0285-FF9F-A2E3CAA9BA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4937"/>
                <a:ext cx="10515600" cy="46439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D" sz="1600" dirty="0"/>
                  <a:t>Consider a simple model where true linear function has </a:t>
                </a:r>
                <a:r>
                  <a:rPr lang="en-ID" sz="1600" b="1" dirty="0"/>
                  <a:t>zero standard and robust error</a:t>
                </a:r>
                <a:r>
                  <a:rPr lang="en-ID" sz="1600" dirty="0"/>
                  <a:t>.</a:t>
                </a:r>
              </a:p>
              <a:p>
                <a:pPr marL="0" indent="0">
                  <a:buNone/>
                </a:pPr>
                <a:r>
                  <a:rPr lang="en-ID" sz="1600" dirty="0"/>
                  <a:t>Noiseless Linear Regression  : </a:t>
                </a:r>
                <a14:m>
                  <m:oMath xmlns:m="http://schemas.openxmlformats.org/officeDocument/2006/math">
                    <m:r>
                      <a:rPr lang="en-ID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D" sz="16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D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D" sz="16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ID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ID" sz="16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D" sz="1600" dirty="0"/>
                  <a:t>With only original data, many </a:t>
                </a:r>
                <a14:m>
                  <m:oMath xmlns:m="http://schemas.openxmlformats.org/officeDocument/2006/math">
                    <m:r>
                      <a:rPr lang="en-ID" sz="1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D" sz="1600" dirty="0"/>
                  <a:t> can fit the training data perfectly, especially when the problem is underdetermined.</a:t>
                </a:r>
              </a:p>
              <a:p>
                <a:pPr marL="0" indent="0">
                  <a:buNone/>
                </a:pPr>
                <a:r>
                  <a:rPr lang="en-ID" sz="1600" dirty="0"/>
                  <a:t> 	Uses </a:t>
                </a:r>
                <a:r>
                  <a:rPr lang="en-ID" sz="1600" b="1" dirty="0"/>
                  <a:t>inductive bias </a:t>
                </a:r>
                <a:r>
                  <a:rPr lang="en-ID" sz="1600" dirty="0"/>
                  <a:t>to find minimum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D" sz="1600" dirty="0"/>
                  <a:t>-norm estimator:</a:t>
                </a:r>
              </a:p>
              <a:p>
                <a:pPr marL="0" indent="0">
                  <a:buNone/>
                </a:pPr>
                <a:r>
                  <a:rPr lang="en-ID" sz="1600" b="1" dirty="0"/>
                  <a:t>	</a:t>
                </a:r>
                <a:r>
                  <a:rPr lang="en-ID" sz="1600" dirty="0"/>
                  <a:t>Standard training </a:t>
                </a:r>
                <a:r>
                  <a:rPr lang="en-ID" sz="1600" b="1" dirty="0"/>
                  <a:t>		: </a:t>
                </a:r>
                <a14:m>
                  <m:oMath xmlns:m="http://schemas.openxmlformats.org/officeDocument/2006/math">
                    <m:r>
                      <a:rPr lang="en-ID" sz="1600" b="1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𝑠𝑡𝑑</m:t>
                        </m:r>
                      </m:sub>
                    </m:sSub>
                    <m:r>
                      <a:rPr lang="en-ID" sz="16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D" sz="1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D" sz="160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ID" sz="160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D" sz="16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e>
                    </m:func>
                    <m:r>
                      <a:rPr lang="en-ID" sz="1600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D" sz="1600" i="1">
                        <a:latin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en-ID" sz="16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60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ID" sz="1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D" sz="16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D" sz="1600" i="0"/>
                      <m:t>s.t.</m:t>
                    </m:r>
                    <m:r>
                      <a:rPr lang="en-ID" sz="16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D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𝑠𝑡𝑑</m:t>
                        </m:r>
                      </m:sub>
                    </m:sSub>
                    <m:r>
                      <a:rPr lang="en-ID" sz="16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D" sz="16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𝑠𝑡𝑑</m:t>
                        </m:r>
                      </m:sub>
                    </m:sSub>
                  </m:oMath>
                </a14:m>
                <a:endParaRPr lang="en-ID" sz="1600" b="0" dirty="0"/>
              </a:p>
              <a:p>
                <a:pPr marL="0" indent="0">
                  <a:buNone/>
                </a:pPr>
                <a:r>
                  <a:rPr lang="en-ID" sz="1600" b="1" dirty="0"/>
                  <a:t>	</a:t>
                </a:r>
                <a:r>
                  <a:rPr lang="en-ID" sz="1600" dirty="0"/>
                  <a:t>Robust training</a:t>
                </a:r>
                <a:r>
                  <a:rPr lang="en-ID" sz="1600" b="1" dirty="0"/>
                  <a:t>		</a:t>
                </a:r>
                <a14:m>
                  <m:oMath xmlns:m="http://schemas.openxmlformats.org/officeDocument/2006/math">
                    <m:r>
                      <a:rPr lang="en-ID" sz="1600" b="1" i="0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  <m:r>
                      <a:rPr lang="en-ID" sz="16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D" sz="1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D" sz="160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ID" sz="160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D" sz="16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e>
                    </m:func>
                    <m:r>
                      <a:rPr lang="en-ID" sz="1600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D" sz="1600" i="1">
                        <a:latin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en-ID" sz="16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60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ID" sz="1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D" sz="16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D" sz="1600" i="0"/>
                      <m:t>s.t.</m:t>
                    </m:r>
                    <m:r>
                      <a:rPr lang="en-ID" sz="16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D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D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ID" sz="1600" i="1">
                                      <a:latin typeface="Cambria Math" panose="02040503050406030204" pitchFamily="18" charset="0"/>
                                    </a:rPr>
                                    <m:t>𝑠𝑡𝑑</m:t>
                                  </m:r>
                                </m:sub>
                              </m:sSub>
                              <m:r>
                                <a:rPr lang="en-ID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ID" sz="16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D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D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D" sz="1600" i="1">
                                      <a:latin typeface="Cambria Math" panose="02040503050406030204" pitchFamily="18" charset="0"/>
                                    </a:rPr>
                                    <m:t>𝑠𝑡𝑑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D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D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ID" sz="1600" i="1">
                                      <a:latin typeface="Cambria Math" panose="02040503050406030204" pitchFamily="18" charset="0"/>
                                    </a:rPr>
                                    <m:t>𝑒𝑥𝑡</m:t>
                                  </m:r>
                                </m:sub>
                              </m:sSub>
                              <m:r>
                                <a:rPr lang="en-ID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ID" sz="16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D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D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D" sz="1600" i="1">
                                      <a:latin typeface="Cambria Math" panose="02040503050406030204" pitchFamily="18" charset="0"/>
                                    </a:rPr>
                                    <m:t>𝑒𝑥𝑡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ID" sz="1600" b="0" dirty="0"/>
              </a:p>
              <a:p>
                <a:pPr marL="0" indent="0">
                  <a:buNone/>
                </a:pPr>
                <a:endParaRPr lang="en-ID" sz="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D" sz="16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en-ID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D" sz="1600" i="0"/>
                                <m:t>std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D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D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ID" sz="16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D" sz="16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D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D" sz="1600" i="0"/>
                                <m:t>std</m:t>
                              </m:r>
                            </m:sub>
                          </m:sSub>
                          <m:r>
                            <a:rPr lang="en-ID" sz="160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D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sz="1600" b="1" i="1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en-ID" sz="16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D" sz="1600" b="1" i="0"/>
                                <m:t>ext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D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D" sz="16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ID" sz="1600" b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D" sz="1600" b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D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sz="16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D" sz="1600" b="1" i="0"/>
                                <m:t>ext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en-ID" sz="1600" b="0" dirty="0"/>
              </a:p>
              <a:p>
                <a:pPr marL="0" indent="0">
                  <a:buNone/>
                </a:pPr>
                <a:r>
                  <a:rPr lang="en-ID" sz="1600" dirty="0">
                    <a:latin typeface="Aptos Narrow" panose="020B0004020202020204" pitchFamily="34" charset="0"/>
                  </a:rPr>
                  <a:t>→ </a:t>
                </a:r>
                <a:r>
                  <a:rPr lang="en-ID" sz="1600" b="1" dirty="0"/>
                  <a:t>inductive bias matter since it determines which solution the model selects, especially with limited data.</a:t>
                </a:r>
                <a:endParaRPr lang="en-ID" sz="1600" dirty="0"/>
              </a:p>
              <a:p>
                <a:pPr marL="342900" indent="-3429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D" sz="160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ID" sz="160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D" sz="1600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"/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en-ID" sz="1600" dirty="0"/>
                  <a:t> </a:t>
                </a:r>
                <a:r>
                  <a:rPr lang="en-US" sz="1600" dirty="0"/>
                  <a:t>describes the population's input geometry/covariance</a:t>
                </a:r>
              </a:p>
              <a:p>
                <a:pPr marL="0" indent="0">
                  <a:buNone/>
                </a:pPr>
                <a:r>
                  <a:rPr lang="en-US" sz="1600" dirty="0"/>
                  <a:t>→ finite training data may not capture all this geometry → if important directions are missing, inductive bias matters more</a:t>
                </a:r>
                <a:endParaRPr lang="en-ID" sz="1600" dirty="0">
                  <a:latin typeface="Aptos Narrow" panose="020B0004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n-ID" sz="1600" b="1" dirty="0">
                    <a:latin typeface="Aptos Narrow" panose="020B0004020202020204" pitchFamily="34" charset="0"/>
                  </a:rPr>
                  <a:t>Goal :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6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ID" sz="1600" b="1" i="0">
                            <a:latin typeface="Cambria Math" panose="02040503050406030204" pitchFamily="18" charset="0"/>
                          </a:rPr>
                          <m:t>𝐬𝐭𝐝</m:t>
                        </m:r>
                      </m:sub>
                    </m:sSub>
                    <m:d>
                      <m:dPr>
                        <m:ctrlPr>
                          <a:rPr lang="en-ID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sz="1600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ID" sz="1600" b="1" i="1" smtClean="0">
                                <a:latin typeface="Cambria Math" panose="02040503050406030204" pitchFamily="18" charset="0"/>
                              </a:rPr>
                              <m:t>𝒂𝒖𝒈</m:t>
                            </m:r>
                          </m:sub>
                        </m:sSub>
                      </m:e>
                    </m:d>
                    <m:r>
                      <a:rPr lang="en-ID" sz="1600" b="1" i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ID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6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ID" sz="1600" b="1" i="0">
                            <a:latin typeface="Cambria Math" panose="02040503050406030204" pitchFamily="18" charset="0"/>
                          </a:rPr>
                          <m:t>𝐬𝐭𝐝</m:t>
                        </m:r>
                      </m:sub>
                    </m:sSub>
                    <m:d>
                      <m:dPr>
                        <m:ctrlPr>
                          <a:rPr lang="en-ID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sz="1600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ID" sz="1600" b="1" i="1" smtClean="0">
                                <a:latin typeface="Cambria Math" panose="02040503050406030204" pitchFamily="18" charset="0"/>
                              </a:rPr>
                              <m:t>𝒔𝒕𝒅</m:t>
                            </m:r>
                          </m:sub>
                        </m:sSub>
                      </m:e>
                    </m:d>
                  </m:oMath>
                </a14:m>
                <a:r>
                  <a:rPr lang="en-ID" sz="1100" b="1" dirty="0">
                    <a:latin typeface="Aptos Narrow" panose="020B0004020202020204" pitchFamily="34" charset="0"/>
                  </a:rPr>
                  <a:t> ,  </a:t>
                </a:r>
                <a:r>
                  <a:rPr lang="en-ID" sz="1600" b="1" dirty="0"/>
                  <a:t>(where robust training does not hurt clean performance)</a:t>
                </a:r>
              </a:p>
              <a:p>
                <a:pPr marL="0" indent="0">
                  <a:buNone/>
                </a:pPr>
                <a:endParaRPr lang="en-ID" sz="1600" b="1" dirty="0">
                  <a:latin typeface="Aptos Narrow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E58346-D8E8-0285-FF9F-A2E3CAA9BA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4937"/>
                <a:ext cx="10515600" cy="4643938"/>
              </a:xfrm>
              <a:blipFill>
                <a:blip r:embed="rId3"/>
                <a:stretch>
                  <a:fillRect l="-348" t="-92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4021C46-3DC5-397E-45E9-D395610A5C15}"/>
              </a:ext>
            </a:extLst>
          </p:cNvPr>
          <p:cNvSpPr txBox="1"/>
          <p:nvPr/>
        </p:nvSpPr>
        <p:spPr>
          <a:xfrm>
            <a:off x="838200" y="6330823"/>
            <a:ext cx="10677785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D" sz="1200" dirty="0"/>
              <a:t>R. A. Raghunathan, S. M. Xie, F. Yang, J. C. Duchi, and P. Liang, “Understanding and mitigating the trade off between robustness and accuracy,” , I</a:t>
            </a:r>
            <a:r>
              <a:rPr lang="en-ID" sz="1200" i="1" dirty="0"/>
              <a:t>CML,</a:t>
            </a:r>
            <a:r>
              <a:rPr lang="en-ID" sz="1200" dirty="0"/>
              <a:t> 2020.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7BBE7F-537B-9F66-2FFB-3807A5847C85}"/>
              </a:ext>
            </a:extLst>
          </p:cNvPr>
          <p:cNvSpPr txBox="1"/>
          <p:nvPr/>
        </p:nvSpPr>
        <p:spPr>
          <a:xfrm>
            <a:off x="8277225" y="3724295"/>
            <a:ext cx="3076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latin typeface="Aptos Narrow" panose="020B0004020202020204" pitchFamily="34" charset="0"/>
              </a:rPr>
              <a:t>→ </a:t>
            </a:r>
            <a:r>
              <a:rPr lang="en-ID" sz="1200" dirty="0">
                <a:solidFill>
                  <a:srgbClr val="00B0F0"/>
                </a:solidFill>
                <a:latin typeface="Aptos Narrow" panose="020B0004020202020204" pitchFamily="34" charset="0"/>
              </a:rPr>
              <a:t>extra constraints (perturbed)</a:t>
            </a:r>
            <a:endParaRPr lang="en-ID" sz="1200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01BADA-9B67-8D12-55E7-2A5BAB36B6B3}"/>
              </a:ext>
            </a:extLst>
          </p:cNvPr>
          <p:cNvSpPr txBox="1"/>
          <p:nvPr/>
        </p:nvSpPr>
        <p:spPr>
          <a:xfrm>
            <a:off x="7732162" y="4093242"/>
            <a:ext cx="3076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latin typeface="Aptos Narrow" panose="020B0004020202020204" pitchFamily="34" charset="0"/>
              </a:rPr>
              <a:t>→ </a:t>
            </a:r>
            <a:r>
              <a:rPr lang="en-ID" sz="1200" dirty="0">
                <a:solidFill>
                  <a:srgbClr val="00B0F0"/>
                </a:solidFill>
                <a:latin typeface="Aptos Narrow" panose="020B0004020202020204" pitchFamily="34" charset="0"/>
              </a:rPr>
              <a:t>true model still satisfies  extra constraint</a:t>
            </a:r>
            <a:endParaRPr lang="en-ID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97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EDFB-A731-714E-88F5-5E316F63B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Experimental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B5154A-76C6-55AE-7C03-08C8F94388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ID" b="1" dirty="0"/>
                  <a:t>Condition 1:		      </a:t>
                </a:r>
                <a:r>
                  <a:rPr lang="en-US" dirty="0"/>
                  <a:t>the input distribution is isotropic</a:t>
                </a:r>
                <a:endParaRPr lang="en-ID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D" i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m:rPr>
                        <m:sty m:val="p"/>
                      </m:rPr>
                      <a:rPr lang="en-ID" i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D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D" i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ID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D" i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  <m:sub>
                        <m:r>
                          <a:rPr lang="en-ID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D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ID" dirty="0"/>
                  <a:t>   </a:t>
                </a:r>
              </a:p>
              <a:p>
                <a:pPr marL="0" indent="0">
                  <a:buNone/>
                </a:pPr>
                <a:r>
                  <a:rPr lang="en-ID" dirty="0">
                    <a:latin typeface="Aptos Narrow" panose="020B0004020202020204" pitchFamily="34" charset="0"/>
                  </a:rPr>
                  <a:t>→</a:t>
                </a:r>
                <a:r>
                  <a:rPr lang="en-ID" dirty="0"/>
                  <a:t>population error is now measured using exactly the same Euclidean geometry as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D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D" dirty="0"/>
                  <a:t>norm.</a:t>
                </a:r>
              </a:p>
              <a:p>
                <a:pPr marL="0" indent="0">
                  <a:buNone/>
                </a:pPr>
                <a:endParaRPr lang="en-ID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D" i="1">
                              <a:latin typeface="Cambria Math" panose="02040503050406030204" pitchFamily="18" charset="0"/>
                            </a:rPr>
                            <m:t>std</m:t>
                          </m:r>
                        </m:sub>
                      </m:sSub>
                      <m:d>
                        <m:dPr>
                          <m:ctrlPr>
                            <a:rPr lang="en-ID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D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D" b="0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</m:sub>
                          </m:sSub>
                        </m:e>
                      </m:d>
                      <m:r>
                        <a:rPr lang="en-ID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D" i="1">
                              <a:latin typeface="Cambria Math" panose="02040503050406030204" pitchFamily="18" charset="0"/>
                            </a:rPr>
                            <m:t>std</m:t>
                          </m:r>
                        </m:sub>
                      </m:sSub>
                      <m:d>
                        <m:dPr>
                          <m:ctrlPr>
                            <a:rPr lang="en-ID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D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D" b="0" i="1" smtClean="0">
                                  <a:latin typeface="Cambria Math" panose="02040503050406030204" pitchFamily="18" charset="0"/>
                                </a:rPr>
                                <m:t>aug</m:t>
                              </m:r>
                            </m:sub>
                          </m:sSub>
                        </m:e>
                      </m:d>
                      <m:r>
                        <a:rPr lang="en-ID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nor/>
                        </m:rPr>
                        <a:rPr lang="en-US" i="0" dirty="0"/>
                        <m:t>Σ</m:t>
                      </m:r>
                      <m:r>
                        <a:rPr lang="en-ID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D" i="1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nor/>
                        </m:rPr>
                        <a:rPr lang="en-US" i="0" dirty="0"/>
                        <m:t>Σ</m:t>
                      </m:r>
                      <m:r>
                        <a:rPr lang="en-ID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D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i="1">
                            <a:latin typeface="Cambria Math" panose="02040503050406030204" pitchFamily="18" charset="0"/>
                          </a:rPr>
                          <m:t>std</m:t>
                        </m:r>
                      </m:sub>
                    </m:sSub>
                    <m:d>
                      <m:d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𝑎𝑢𝑔</m:t>
                            </m:r>
                          </m:sub>
                        </m:sSub>
                      </m:e>
                    </m:d>
                    <m:r>
                      <a:rPr lang="en-ID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i="1">
                            <a:latin typeface="Cambria Math" panose="02040503050406030204" pitchFamily="18" charset="0"/>
                          </a:rPr>
                          <m:t>std</m:t>
                        </m:r>
                      </m:sub>
                    </m:sSub>
                    <m:d>
                      <m:d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𝑠𝑡𝑑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ID" dirty="0"/>
                  <a:t>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D" dirty="0"/>
                  <a:t> 0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D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b="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D" b="0" i="1">
                              <a:latin typeface="Cambria Math" panose="02040503050406030204" pitchFamily="18" charset="0"/>
                            </a:rPr>
                            <m:t>std</m:t>
                          </m:r>
                        </m:sub>
                      </m:sSub>
                      <m:d>
                        <m:dPr>
                          <m:ctrlPr>
                            <a:rPr lang="en-ID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D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D" b="0" i="1">
                                  <a:latin typeface="Cambria Math" panose="02040503050406030204" pitchFamily="18" charset="0"/>
                                </a:rPr>
                                <m:t>𝑎𝑢𝑔</m:t>
                              </m:r>
                            </m:sub>
                          </m:sSub>
                        </m:e>
                      </m:d>
                      <m:r>
                        <a:rPr lang="en-ID" b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ID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b="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D" b="0" i="1">
                              <a:latin typeface="Cambria Math" panose="02040503050406030204" pitchFamily="18" charset="0"/>
                            </a:rPr>
                            <m:t>std</m:t>
                          </m:r>
                        </m:sub>
                      </m:sSub>
                      <m:d>
                        <m:dPr>
                          <m:ctrlPr>
                            <a:rPr lang="en-ID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D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D" b="0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D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Condition 2:  </a:t>
                </a:r>
                <a:r>
                  <a:rPr lang="en-US" dirty="0"/>
                  <a:t>Training data spans all directions of  Σ 	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l-GR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b="0" i="1" smtClean="0">
                            <a:latin typeface="Cambria Math" panose="02040503050406030204" pitchFamily="18" charset="0"/>
                          </a:rPr>
                          <m:t>aug</m:t>
                        </m:r>
                      </m:sub>
                      <m:sup>
                        <m:r>
                          <m:rPr>
                            <m:nor/>
                          </m:rPr>
                          <a:rPr lang="en-ID" i="0"/>
                          <m:t>⊥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D" b="0" i="1" smtClean="0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ID" b="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D" b="0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ID" b="0" i="1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en-ID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D" i="1">
                              <a:latin typeface="Cambria Math" panose="02040503050406030204" pitchFamily="18" charset="0"/>
                            </a:rPr>
                            <m:t>std</m:t>
                          </m:r>
                        </m:sub>
                      </m:sSub>
                      <m:d>
                        <m:d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</m:sub>
                          </m:sSub>
                        </m:e>
                      </m:d>
                      <m:r>
                        <a:rPr lang="en-ID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D" i="1">
                              <a:latin typeface="Cambria Math" panose="02040503050406030204" pitchFamily="18" charset="0"/>
                            </a:rPr>
                            <m:t>std</m:t>
                          </m:r>
                        </m:sub>
                      </m:sSub>
                      <m:d>
                        <m:d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D" i="1">
                                  <a:latin typeface="Cambria Math" panose="02040503050406030204" pitchFamily="18" charset="0"/>
                                </a:rPr>
                                <m:t>aug</m:t>
                              </m:r>
                            </m:sub>
                          </m:sSub>
                        </m:e>
                      </m:d>
                      <m:r>
                        <a:rPr lang="en-ID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nor/>
                        </m:rPr>
                        <a:rPr lang="en-US" i="0" dirty="0"/>
                        <m:t>Σ</m:t>
                      </m:r>
                      <m:r>
                        <a:rPr lang="en-ID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D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i="1">
                            <a:latin typeface="Cambria Math" panose="02040503050406030204" pitchFamily="18" charset="0"/>
                          </a:rPr>
                          <m:t>std</m:t>
                        </m:r>
                      </m:sub>
                    </m:sSub>
                    <m:d>
                      <m:d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𝑎𝑢𝑔</m:t>
                            </m:r>
                          </m:sub>
                        </m:sSub>
                      </m:e>
                    </m:d>
                    <m:r>
                      <a:rPr lang="en-ID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D" i="1">
                            <a:latin typeface="Cambria Math" panose="02040503050406030204" pitchFamily="18" charset="0"/>
                          </a:rPr>
                          <m:t>std</m:t>
                        </m:r>
                      </m:sub>
                    </m:sSub>
                    <m:d>
                      <m:d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𝑠𝑡𝑑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ID" dirty="0"/>
                  <a:t> </a:t>
                </a:r>
                <a14:m>
                  <m:oMath xmlns:m="http://schemas.openxmlformats.org/officeDocument/2006/math">
                    <m:r>
                      <a:rPr lang="en-ID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D" dirty="0"/>
                  <a:t> 0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D" i="1">
                              <a:latin typeface="Cambria Math" panose="02040503050406030204" pitchFamily="18" charset="0"/>
                            </a:rPr>
                            <m:t>std</m:t>
                          </m:r>
                        </m:sub>
                      </m:sSub>
                      <m:d>
                        <m:d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𝑎𝑢𝑔</m:t>
                              </m:r>
                            </m:sub>
                          </m:sSub>
                        </m:e>
                      </m:d>
                      <m:r>
                        <a:rPr lang="en-ID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D" i="1">
                              <a:latin typeface="Cambria Math" panose="02040503050406030204" pitchFamily="18" charset="0"/>
                            </a:rPr>
                            <m:t>std</m:t>
                          </m:r>
                        </m:sub>
                      </m:sSub>
                      <m:d>
                        <m:d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D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D" dirty="0"/>
              </a:p>
              <a:p>
                <a:pPr marL="0" indent="0">
                  <a:buNone/>
                </a:pPr>
                <a:endParaRPr lang="en-ID" b="0" dirty="0"/>
              </a:p>
              <a:p>
                <a:pPr marL="0" indent="0">
                  <a:buNone/>
                </a:pPr>
                <a:r>
                  <a:rPr lang="en-US" dirty="0"/>
                  <a:t>So to mitigate trade-off </a:t>
                </a:r>
                <a:r>
                  <a:rPr lang="en-US" b="1" dirty="0"/>
                  <a:t>: more data </a:t>
                </a:r>
                <a:r>
                  <a:rPr lang="en-US" dirty="0"/>
                  <a:t>OR  better-matched inductive bias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B5154A-76C6-55AE-7C03-08C8F9438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t="-140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3D4BAD-0F0A-3E2C-2172-DA6B0528E586}"/>
              </a:ext>
            </a:extLst>
          </p:cNvPr>
          <p:cNvCxnSpPr/>
          <p:nvPr/>
        </p:nvCxnSpPr>
        <p:spPr>
          <a:xfrm>
            <a:off x="4157196" y="5994506"/>
            <a:ext cx="22453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0CA4397-1375-901A-F408-E6885F361DAB}"/>
              </a:ext>
            </a:extLst>
          </p:cNvPr>
          <p:cNvSpPr txBox="1"/>
          <p:nvPr/>
        </p:nvSpPr>
        <p:spPr>
          <a:xfrm>
            <a:off x="6572796" y="5670801"/>
            <a:ext cx="25051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dirty="0">
                <a:solidFill>
                  <a:srgbClr val="FF0000"/>
                </a:solidFill>
              </a:rPr>
              <a:t>hard to control in real 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918AA-2429-73D1-7DE9-414E34EE2A6A}"/>
              </a:ext>
            </a:extLst>
          </p:cNvPr>
          <p:cNvSpPr txBox="1"/>
          <p:nvPr/>
        </p:nvSpPr>
        <p:spPr>
          <a:xfrm>
            <a:off x="2475320" y="1690688"/>
            <a:ext cx="11334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𝛴 = I</a:t>
            </a:r>
            <a:endParaRPr lang="en-ID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238B6-FC5A-778D-74E6-8DE23BE2E3DB}"/>
              </a:ext>
            </a:extLst>
          </p:cNvPr>
          <p:cNvSpPr txBox="1"/>
          <p:nvPr/>
        </p:nvSpPr>
        <p:spPr>
          <a:xfrm>
            <a:off x="6572796" y="2528738"/>
            <a:ext cx="9813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100" dirty="0">
                <a:solidFill>
                  <a:srgbClr val="00B0F0"/>
                </a:solidFill>
              </a:rPr>
              <a:t>non-negative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007895BA-FF7B-5772-9539-021BE4E97E77}"/>
              </a:ext>
            </a:extLst>
          </p:cNvPr>
          <p:cNvSpPr/>
          <p:nvPr/>
        </p:nvSpPr>
        <p:spPr>
          <a:xfrm rot="5400000">
            <a:off x="7035626" y="2129429"/>
            <a:ext cx="171447" cy="1321837"/>
          </a:xfrm>
          <a:prstGeom prst="leftBrace">
            <a:avLst>
              <a:gd name="adj1" fmla="val 8333"/>
              <a:gd name="adj2" fmla="val 47118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107AB-18B0-778B-5767-982A4046F549}"/>
              </a:ext>
            </a:extLst>
          </p:cNvPr>
          <p:cNvSpPr txBox="1"/>
          <p:nvPr/>
        </p:nvSpPr>
        <p:spPr>
          <a:xfrm>
            <a:off x="7051899" y="3452150"/>
            <a:ext cx="11512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100" dirty="0">
                <a:solidFill>
                  <a:srgbClr val="00B0F0"/>
                </a:solidFill>
                <a:latin typeface="Aptos Narrow" panose="020B0004020202020204" pitchFamily="34" charset="0"/>
              </a:rPr>
              <a:t>←</a:t>
            </a:r>
            <a:r>
              <a:rPr lang="en-ID" sz="1100" dirty="0">
                <a:solidFill>
                  <a:srgbClr val="00B0F0"/>
                </a:solidFill>
              </a:rPr>
              <a:t>Goal satisfied!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DBE572-6418-D449-F2C0-6217EE9F372C}"/>
              </a:ext>
            </a:extLst>
          </p:cNvPr>
          <p:cNvSpPr txBox="1"/>
          <p:nvPr/>
        </p:nvSpPr>
        <p:spPr>
          <a:xfrm>
            <a:off x="7148754" y="5163180"/>
            <a:ext cx="11512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100" dirty="0">
                <a:solidFill>
                  <a:srgbClr val="00B0F0"/>
                </a:solidFill>
                <a:latin typeface="Aptos Narrow" panose="020B0004020202020204" pitchFamily="34" charset="0"/>
              </a:rPr>
              <a:t>←</a:t>
            </a:r>
            <a:r>
              <a:rPr lang="en-ID" sz="1100" dirty="0">
                <a:solidFill>
                  <a:srgbClr val="00B0F0"/>
                </a:solidFill>
              </a:rPr>
              <a:t>Goal satisfied!</a:t>
            </a:r>
          </a:p>
        </p:txBody>
      </p:sp>
    </p:spTree>
    <p:extLst>
      <p:ext uri="{BB962C8B-B14F-4D97-AF65-F5344CB8AC3E}">
        <p14:creationId xmlns:p14="http://schemas.microsoft.com/office/powerpoint/2010/main" val="2586336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82B48A-50EE-E4EE-86D2-BE2DB7FA9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2. Unlabeled Data Improves Adversarial Robustness</a:t>
            </a:r>
            <a:endParaRPr lang="en-ID" sz="2800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01DA58C-5214-00C0-BDE4-CE7E08DD12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D" dirty="0"/>
              <a:t>Yair Carmon*     Aditi Raghunathan*     Ludwig Schmidt     Percy Liang John C. Duchi</a:t>
            </a:r>
          </a:p>
          <a:p>
            <a:r>
              <a:rPr lang="en-ID" dirty="0"/>
              <a:t>Standford University, UC Berkeley</a:t>
            </a:r>
          </a:p>
          <a:p>
            <a:r>
              <a:rPr lang="en-ID" dirty="0" err="1"/>
              <a:t>NeurIPS</a:t>
            </a:r>
            <a:r>
              <a:rPr lang="en-ID" dirty="0"/>
              <a:t> 2019</a:t>
            </a:r>
          </a:p>
        </p:txBody>
      </p:sp>
    </p:spTree>
    <p:extLst>
      <p:ext uri="{BB962C8B-B14F-4D97-AF65-F5344CB8AC3E}">
        <p14:creationId xmlns:p14="http://schemas.microsoft.com/office/powerpoint/2010/main" val="703968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60018-A0B9-03B0-397D-49D020477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779B3-4CE4-382A-2FFA-0ECA94A52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More</a:t>
            </a:r>
            <a:r>
              <a:rPr lang="en-ID" dirty="0"/>
              <a:t> </a:t>
            </a:r>
            <a:r>
              <a:rPr lang="en-US" b="1" dirty="0"/>
              <a:t>training data </a:t>
            </a:r>
            <a:r>
              <a:rPr lang="en-US" dirty="0"/>
              <a:t>leads to greater robustness, but labeled data are expensive</a:t>
            </a:r>
          </a:p>
          <a:p>
            <a:r>
              <a:rPr lang="en-US" dirty="0"/>
              <a:t>Solution : unlabeled data</a:t>
            </a:r>
          </a:p>
          <a:p>
            <a:r>
              <a:rPr lang="en-US" dirty="0"/>
              <a:t>Using semi-supervised learning (Robust self-training)</a:t>
            </a:r>
          </a:p>
          <a:p>
            <a:pPr marL="0" indent="0">
              <a:buNone/>
            </a:pPr>
            <a:r>
              <a:rPr lang="en-US" dirty="0"/>
              <a:t>Can we improve robustness ?</a:t>
            </a:r>
          </a:p>
          <a:p>
            <a:pPr marL="457200" lvl="1" indent="0">
              <a:buNone/>
            </a:pP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791794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85C2-D2B8-3D1C-3F7B-DFEB1A3C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Theoretical Findings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C3B73-4825-9A1E-EB47-8E2BCA7B58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6157"/>
                <a:ext cx="10515600" cy="464290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D" sz="1600" dirty="0"/>
                  <a:t>Gaussian Model :</a:t>
                </a:r>
                <a:r>
                  <a:rPr lang="en-ID" sz="1600" i="1" dirty="0">
                    <a:latin typeface="Cambria Math" panose="02040503050406030204" pitchFamily="18" charset="0"/>
                  </a:rPr>
                  <a:t>			</a:t>
                </a:r>
                <a:r>
                  <a:rPr lang="en-ID" sz="1400" dirty="0"/>
                  <a:t> → Classifier is linear : </a:t>
                </a:r>
                <a14:m>
                  <m:oMath xmlns:m="http://schemas.openxmlformats.org/officeDocument/2006/math">
                    <m:r>
                      <a:rPr lang="en-ID" sz="1400" i="0" dirty="0" err="1" smtClean="0">
                        <a:latin typeface="Cambria Math" panose="02040503050406030204" pitchFamily="18" charset="0"/>
                      </a:rPr>
                      <m:t>​</m:t>
                    </m:r>
                    <m:sSub>
                      <m:sSubPr>
                        <m:ctrlPr>
                          <a:rPr lang="en-ID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D" sz="1400" b="0" i="1" dirty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ID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ID" sz="1400" i="1" dirty="0" err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D" sz="14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D" sz="1400" i="0" dirty="0" err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D" sz="1400" i="1" dirty="0" err="1" smtClean="0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ID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D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 sz="1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D" sz="1400" b="0" i="1" dirty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ID" sz="14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D" sz="16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D" sz="1600" dirty="0"/>
                  <a:t>Supervised learning:  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D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D" sz="16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D" sz="160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D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grow m:val="on"/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D" sz="160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D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borderBox>
                  </m:oMath>
                </a14:m>
                <a:endParaRPr lang="en-ID" sz="1600" dirty="0"/>
              </a:p>
              <a:p>
                <a:r>
                  <a:rPr lang="en-ID" sz="1600" dirty="0"/>
                  <a:t>Standard accuracy	 : </a:t>
                </a:r>
                <a14:m>
                  <m:oMath xmlns:m="http://schemas.openxmlformats.org/officeDocument/2006/math">
                    <m:r>
                      <a:rPr lang="en-ID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D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≥</m:t>
                    </m:r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D" sz="1600" b="0" i="1" smtClean="0">
                        <a:latin typeface="Cambria Math" panose="02040503050406030204" pitchFamily="18" charset="0"/>
                      </a:rPr>
                      <m:t>labeled</m:t>
                    </m:r>
                    <m:r>
                      <a:rPr lang="en-ID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D" sz="1600" b="0" i="1" smtClean="0">
                        <a:latin typeface="Cambria Math" panose="02040503050406030204" pitchFamily="18" charset="0"/>
                      </a:rPr>
                      <m:t>samples</m:t>
                    </m:r>
                  </m:oMath>
                </a14:m>
                <a:endParaRPr lang="en-ID" sz="1600" b="0" dirty="0"/>
              </a:p>
              <a:p>
                <a:r>
                  <a:rPr lang="en-ID" sz="1600" b="0" dirty="0"/>
                  <a:t>Robust accuracy [41]	:</a:t>
                </a:r>
                <a14:m>
                  <m:oMath xmlns:m="http://schemas.openxmlformats.org/officeDocument/2006/math">
                    <m:r>
                      <a:rPr lang="en-ID" sz="1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D" sz="1600" i="0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ID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6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D" sz="1600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en-ID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D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 sz="1600" i="1" dirty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ID" sz="16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D" sz="16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D" sz="16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D" sz="1600" i="0" dirty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ID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D" sz="16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D" sz="1600" i="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D" sz="1600" i="0" dirty="0">
                            <a:latin typeface="Cambria Math" panose="02040503050406030204" pitchFamily="18" charset="0"/>
                          </a:rPr>
                          <m:t>8</m:t>
                        </m:r>
                        <m:func>
                          <m:funcPr>
                            <m:ctrlPr>
                              <a:rPr lang="en-ID" sz="1600" i="0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D" sz="1600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ID" sz="16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den>
                    </m:f>
                  </m:oMath>
                </a14:m>
                <a:endParaRPr lang="en-ID" sz="1600" dirty="0"/>
              </a:p>
              <a:p>
                <a:pPr marL="0" indent="0">
                  <a:buNone/>
                </a:pPr>
                <a:r>
                  <a:rPr lang="en-ID" sz="1600" b="1" dirty="0"/>
                  <a:t>→ need more labelled data</a:t>
                </a:r>
                <a:r>
                  <a:rPr lang="en-ID" sz="1600" dirty="0"/>
                  <a:t>, </a:t>
                </a:r>
                <a:r>
                  <a:rPr lang="en-ID" sz="1600" b="1" dirty="0">
                    <a:solidFill>
                      <a:srgbClr val="FF0000"/>
                    </a:solidFill>
                  </a:rPr>
                  <a:t>sample complexity gap</a:t>
                </a:r>
                <a:endParaRPr lang="en-ID" sz="1600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r>
                  <a:rPr lang="en-ID" sz="1600" dirty="0"/>
                  <a:t>Self-training : using </a:t>
                </a:r>
                <a:r>
                  <a:rPr lang="en-ID" sz="1600" dirty="0" err="1"/>
                  <a:t>unlabeled</a:t>
                </a:r>
                <a:r>
                  <a:rPr lang="en-ID" sz="1600" dirty="0"/>
                  <a:t> data </a:t>
                </a:r>
              </a:p>
              <a:p>
                <a:r>
                  <a:rPr lang="en-ID" sz="1600" dirty="0"/>
                  <a:t>Train standard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ID" sz="1600" b="0" i="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1600" b="0" i="0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D" sz="1600" b="0" i="0" dirty="0" smtClean="0">
                            <a:latin typeface="Cambria Math" panose="02040503050406030204" pitchFamily="18" charset="0"/>
                          </a:rPr>
                          <m:t>std</m:t>
                        </m:r>
                      </m:sub>
                    </m:sSub>
                    <m:r>
                      <a:rPr lang="en-ID" sz="16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sz="1600" dirty="0"/>
                  <a:t>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D" sz="1600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D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sz="1600" dirty="0"/>
                  <a:t> : 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D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ID" sz="1600" i="1">
                                <a:latin typeface="Cambria Math" panose="02040503050406030204" pitchFamily="18" charset="0"/>
                              </a:rPr>
                              <m:t>intermediate</m:t>
                            </m:r>
                          </m:sub>
                        </m:sSub>
                        <m:r>
                          <a:rPr lang="en-ID" sz="16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D" sz="160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D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grow m:val="on"/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D" sz="160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D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en-ID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D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borderBox>
                  </m:oMath>
                </a14:m>
                <a:endParaRPr lang="en-ID" sz="1600" dirty="0"/>
              </a:p>
              <a:p>
                <a:r>
                  <a:rPr lang="en-ID" sz="1600" dirty="0"/>
                  <a:t>Generate </a:t>
                </a:r>
                <a:r>
                  <a:rPr lang="en-ID" sz="1600" dirty="0" err="1"/>
                  <a:t>pseudolabel</a:t>
                </a:r>
                <a:r>
                  <a:rPr lang="en-ID" sz="1600" dirty="0"/>
                  <a:t> on </a:t>
                </a:r>
                <a:r>
                  <a:rPr lang="en-ID" sz="1600" dirty="0" err="1"/>
                  <a:t>unlabeled</a:t>
                </a:r>
                <a:r>
                  <a:rPr lang="en-ID" sz="1600" dirty="0"/>
                  <a:t> data :</a:t>
                </a:r>
                <a:r>
                  <a:rPr lang="en-ID" sz="1600" b="1" dirty="0"/>
                  <a:t>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n-ID" sz="1400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n-ID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ID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D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ID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D" sz="14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D" sz="1400">
                            <a:latin typeface="Cambria Math" panose="02040503050406030204" pitchFamily="18" charset="0"/>
                          </a:rPr>
                          <m:t>sign</m:t>
                        </m:r>
                        <m:r>
                          <a:rPr lang="en-ID" sz="1400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en-ID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ID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ID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D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D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ID" sz="1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ID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ID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D" sz="1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D" sz="1400">
                                    <a:latin typeface="Cambria Math" panose="02040503050406030204" pitchFamily="18" charset="0"/>
                                  </a:rPr>
                                  <m:t>intermediate</m:t>
                                </m:r>
                              </m:sub>
                            </m:sSub>
                          </m:e>
                        </m:d>
                      </m:e>
                    </m:borderBox>
                  </m:oMath>
                </a14:m>
                <a:endParaRPr lang="en-ID" sz="1600" dirty="0"/>
              </a:p>
              <a:p>
                <a:r>
                  <a:rPr lang="en-ID" sz="1600" dirty="0"/>
                  <a:t>Both of them combined and retrain</a:t>
                </a:r>
                <a:r>
                  <a:rPr lang="en-ID" sz="1600" i="1" dirty="0"/>
                  <a:t> </a:t>
                </a:r>
                <a:r>
                  <a:rPr lang="en-ID" sz="1600" dirty="0"/>
                  <a:t>:</a:t>
                </a:r>
                <a:r>
                  <a:rPr lang="en-ID" sz="16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ID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160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D" sz="1600" i="1" smtClean="0">
                            <a:latin typeface="Cambria Math" panose="02040503050406030204" pitchFamily="18" charset="0"/>
                          </a:rPr>
                          <m:t>final</m:t>
                        </m:r>
                      </m:sub>
                    </m:sSub>
                    <m:r>
                      <a:rPr lang="en-ID" sz="16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˜"/>
                            <m:ctrlPr>
                              <a:rPr lang="en-ID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16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D" sz="16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D" sz="160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acc>
                          <m:accPr>
                            <m:chr m:val="˜"/>
                            <m:ctrlPr>
                              <a:rPr lang="en-ID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16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sup>
                      <m:e>
                        <m:sSub>
                          <m:sSubPr>
                            <m:ctrlPr>
                              <a:rPr lang="en-ID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˜"/>
                                <m:ctrlPr>
                                  <a:rPr lang="en-ID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D" sz="16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ID" sz="16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˜"/>
                            <m:ctrlPr>
                              <a:rPr lang="en-ID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D" sz="16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ID" sz="16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D" sz="1600" i="1" dirty="0"/>
              </a:p>
              <a:p>
                <a:pPr marL="0" indent="0">
                  <a:buNone/>
                </a:pPr>
                <a:r>
                  <a:rPr lang="en-ID" sz="1600" dirty="0"/>
                  <a:t>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D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D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D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ID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en-ID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ID" sz="1600" dirty="0"/>
                  <a:t> with additional </a:t>
                </a:r>
                <a14:m>
                  <m:oMath xmlns:m="http://schemas.openxmlformats.org/officeDocument/2006/math">
                    <m:acc>
                      <m:accPr>
                        <m:chr m:val="˜"/>
                        <m:ctrlPr>
                          <a:rPr lang="en-ID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D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ID" sz="1600" dirty="0"/>
                  <a:t>  data:</a:t>
                </a:r>
                <a14:m>
                  <m:oMath xmlns:m="http://schemas.openxmlformats.org/officeDocument/2006/math">
                    <m:r>
                      <a:rPr lang="en-ID" sz="1600" b="0" i="0" smtClean="0"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˜"/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D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ID" sz="1600" dirty="0"/>
                  <a:t> </a:t>
                </a:r>
                <a14:m>
                  <m:oMath xmlns:m="http://schemas.openxmlformats.org/officeDocument/2006/math">
                    <m:r>
                      <a:rPr lang="en-ID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D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6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D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D" sz="1600" i="1" dirty="0" smtClean="0">
                        <a:latin typeface="Cambria Math" panose="02040503050406030204" pitchFamily="18" charset="0"/>
                      </a:rPr>
                      <m:t>288</m:t>
                    </m:r>
                    <m:r>
                      <a:rPr lang="en-ID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D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sz="1600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ID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D" sz="16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D" sz="1600" i="1" dirty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D" sz="1600" i="1" dirty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ID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sz="16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D" sz="16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rad>
                  </m:oMath>
                </a14:m>
                <a:r>
                  <a:rPr lang="en-ID" sz="1600" dirty="0"/>
                  <a:t>  </a:t>
                </a:r>
                <a:r>
                  <a:rPr lang="en-ID" sz="1600" b="1" i="1" dirty="0">
                    <a:solidFill>
                      <a:srgbClr val="00B0F0"/>
                    </a:solidFill>
                  </a:rPr>
                  <a:t>→ </a:t>
                </a:r>
                <a14:m>
                  <m:oMath xmlns:m="http://schemas.openxmlformats.org/officeDocument/2006/math">
                    <m:r>
                      <a:rPr lang="en-ID" sz="1600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ID" sz="1600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sz="1600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𝒓𝒐𝒃𝒖𝒔𝒕</m:t>
                    </m:r>
                    <m:r>
                      <a:rPr lang="en-ID" sz="1600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D" sz="1600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𝒆𝒓𝒓𝒐𝒓</m:t>
                    </m:r>
                    <m:r>
                      <a:rPr lang="en-ID" sz="1600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] ≤ </m:t>
                    </m:r>
                    <m:sSup>
                      <m:sSupPr>
                        <m:ctrlPr>
                          <a:rPr lang="en-ID" sz="16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sz="16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ID" sz="16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D" sz="16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ID" sz="1600" b="1" i="1" dirty="0">
                    <a:solidFill>
                      <a:srgbClr val="00B0F0"/>
                    </a:solidFill>
                  </a:rPr>
                  <a:t>!</a:t>
                </a:r>
              </a:p>
              <a:p>
                <a:pPr marL="0" indent="0">
                  <a:buNone/>
                </a:pPr>
                <a:endParaRPr lang="en-ID" sz="1600" b="1" dirty="0"/>
              </a:p>
              <a:p>
                <a:pPr marL="0" indent="0">
                  <a:buNone/>
                </a:pPr>
                <a:r>
                  <a:rPr lang="en-ID" sz="1600" b="1" dirty="0"/>
                  <a:t>By the self training, we could find that to gain robustness, it requires more data, but it doesn’t have to be labelled</a:t>
                </a:r>
                <a:r>
                  <a:rPr lang="en-ID" sz="1600" dirty="0"/>
                  <a:t>. </a:t>
                </a:r>
              </a:p>
              <a:p>
                <a:endParaRPr lang="en-ID" sz="1600" dirty="0"/>
              </a:p>
              <a:p>
                <a:pPr marL="0" indent="0">
                  <a:buNone/>
                </a:pPr>
                <a:endParaRPr lang="en-ID" sz="1600" dirty="0"/>
              </a:p>
              <a:p>
                <a:endParaRPr lang="en-ID" sz="1600" i="1" dirty="0"/>
              </a:p>
              <a:p>
                <a:endParaRPr lang="en-ID" sz="16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C3B73-4825-9A1E-EB47-8E2BCA7B58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6157"/>
                <a:ext cx="10515600" cy="4642909"/>
              </a:xfrm>
              <a:blipFill>
                <a:blip r:embed="rId3"/>
                <a:stretch>
                  <a:fillRect l="-348" t="-920" b="-159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6C07A1-55FE-C01E-C96E-A683B5143858}"/>
                  </a:ext>
                </a:extLst>
              </p:cNvPr>
              <p:cNvSpPr txBox="1"/>
              <p:nvPr/>
            </p:nvSpPr>
            <p:spPr>
              <a:xfrm>
                <a:off x="2608804" y="1433710"/>
                <a:ext cx="16480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D" sz="1400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D" sz="1400" i="1">
                          <a:latin typeface="Cambria Math" panose="02040503050406030204" pitchFamily="18" charset="0"/>
                        </a:rPr>
                        <m:t> | </m:t>
                      </m:r>
                      <m:r>
                        <m:rPr>
                          <m:sty m:val="p"/>
                        </m:rPr>
                        <a:rPr lang="en-ID" sz="1400" i="1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D" sz="1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ID" sz="1400" i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D" sz="1400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ID" sz="1400" i="1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D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D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ID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ID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ID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D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lang="en-ID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ID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6C07A1-55FE-C01E-C96E-A683B5143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804" y="1433710"/>
                <a:ext cx="1648015" cy="30777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4DDA24-D899-6E55-1378-4D52381C216B}"/>
                  </a:ext>
                </a:extLst>
              </p:cNvPr>
              <p:cNvSpPr txBox="1"/>
              <p:nvPr/>
            </p:nvSpPr>
            <p:spPr>
              <a:xfrm>
                <a:off x="5092005" y="2649360"/>
                <a:ext cx="3261727" cy="4956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D" sz="1400" i="0" dirty="0">
                          <a:latin typeface="Aptos Narrow" panose="020B0004020202020204" pitchFamily="34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ID" sz="1400" b="0" i="1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ID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ID" sz="1400" b="0" i="1" smtClean="0">
                          <a:latin typeface="Cambria Math" panose="02040503050406030204" pitchFamily="18" charset="0"/>
                        </a:rPr>
                        <m:t>robust</m:t>
                      </m:r>
                      <m:r>
                        <a:rPr lang="en-ID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D" sz="1400" b="0" i="1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ID" sz="1400" b="0" i="1" smtClean="0">
                          <a:latin typeface="Cambria Math" panose="02040503050406030204" pitchFamily="18" charset="0"/>
                        </a:rPr>
                        <m:t>]≥ </m:t>
                      </m:r>
                      <m:f>
                        <m:fPr>
                          <m:ctrlPr>
                            <a:rPr lang="en-ID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D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D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D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(1 −</m:t>
                      </m:r>
                      <m:sSup>
                        <m:sSupPr>
                          <m:ctrlPr>
                            <a:rPr lang="en-ID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D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a:rPr lang="en-ID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D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)≈  0.5 </m:t>
                      </m:r>
                    </m:oMath>
                  </m:oMathPara>
                </a14:m>
                <a:endParaRPr lang="en-ID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4DDA24-D899-6E55-1378-4D52381C2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005" y="2649360"/>
                <a:ext cx="3261727" cy="495649"/>
              </a:xfrm>
              <a:prstGeom prst="rect">
                <a:avLst/>
              </a:prstGeom>
              <a:blipFill>
                <a:blip r:embed="rId5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14BC404-5FB0-163C-7C37-BA520A52BF64}"/>
              </a:ext>
            </a:extLst>
          </p:cNvPr>
          <p:cNvSpPr txBox="1"/>
          <p:nvPr/>
        </p:nvSpPr>
        <p:spPr>
          <a:xfrm>
            <a:off x="838200" y="226625"/>
            <a:ext cx="1006602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D" sz="1200" dirty="0"/>
              <a:t>[41] C. Szegedy, W. Zaremba, I. </a:t>
            </a:r>
            <a:r>
              <a:rPr lang="en-ID" sz="1200" dirty="0" err="1"/>
              <a:t>Sutskever</a:t>
            </a:r>
            <a:r>
              <a:rPr lang="en-ID" sz="1200" dirty="0"/>
              <a:t>, J. Bruna, D. Erhan, I. Goodfellow, and R. Fergus. Intriguing properties of neural networks. ICLR, 2014.</a:t>
            </a:r>
          </a:p>
        </p:txBody>
      </p:sp>
    </p:spTree>
    <p:extLst>
      <p:ext uri="{BB962C8B-B14F-4D97-AF65-F5344CB8AC3E}">
        <p14:creationId xmlns:p14="http://schemas.microsoft.com/office/powerpoint/2010/main" val="385688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2EB4-39FD-B6D1-C2D2-49691C32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73FBA-55E1-90E9-E50B-0C66F4E39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: </a:t>
            </a:r>
          </a:p>
          <a:p>
            <a:pPr marL="514350" indent="-514350">
              <a:buAutoNum type="arabicPeriod"/>
            </a:pPr>
            <a:r>
              <a:rPr lang="en-US" dirty="0"/>
              <a:t>CIFAR-10  </a:t>
            </a:r>
            <a:r>
              <a:rPr lang="en-ID" dirty="0"/>
              <a:t>50K labelled images </a:t>
            </a:r>
            <a:r>
              <a:rPr lang="en-US" dirty="0"/>
              <a:t>+ Unlabeled 500k from 80M Tiny Images [46]</a:t>
            </a:r>
          </a:p>
          <a:p>
            <a:pPr marL="514350" indent="-514350">
              <a:buAutoNum type="arabicPeriod"/>
            </a:pPr>
            <a:r>
              <a:rPr lang="en-US" dirty="0"/>
              <a:t>SVHN </a:t>
            </a:r>
            <a:r>
              <a:rPr lang="en-ID" dirty="0"/>
              <a:t>73k </a:t>
            </a:r>
            <a:r>
              <a:rPr lang="en-ID" dirty="0" err="1"/>
              <a:t>labeled</a:t>
            </a:r>
            <a:r>
              <a:rPr lang="en-ID" dirty="0"/>
              <a:t> training set + 531k extra training images with labels removed</a:t>
            </a:r>
          </a:p>
          <a:p>
            <a:r>
              <a:rPr lang="en-ID" dirty="0"/>
              <a:t>Use RST Algorithm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1E039B-D5C1-47E9-4EDE-35E32AE804D0}"/>
              </a:ext>
            </a:extLst>
          </p:cNvPr>
          <p:cNvSpPr txBox="1"/>
          <p:nvPr/>
        </p:nvSpPr>
        <p:spPr>
          <a:xfrm>
            <a:off x="838199" y="5946130"/>
            <a:ext cx="1096433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D" sz="1200" dirty="0"/>
              <a:t>[46] A. Torralba, R. Fergus, and W. T. Freeman. 80 million tiny images: A large data set for nonparametric object and scene recognition. IEEE transactions on pattern analysis and machine intelligence, , 2008.</a:t>
            </a:r>
          </a:p>
        </p:txBody>
      </p:sp>
    </p:spTree>
    <p:extLst>
      <p:ext uri="{BB962C8B-B14F-4D97-AF65-F5344CB8AC3E}">
        <p14:creationId xmlns:p14="http://schemas.microsoft.com/office/powerpoint/2010/main" val="229458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1917D-70E4-07C2-D3C2-C53CE002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286"/>
            <a:ext cx="10515600" cy="1325563"/>
          </a:xfrm>
        </p:spPr>
        <p:txBody>
          <a:bodyPr/>
          <a:lstStyle/>
          <a:p>
            <a:r>
              <a:rPr lang="en-ID" dirty="0"/>
              <a:t>Robust Self-Training (RST)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D7C067-9A36-CC11-9CD3-61E8F15D82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04806"/>
                <a:ext cx="10515600" cy="2340916"/>
              </a:xfrm>
            </p:spPr>
            <p:txBody>
              <a:bodyPr>
                <a:normAutofit/>
              </a:bodyPr>
              <a:lstStyle/>
              <a:p>
                <a:r>
                  <a:rPr lang="en-ID" sz="1800" dirty="0"/>
                  <a:t>Input : </a:t>
                </a:r>
                <a:r>
                  <a:rPr lang="en-ID" sz="1800" i="1" dirty="0"/>
                  <a:t>n </a:t>
                </a:r>
                <a:r>
                  <a:rPr lang="en-ID" sz="1800" dirty="0"/>
                  <a:t> labelled data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D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ID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D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ID" sz="1800" dirty="0"/>
                  <a:t> and 𝑁 unlabeled data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d-ID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d-ID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d-ID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id-ID" sz="1800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id-ID" sz="1800" dirty="0"/>
                  <a:t> </a:t>
                </a:r>
              </a:p>
              <a:p>
                <a:r>
                  <a:rPr lang="en-ID" sz="1800" b="1" dirty="0"/>
                  <a:t>Step 1 </a:t>
                </a:r>
                <a:r>
                  <a:rPr lang="en-ID" sz="1800" dirty="0"/>
                  <a:t>: </a:t>
                </a:r>
                <a:r>
                  <a:rPr lang="en-US" sz="1800" dirty="0"/>
                  <a:t>Train a standard classifier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nor/>
                          </m:rPr>
                          <a:rPr lang="en-ID" sz="1800" i="0"/>
                          <m:t>std</m:t>
                        </m:r>
                      </m:sub>
                    </m:sSub>
                  </m:oMath>
                </a14:m>
                <a:r>
                  <a:rPr lang="en-ID" sz="1800" dirty="0"/>
                  <a:t>)</a:t>
                </a:r>
                <a:r>
                  <a:rPr lang="en-US" sz="1800" dirty="0"/>
                  <a:t> on the labeled data and </a:t>
                </a:r>
                <a:r>
                  <a:rPr lang="en-US" sz="1800" dirty="0" err="1"/>
                  <a:t>pseudolabel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D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D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D" sz="1800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ID" sz="18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nor/>
                          </m:rPr>
                          <a:rPr lang="en-ID" sz="1800" i="0"/>
                          <m:t>std</m:t>
                        </m:r>
                      </m:sub>
                    </m:sSub>
                    <m:d>
                      <m:dPr>
                        <m:ctrlPr>
                          <a:rPr lang="en-ID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D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D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D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D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ID" sz="1800" dirty="0"/>
                  <a:t> </a:t>
                </a:r>
                <a:r>
                  <a:rPr lang="en-US" sz="1800" dirty="0"/>
                  <a:t>the unlabeled data </a:t>
                </a:r>
              </a:p>
              <a:p>
                <a:r>
                  <a:rPr lang="en-US" sz="1800" b="1" dirty="0"/>
                  <a:t>Step 2 </a:t>
                </a:r>
                <a:r>
                  <a:rPr lang="en-US" sz="1800" dirty="0"/>
                  <a:t>: </a:t>
                </a:r>
                <a:r>
                  <a:rPr lang="en-ID" sz="1800" dirty="0"/>
                  <a:t>Perform robust training on </a:t>
                </a:r>
                <a:r>
                  <a:rPr lang="en-ID" sz="1800" dirty="0" err="1"/>
                  <a:t>labeled</a:t>
                </a:r>
                <a:r>
                  <a:rPr lang="en-ID" sz="1800" dirty="0"/>
                  <a:t> + </a:t>
                </a:r>
                <a:r>
                  <a:rPr lang="en-ID" sz="1800" dirty="0" err="1"/>
                  <a:t>pseudolabeled</a:t>
                </a:r>
                <a:r>
                  <a:rPr lang="en-ID" sz="1800" dirty="0"/>
                  <a:t> data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1" smtClean="0">
                              <a:latin typeface="Cambria Math" panose="02040503050406030204" pitchFamily="18" charset="0"/>
                            </a:rPr>
                            <m:t>rst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1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func>
                                        <m:funcPr>
                                          <m:ctrlPr>
                                            <a:rPr lang="en-US" sz="1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1" smtClean="0">
                                              <a:latin typeface="Cambria Math" panose="02040503050406030204" pitchFamily="18" charset="0"/>
                                            </a:rPr>
                                            <m:t>RobustLoss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func>
                                    </m:e>
                                  </m:nary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func>
                                        <m:funcPr>
                                          <m:ctrlPr>
                                            <a:rPr lang="en-US" sz="1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1" smtClean="0">
                                              <a:latin typeface="Cambria Math" panose="02040503050406030204" pitchFamily="18" charset="0"/>
                                            </a:rPr>
                                            <m:t>RobustLoss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sup>
                                              </m:sSubSup>
                                            </m:e>
                                          </m:d>
                                        </m:e>
                                      </m:func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1800" dirty="0"/>
              </a:p>
              <a:p>
                <a:endParaRPr lang="en-ID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D7C067-9A36-CC11-9CD3-61E8F15D8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04806"/>
                <a:ext cx="10515600" cy="2340916"/>
              </a:xfrm>
              <a:blipFill>
                <a:blip r:embed="rId3"/>
                <a:stretch>
                  <a:fillRect l="-406" t="-286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C49818-ED41-F932-7E90-83877757B7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50850"/>
            <a:ext cx="2438400" cy="2543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31635A-62EF-86EC-EE8C-BBFA390B1F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419" y="1205274"/>
            <a:ext cx="2525854" cy="26343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D175B3-8AD1-30E1-04D7-7DED0AA4B2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946" y="1374767"/>
            <a:ext cx="2525854" cy="23409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0A0F10-DBA9-CEA2-B012-E0629D9603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322" y="1150643"/>
            <a:ext cx="2663624" cy="278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83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EA53-3C05-2C02-0C31-395C8F178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Results: CIFAR-10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234CB3-B0E3-B1A0-5FC6-59DE3FD75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3936"/>
            <a:ext cx="5446349" cy="16108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B3CA6D-8CD3-5F61-EC94-2B12321D1A58}"/>
              </a:ext>
            </a:extLst>
          </p:cNvPr>
          <p:cNvSpPr txBox="1"/>
          <p:nvPr/>
        </p:nvSpPr>
        <p:spPr>
          <a:xfrm>
            <a:off x="838200" y="1494604"/>
            <a:ext cx="2344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/>
              <a:t>Certified Robustness: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F57D24-8971-CB43-B28C-A15FBC3FF886}"/>
                  </a:ext>
                </a:extLst>
              </p:cNvPr>
              <p:cNvSpPr txBox="1"/>
              <p:nvPr/>
            </p:nvSpPr>
            <p:spPr>
              <a:xfrm>
                <a:off x="899620" y="3688273"/>
                <a:ext cx="26617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D" dirty="0"/>
                  <a:t>Heuristic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D" b="0" i="1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ID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ID" dirty="0"/>
                  <a:t> Robustness: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F57D24-8971-CB43-B28C-A15FBC3FF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20" y="3688273"/>
                <a:ext cx="2661754" cy="369332"/>
              </a:xfrm>
              <a:prstGeom prst="rect">
                <a:avLst/>
              </a:prstGeom>
              <a:blipFill>
                <a:blip r:embed="rId3"/>
                <a:stretch>
                  <a:fillRect l="-2064" t="-6557" r="-1376" b="-2623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D4C7830-D8AE-9809-C667-6B93F3EDE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57605"/>
            <a:ext cx="4495978" cy="11430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BBC6CF-4455-CE46-9E81-CDD6074928DA}"/>
              </a:ext>
            </a:extLst>
          </p:cNvPr>
          <p:cNvSpPr txBox="1"/>
          <p:nvPr/>
        </p:nvSpPr>
        <p:spPr>
          <a:xfrm>
            <a:off x="716771" y="5783427"/>
            <a:ext cx="5641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400" b="1" dirty="0" err="1"/>
              <a:t>Unlabeled</a:t>
            </a:r>
            <a:r>
              <a:rPr lang="en-ID" sz="1400" b="1" dirty="0"/>
              <a:t> data improves both robustness and standard accuracy </a:t>
            </a:r>
          </a:p>
        </p:txBody>
      </p:sp>
    </p:spTree>
    <p:extLst>
      <p:ext uri="{BB962C8B-B14F-4D97-AF65-F5344CB8AC3E}">
        <p14:creationId xmlns:p14="http://schemas.microsoft.com/office/powerpoint/2010/main" val="2724186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6546-5927-32C3-5317-2F954F69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Results : SVHN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1DB83DA-1D51-1347-FB50-6B2CFCD86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288"/>
            <a:ext cx="10515600" cy="4638675"/>
          </a:xfrm>
        </p:spPr>
        <p:txBody>
          <a:bodyPr/>
          <a:lstStyle/>
          <a:p>
            <a:r>
              <a:rPr lang="en-ID" dirty="0"/>
              <a:t>Key findings: 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sz="1400" b="1" dirty="0"/>
              <a:t>Additional </a:t>
            </a:r>
            <a:r>
              <a:rPr lang="en-ID" sz="1400" b="1" dirty="0" err="1"/>
              <a:t>unlabeled</a:t>
            </a:r>
            <a:r>
              <a:rPr lang="en-ID" sz="1400" b="1" dirty="0"/>
              <a:t> data substantially improves adversarial robustness, and most of the benefit does not require true labels.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8CE227-D584-34BC-8C32-B61F9CCFF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2277269"/>
            <a:ext cx="5494817" cy="11731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783483-5C1C-7BA9-6607-D3CFFF77B044}"/>
              </a:ext>
            </a:extLst>
          </p:cNvPr>
          <p:cNvSpPr txBox="1"/>
          <p:nvPr/>
        </p:nvSpPr>
        <p:spPr>
          <a:xfrm>
            <a:off x="1343025" y="3395960"/>
            <a:ext cx="4308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200" dirty="0">
                <a:solidFill>
                  <a:srgbClr val="00B0F0"/>
                </a:solidFill>
              </a:rPr>
              <a:t>Most of the robust gain comes from additional </a:t>
            </a:r>
            <a:r>
              <a:rPr lang="en-ID" sz="1200" dirty="0" err="1">
                <a:solidFill>
                  <a:srgbClr val="00B0F0"/>
                </a:solidFill>
              </a:rPr>
              <a:t>unlabeled</a:t>
            </a:r>
            <a:r>
              <a:rPr lang="en-ID" sz="1200" dirty="0">
                <a:solidFill>
                  <a:srgbClr val="00B0F0"/>
                </a:solidFill>
              </a:rPr>
              <a:t> data;</a:t>
            </a:r>
          </a:p>
          <a:p>
            <a:r>
              <a:rPr lang="en-ID" sz="1200" dirty="0">
                <a:solidFill>
                  <a:srgbClr val="00B0F0"/>
                </a:solidFill>
              </a:rPr>
              <a:t> using true labels adds very little extra benefit.</a:t>
            </a:r>
          </a:p>
        </p:txBody>
      </p:sp>
    </p:spTree>
    <p:extLst>
      <p:ext uri="{BB962C8B-B14F-4D97-AF65-F5344CB8AC3E}">
        <p14:creationId xmlns:p14="http://schemas.microsoft.com/office/powerpoint/2010/main" val="2575420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36AEA-4C40-791B-1CDD-A20808F98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A679-6E5E-3300-340D-7B1B4A19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State-of-art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4326CF-8B01-DDB5-335B-80FCE70C27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920918"/>
              </p:ext>
            </p:extLst>
          </p:nvPr>
        </p:nvGraphicFramePr>
        <p:xfrm>
          <a:off x="1114546" y="1825625"/>
          <a:ext cx="7283824" cy="3601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26">
                  <a:extLst>
                    <a:ext uri="{9D8B030D-6E8A-4147-A177-3AD203B41FA5}">
                      <a16:colId xmlns:a16="http://schemas.microsoft.com/office/drawing/2014/main" val="2265176105"/>
                    </a:ext>
                  </a:extLst>
                </a:gridCol>
                <a:gridCol w="1559859">
                  <a:extLst>
                    <a:ext uri="{9D8B030D-6E8A-4147-A177-3AD203B41FA5}">
                      <a16:colId xmlns:a16="http://schemas.microsoft.com/office/drawing/2014/main" val="1962103686"/>
                    </a:ext>
                  </a:extLst>
                </a:gridCol>
                <a:gridCol w="1742739">
                  <a:extLst>
                    <a:ext uri="{9D8B030D-6E8A-4147-A177-3AD203B41FA5}">
                      <a16:colId xmlns:a16="http://schemas.microsoft.com/office/drawing/2014/main" val="2096781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D" b="1" dirty="0"/>
                        <a:t>Model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/>
                        <a:t>Robust Error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/>
                        <a:t>Standard Error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866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Standard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294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Adversarial training [Madry et al. 2018]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0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TRADES [Zhang et al. 2019]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98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Adv training ++ [Rice et al. 2020]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113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Fast adv training [Zhang et al. 2019]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798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MART[Wang et al. 2019]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1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103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>
                          <a:solidFill>
                            <a:schemeClr val="tx1"/>
                          </a:solidFill>
                        </a:rPr>
                        <a:t>Robust Self-Training with Adv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430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Robust Self-training + architecture improvements [</a:t>
                      </a:r>
                      <a:r>
                        <a:rPr lang="en-ID" dirty="0" err="1"/>
                        <a:t>Gowal</a:t>
                      </a:r>
                      <a:r>
                        <a:rPr lang="en-ID" dirty="0"/>
                        <a:t> et al. 2020]</a:t>
                      </a:r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>
                          <a:solidFill>
                            <a:schemeClr val="tx1"/>
                          </a:solidFill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759914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901AF4-23BE-1054-ACB8-1E3515D6E8E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952111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9606</TotalTime>
  <Words>2031</Words>
  <Application>Microsoft Office PowerPoint</Application>
  <PresentationFormat>Widescreen</PresentationFormat>
  <Paragraphs>248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Cambria Math</vt:lpstr>
      <vt:lpstr>Office Theme</vt:lpstr>
      <vt:lpstr>1. Adversarial Training Can Hurt Generalization 2. Unlabeled Data Improves Adversarial Robustness</vt:lpstr>
      <vt:lpstr>State-of-art</vt:lpstr>
      <vt:lpstr>1. Adversarial Training Can Hurt Generalization</vt:lpstr>
      <vt:lpstr>Previous Works </vt:lpstr>
      <vt:lpstr>Motivation</vt:lpstr>
      <vt:lpstr>Previous Hypotheses of the Trade-off</vt:lpstr>
      <vt:lpstr>Experimental Setup</vt:lpstr>
      <vt:lpstr>Robust Self-Training (RST) Algorithm</vt:lpstr>
      <vt:lpstr>Results : CIFAR-10</vt:lpstr>
      <vt:lpstr>Results: MNIST </vt:lpstr>
      <vt:lpstr>Conclusion </vt:lpstr>
      <vt:lpstr>Understand and Mitigate the Trade-Off</vt:lpstr>
      <vt:lpstr>Experimental Setup</vt:lpstr>
      <vt:lpstr>2. Unlabeled Data Improves Adversarial Robustness</vt:lpstr>
      <vt:lpstr>Motivation</vt:lpstr>
      <vt:lpstr>Theoretical Findings</vt:lpstr>
      <vt:lpstr>Experimental Setup</vt:lpstr>
      <vt:lpstr>Robust Self-Training (RST) Algorithm</vt:lpstr>
      <vt:lpstr>Results: CIFAR-10</vt:lpstr>
      <vt:lpstr>Results : SVHN</vt:lpstr>
      <vt:lpstr>State-of-art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365 E3</dc:creator>
  <cp:lastModifiedBy>Microsoft 365 E3</cp:lastModifiedBy>
  <cp:revision>76</cp:revision>
  <dcterms:created xsi:type="dcterms:W3CDTF">2026-08-11T05:57:34Z</dcterms:created>
  <dcterms:modified xsi:type="dcterms:W3CDTF">2026-08-28T02:54:46Z</dcterms:modified>
</cp:coreProperties>
</file>
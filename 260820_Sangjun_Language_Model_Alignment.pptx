
<file path=[Content_Types].xml><?xml version="1.0" encoding="utf-8"?>
<Types xmlns="http://schemas.openxmlformats.org/package/2006/content-types">
  <Default Extension="jpg" ContentType="image/jp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859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85" r:id="rId15"/>
    <p:sldId id="288" r:id="rId16"/>
    <p:sldId id="269" r:id="rId17"/>
    <p:sldId id="271" r:id="rId18"/>
    <p:sldId id="272" r:id="rId19"/>
    <p:sldId id="273" r:id="rId20"/>
    <p:sldId id="274" r:id="rId21"/>
    <p:sldId id="275" r:id="rId22"/>
    <p:sldId id="276" r:id="rId23"/>
    <p:sldId id="290" r:id="rId24"/>
    <p:sldId id="291" r:id="rId25"/>
    <p:sldId id="292" r:id="rId26"/>
    <p:sldId id="277" r:id="rId27"/>
    <p:sldId id="278" r:id="rId28"/>
    <p:sldId id="279" r:id="rId29"/>
    <p:sldId id="280" r:id="rId30"/>
    <p:sldId id="281" r:id="rId31"/>
    <p:sldId id="282" r:id="rId32"/>
    <p:sldId id="283" r:id="rId33"/>
    <p:sldId id="284" r:id="rId34"/>
  </p:sldIdLst>
  <p:sldSz cx="12192000" cy="6858000"/>
  <p:notesSz cx="12192000" cy="6858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8CF51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86" d="100"/>
          <a:sy n="86" d="100"/>
        </p:scale>
        <p:origin x="813" y="48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presProps" Target="presProps.xml"/><Relationship Id="rId8" Type="http://schemas.openxmlformats.org/officeDocument/2006/relationships/slide" Target="slides/slide7.xml"/><Relationship Id="rId3" Type="http://schemas.openxmlformats.org/officeDocument/2006/relationships/slide" Target="slides/slide2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41989CBC-425D-D280-8844-1DD42C8EF60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59ADCF93-C7FD-4E89-0CCF-D95BABE701B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/>
              <a:t>클릭하여 마스터 부제목 스타일 편집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B0F19B09-DC22-BFE1-4128-FB84926F4E0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t>8/20/2026</a:t>
            </a:fld>
            <a:endParaRPr 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0C0312C7-90E2-ABBF-F9FC-A3EACFE7078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D16D6E17-04D8-C88D-5B55-5B0C3BE6AE2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altLang="ko-KR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7132719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BAB91718-9E66-338B-4410-8B03BC2D7D8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A2F64DD8-C2F7-BBC8-2152-869715275E7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258115A1-3427-DD3E-F583-F04983EAB18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t>8/20/2026</a:t>
            </a:fld>
            <a:endParaRPr 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B07D7A91-60B9-0152-B2C2-C85FC061698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D8620CB1-F4BF-01EC-572A-CCFAFFACEDE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altLang="ko-KR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19490849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E4A3C6B0-1220-2EC3-A517-5B3254164E7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E2C08F02-BC8A-B40B-870E-BDBEE211E30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DF53BB39-0AB0-67D3-0A4C-6DA0B0BEAD2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t>8/20/2026</a:t>
            </a:fld>
            <a:endParaRPr 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C2900581-6EBF-2DCB-017C-F3D7BA08C26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A5B64B84-007E-840E-5AFD-B2E134C04C6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altLang="ko-KR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38593041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9A1769A3-32E7-D89B-E256-2719330F05E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728A4221-7A0D-5A18-359E-776E2AB75F98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81769D84-E197-E082-126A-DF826AEBD33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521C55F5-B2DB-054D-FF33-5840498E174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t>8/20/2026</a:t>
            </a:fld>
            <a:endParaRPr 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51080923-1906-1F7B-580A-8E104E33B74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A01B2461-1139-AFE1-FE15-1C96A61F611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altLang="ko-KR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78464327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A6197FA6-3E00-4547-42FA-644736B2034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4B75966F-CE7C-2005-3CB0-BA1B72AB35C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3CDA869D-22A2-7775-27D9-B0A4AD795EC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03522639-B5CF-889E-B9E6-D44D5CF193B0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6" name="내용 개체 틀 5">
            <a:extLst>
              <a:ext uri="{FF2B5EF4-FFF2-40B4-BE49-F238E27FC236}">
                <a16:creationId xmlns:a16="http://schemas.microsoft.com/office/drawing/2014/main" id="{8B9BB9F2-C1D6-FD56-07DA-79BD765677D3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7" name="날짜 개체 틀 6">
            <a:extLst>
              <a:ext uri="{FF2B5EF4-FFF2-40B4-BE49-F238E27FC236}">
                <a16:creationId xmlns:a16="http://schemas.microsoft.com/office/drawing/2014/main" id="{04014007-EB2B-9885-0F9C-9DB370E9FF4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t>8/20/2026</a:t>
            </a:fld>
            <a:endParaRPr lang="en-US"/>
          </a:p>
        </p:txBody>
      </p:sp>
      <p:sp>
        <p:nvSpPr>
          <p:cNvPr id="8" name="바닥글 개체 틀 7">
            <a:extLst>
              <a:ext uri="{FF2B5EF4-FFF2-40B4-BE49-F238E27FC236}">
                <a16:creationId xmlns:a16="http://schemas.microsoft.com/office/drawing/2014/main" id="{12FBE679-D210-F441-EB0A-EDE5EA3A0A5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>
            <a:extLst>
              <a:ext uri="{FF2B5EF4-FFF2-40B4-BE49-F238E27FC236}">
                <a16:creationId xmlns:a16="http://schemas.microsoft.com/office/drawing/2014/main" id="{5919D5CA-59D4-E656-8913-4B92037ECC3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altLang="ko-KR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31461669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E1409580-719D-7CF5-225E-85FDAB7DA6B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날짜 개체 틀 2">
            <a:extLst>
              <a:ext uri="{FF2B5EF4-FFF2-40B4-BE49-F238E27FC236}">
                <a16:creationId xmlns:a16="http://schemas.microsoft.com/office/drawing/2014/main" id="{9250E82E-88F7-3FED-3395-F3E7A63C650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t>8/20/2026</a:t>
            </a:fld>
            <a:endParaRPr lang="en-US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FD095D4E-C001-39EA-CC10-ED83641BF68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B06DB54F-3043-D0F6-A57B-708CFD6823D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altLang="ko-KR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15237819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>
            <a:extLst>
              <a:ext uri="{FF2B5EF4-FFF2-40B4-BE49-F238E27FC236}">
                <a16:creationId xmlns:a16="http://schemas.microsoft.com/office/drawing/2014/main" id="{FE7770CF-9288-ED3A-15DD-91BD257C114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t>8/20/2026</a:t>
            </a:fld>
            <a:endParaRPr lang="en-US"/>
          </a:p>
        </p:txBody>
      </p:sp>
      <p:sp>
        <p:nvSpPr>
          <p:cNvPr id="3" name="바닥글 개체 틀 2">
            <a:extLst>
              <a:ext uri="{FF2B5EF4-FFF2-40B4-BE49-F238E27FC236}">
                <a16:creationId xmlns:a16="http://schemas.microsoft.com/office/drawing/2014/main" id="{489B5815-DEC7-AD7E-C409-931B0EFF46E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857A2982-528B-9882-BFA9-7AC322A3FDC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altLang="ko-KR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60249803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D28A4BDE-5A30-A11A-A0EC-EFEB0AD0B5E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502C6313-F33A-E223-BECC-8306390D1C5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10DD456C-F464-210A-7B35-848DDCAB72E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47A8494E-8D1A-E907-643D-36C4B99D954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t>8/20/2026</a:t>
            </a:fld>
            <a:endParaRPr 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DCC3F9D4-0EC4-B14E-BF95-2BBC6D9A3D5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C9A1DB84-45E3-38D1-271C-86D00CDEA9C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altLang="ko-KR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09584946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7690D86B-F92E-1C0F-AF45-11510B5AFDA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>
            <a:extLst>
              <a:ext uri="{FF2B5EF4-FFF2-40B4-BE49-F238E27FC236}">
                <a16:creationId xmlns:a16="http://schemas.microsoft.com/office/drawing/2014/main" id="{AC231A0A-FB66-7E20-DB3E-C30966DEE86D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E22462CA-B8F5-CF47-BC2E-08F543431BE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CAEE9312-3CDE-4B51-C91E-02BCAEAEA24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t>8/20/2026</a:t>
            </a:fld>
            <a:endParaRPr 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64B7D50A-3002-7BA2-A8B7-317D81736A4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D73DE64A-8D35-017B-C0AA-B5B7D0A96A3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altLang="ko-KR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68002554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C3BB5B2F-23FD-EFD0-3FE0-EF6DD70B16E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28C5221E-D0AC-712C-8254-A42C4E7D8AD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510A3F9D-4F26-7B5B-4A6E-CBD5CBDF4E5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t>8/20/2026</a:t>
            </a:fld>
            <a:endParaRPr 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A30D7F89-7D79-75DA-561B-A5B180CCB3D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8EDFC5F7-819B-F08F-0C22-79F59789A88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altLang="ko-KR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52341842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>
            <a:extLst>
              <a:ext uri="{FF2B5EF4-FFF2-40B4-BE49-F238E27FC236}">
                <a16:creationId xmlns:a16="http://schemas.microsoft.com/office/drawing/2014/main" id="{DF060FE9-DF0E-9F3C-888D-CB482CA4D280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C9003B36-1A14-1649-436B-9660DE720B8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39D428AF-EDCD-6D73-97CE-33EF00F2AF8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t>8/20/2026</a:t>
            </a:fld>
            <a:endParaRPr 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343334DD-16EA-D427-C520-7CF0F58F72E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A10233DF-C610-F39A-BFF6-AF5C3490EE5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altLang="ko-KR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367533558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4400" b="0" i="0">
                <a:solidFill>
                  <a:schemeClr val="tx1"/>
                </a:solidFill>
                <a:latin typeface="Palatino Linotype"/>
                <a:cs typeface="Palatino Linotype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8/20/2026</a:t>
            </a:fld>
            <a:endParaRPr lang="en-US"/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3901839268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8/20/2026</a:t>
            </a:fld>
            <a:endParaRPr lang="en-US"/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75358932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>
            <a:extLst>
              <a:ext uri="{FF2B5EF4-FFF2-40B4-BE49-F238E27FC236}">
                <a16:creationId xmlns:a16="http://schemas.microsoft.com/office/drawing/2014/main" id="{BE0C253B-81F1-0B57-7A8E-3AA494CC13D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E176403F-3EFD-BC7A-4205-B9987C80ECD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889BFA91-C4FF-4EC1-639D-4473F7B88C71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t>8/20/2026</a:t>
            </a:fld>
            <a:endParaRPr 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979DAA0A-5B2D-6914-59B4-258080BD974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28919DAD-CB28-F6E4-1252-40D58D86CA3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B6F15528-21DE-4FAA-801E-634DDDAF4B2B}" type="slidenum">
              <a:rPr lang="en-US" altLang="ko-KR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30213568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860" r:id="rId1"/>
    <p:sldLayoutId id="2147483861" r:id="rId2"/>
    <p:sldLayoutId id="2147483862" r:id="rId3"/>
    <p:sldLayoutId id="2147483863" r:id="rId4"/>
    <p:sldLayoutId id="2147483864" r:id="rId5"/>
    <p:sldLayoutId id="2147483865" r:id="rId6"/>
    <p:sldLayoutId id="2147483866" r:id="rId7"/>
    <p:sldLayoutId id="2147483867" r:id="rId8"/>
    <p:sldLayoutId id="2147483868" r:id="rId9"/>
    <p:sldLayoutId id="2147483869" r:id="rId10"/>
    <p:sldLayoutId id="2147483870" r:id="rId11"/>
    <p:sldLayoutId id="2147483871" r:id="rId12"/>
    <p:sldLayoutId id="2147483872" r:id="rId13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/>
    </p:ext>
  </p:extLst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1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Layout" Target="../slideLayouts/slideLayout1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g"/><Relationship Id="rId1" Type="http://schemas.openxmlformats.org/officeDocument/2006/relationships/slideLayout" Target="../slideLayouts/slideLayout1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g"/><Relationship Id="rId1" Type="http://schemas.openxmlformats.org/officeDocument/2006/relationships/slideLayout" Target="../slideLayouts/slideLayout1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1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1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jpg"/><Relationship Id="rId2" Type="http://schemas.openxmlformats.org/officeDocument/2006/relationships/image" Target="../media/image9.jpg"/><Relationship Id="rId1" Type="http://schemas.openxmlformats.org/officeDocument/2006/relationships/slideLayout" Target="../slideLayouts/slideLayout1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13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jpg"/><Relationship Id="rId1" Type="http://schemas.openxmlformats.org/officeDocument/2006/relationships/slideLayout" Target="../slideLayouts/slideLayout12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jpg"/><Relationship Id="rId2" Type="http://schemas.openxmlformats.org/officeDocument/2006/relationships/image" Target="../media/image13.jpg"/><Relationship Id="rId1" Type="http://schemas.openxmlformats.org/officeDocument/2006/relationships/slideLayout" Target="../slideLayouts/slideLayout12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jpg"/><Relationship Id="rId2" Type="http://schemas.openxmlformats.org/officeDocument/2006/relationships/image" Target="../media/image15.jpg"/><Relationship Id="rId1" Type="http://schemas.openxmlformats.org/officeDocument/2006/relationships/slideLayout" Target="../slideLayouts/slideLayout1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jp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jpg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jpg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jpg"/><Relationship Id="rId1" Type="http://schemas.openxmlformats.org/officeDocument/2006/relationships/slideLayout" Target="../slideLayouts/slideLayout12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jpg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jpg"/><Relationship Id="rId1" Type="http://schemas.openxmlformats.org/officeDocument/2006/relationships/slideLayout" Target="../slideLayouts/slideLayout12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jpg"/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jp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xfrm>
            <a:off x="1028700" y="1847077"/>
            <a:ext cx="10134600" cy="1940916"/>
          </a:xfrm>
          <a:prstGeom prst="rect">
            <a:avLst/>
          </a:prstGeom>
        </p:spPr>
        <p:txBody>
          <a:bodyPr vert="horz" wrap="square" lIns="0" tIns="459105" rIns="0" bIns="0" rtlCol="0">
            <a:spAutoFit/>
          </a:bodyPr>
          <a:lstStyle/>
          <a:p>
            <a:pPr algn="ctr">
              <a:lnSpc>
                <a:spcPct val="100000"/>
              </a:lnSpc>
              <a:spcBef>
                <a:spcPts val="3615"/>
              </a:spcBef>
            </a:pPr>
            <a:r>
              <a:rPr lang="en-US" sz="4800" spc="-10" dirty="0"/>
              <a:t>Language model alignment and </a:t>
            </a:r>
            <a:br>
              <a:rPr lang="en-US" sz="4800" spc="-10" dirty="0"/>
            </a:br>
            <a:r>
              <a:rPr lang="en-US" sz="4800" spc="-10" dirty="0"/>
              <a:t>adversarial training</a:t>
            </a:r>
            <a:endParaRPr sz="4800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90612D2D-5F99-4D09-B076-829B9F4C1D18}"/>
              </a:ext>
            </a:extLst>
          </p:cNvPr>
          <p:cNvSpPr txBox="1"/>
          <p:nvPr/>
        </p:nvSpPr>
        <p:spPr>
          <a:xfrm>
            <a:off x="4648200" y="5710382"/>
            <a:ext cx="2895600" cy="36933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US" altLang="ko-KR" dirty="0"/>
              <a:t>Presenter: </a:t>
            </a:r>
            <a:r>
              <a:rPr lang="en-US" altLang="ko-KR" dirty="0" err="1"/>
              <a:t>Sangjun</a:t>
            </a:r>
            <a:r>
              <a:rPr lang="en-US" altLang="ko-KR" dirty="0"/>
              <a:t> Chae</a:t>
            </a:r>
            <a:endParaRPr lang="ko-KR" altLang="en-US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BE144D27-F133-2E6B-99F4-DEA20702666B}"/>
              </a:ext>
            </a:extLst>
          </p:cNvPr>
          <p:cNvSpPr txBox="1"/>
          <p:nvPr/>
        </p:nvSpPr>
        <p:spPr>
          <a:xfrm>
            <a:off x="4648200" y="4518355"/>
            <a:ext cx="289560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ko-KR" sz="2400" dirty="0">
                <a:latin typeface="Palatino Linotype" panose="02040502050505030304" pitchFamily="18" charset="0"/>
              </a:rPr>
              <a:t>Aditi</a:t>
            </a:r>
            <a:r>
              <a:rPr lang="en-US" altLang="ko-KR" sz="2400" spc="-10" dirty="0">
                <a:latin typeface="Palatino Linotype" panose="02040502050505030304" pitchFamily="18" charset="0"/>
              </a:rPr>
              <a:t> Raghunathan</a:t>
            </a:r>
            <a:endParaRPr lang="ko-KR" altLang="en-US" dirty="0">
              <a:latin typeface="Palatino Linotype" panose="02040502050505030304" pitchFamily="18" charset="0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xfrm>
            <a:off x="838200" y="681016"/>
            <a:ext cx="10515600" cy="693780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dirty="0">
                <a:solidFill>
                  <a:srgbClr val="001F5F"/>
                </a:solidFill>
                <a:latin typeface="Palatino Linotype" panose="02040502050505030304" pitchFamily="18" charset="0"/>
              </a:rPr>
              <a:t>Brief</a:t>
            </a:r>
            <a:r>
              <a:rPr spc="-95" dirty="0">
                <a:solidFill>
                  <a:srgbClr val="001F5F"/>
                </a:solidFill>
                <a:latin typeface="Palatino Linotype" panose="02040502050505030304" pitchFamily="18" charset="0"/>
              </a:rPr>
              <a:t> </a:t>
            </a:r>
            <a:r>
              <a:rPr dirty="0">
                <a:solidFill>
                  <a:srgbClr val="001F5F"/>
                </a:solidFill>
                <a:latin typeface="Palatino Linotype" panose="02040502050505030304" pitchFamily="18" charset="0"/>
              </a:rPr>
              <a:t>intro</a:t>
            </a:r>
            <a:r>
              <a:rPr spc="-55" dirty="0">
                <a:solidFill>
                  <a:srgbClr val="001F5F"/>
                </a:solidFill>
                <a:latin typeface="Palatino Linotype" panose="02040502050505030304" pitchFamily="18" charset="0"/>
              </a:rPr>
              <a:t> </a:t>
            </a:r>
            <a:r>
              <a:rPr dirty="0">
                <a:solidFill>
                  <a:srgbClr val="001F5F"/>
                </a:solidFill>
                <a:latin typeface="Palatino Linotype" panose="02040502050505030304" pitchFamily="18" charset="0"/>
              </a:rPr>
              <a:t>to</a:t>
            </a:r>
            <a:r>
              <a:rPr spc="-120" dirty="0">
                <a:solidFill>
                  <a:srgbClr val="001F5F"/>
                </a:solidFill>
                <a:latin typeface="Palatino Linotype" panose="02040502050505030304" pitchFamily="18" charset="0"/>
              </a:rPr>
              <a:t> </a:t>
            </a:r>
            <a:r>
              <a:rPr dirty="0">
                <a:solidFill>
                  <a:srgbClr val="001F5F"/>
                </a:solidFill>
                <a:latin typeface="Palatino Linotype" panose="02040502050505030304" pitchFamily="18" charset="0"/>
              </a:rPr>
              <a:t>language</a:t>
            </a:r>
            <a:r>
              <a:rPr spc="-45" dirty="0">
                <a:solidFill>
                  <a:srgbClr val="001F5F"/>
                </a:solidFill>
                <a:latin typeface="Palatino Linotype" panose="02040502050505030304" pitchFamily="18" charset="0"/>
              </a:rPr>
              <a:t> </a:t>
            </a:r>
            <a:r>
              <a:rPr spc="-10" dirty="0">
                <a:solidFill>
                  <a:srgbClr val="001F5F"/>
                </a:solidFill>
                <a:latin typeface="Palatino Linotype" panose="02040502050505030304" pitchFamily="18" charset="0"/>
              </a:rPr>
              <a:t>modeling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917575" y="1794255"/>
            <a:ext cx="9378950" cy="3358515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241300" indent="-228600">
              <a:lnSpc>
                <a:spcPct val="100000"/>
              </a:lnSpc>
              <a:spcBef>
                <a:spcPts val="130"/>
              </a:spcBef>
              <a:buFont typeface="Arial"/>
              <a:buChar char="•"/>
              <a:tabLst>
                <a:tab pos="241300" algn="l"/>
              </a:tabLst>
            </a:pPr>
            <a:r>
              <a:rPr sz="2750" dirty="0">
                <a:latin typeface="Palatino Linotype"/>
                <a:cs typeface="Palatino Linotype"/>
              </a:rPr>
              <a:t>How</a:t>
            </a:r>
            <a:r>
              <a:rPr sz="2750" spc="110" dirty="0">
                <a:latin typeface="Palatino Linotype"/>
                <a:cs typeface="Palatino Linotype"/>
              </a:rPr>
              <a:t> </a:t>
            </a:r>
            <a:r>
              <a:rPr sz="2750" dirty="0">
                <a:latin typeface="Palatino Linotype"/>
                <a:cs typeface="Palatino Linotype"/>
              </a:rPr>
              <a:t>to</a:t>
            </a:r>
            <a:r>
              <a:rPr sz="2750" spc="90" dirty="0">
                <a:latin typeface="Palatino Linotype"/>
                <a:cs typeface="Palatino Linotype"/>
              </a:rPr>
              <a:t> </a:t>
            </a:r>
            <a:r>
              <a:rPr sz="2750" dirty="0">
                <a:latin typeface="Palatino Linotype"/>
                <a:cs typeface="Palatino Linotype"/>
              </a:rPr>
              <a:t>train</a:t>
            </a:r>
            <a:r>
              <a:rPr sz="2750" spc="65" dirty="0">
                <a:latin typeface="Palatino Linotype"/>
                <a:cs typeface="Palatino Linotype"/>
              </a:rPr>
              <a:t> </a:t>
            </a:r>
            <a:r>
              <a:rPr sz="2750" dirty="0">
                <a:latin typeface="Palatino Linotype"/>
                <a:cs typeface="Palatino Linotype"/>
              </a:rPr>
              <a:t>a</a:t>
            </a:r>
            <a:r>
              <a:rPr sz="2750" spc="75" dirty="0">
                <a:latin typeface="Palatino Linotype"/>
                <a:cs typeface="Palatino Linotype"/>
              </a:rPr>
              <a:t> </a:t>
            </a:r>
            <a:r>
              <a:rPr sz="2750" dirty="0">
                <a:latin typeface="Palatino Linotype"/>
                <a:cs typeface="Palatino Linotype"/>
              </a:rPr>
              <a:t>model</a:t>
            </a:r>
            <a:r>
              <a:rPr sz="2750" spc="50" dirty="0">
                <a:latin typeface="Palatino Linotype"/>
                <a:cs typeface="Palatino Linotype"/>
              </a:rPr>
              <a:t> </a:t>
            </a:r>
            <a:r>
              <a:rPr sz="2750" dirty="0">
                <a:latin typeface="Palatino Linotype"/>
                <a:cs typeface="Palatino Linotype"/>
              </a:rPr>
              <a:t>“given</a:t>
            </a:r>
            <a:r>
              <a:rPr sz="2750" spc="65" dirty="0">
                <a:latin typeface="Palatino Linotype"/>
                <a:cs typeface="Palatino Linotype"/>
              </a:rPr>
              <a:t> </a:t>
            </a:r>
            <a:r>
              <a:rPr sz="2750" spc="-10" dirty="0">
                <a:latin typeface="Palatino Linotype"/>
                <a:cs typeface="Palatino Linotype"/>
              </a:rPr>
              <a:t>data”</a:t>
            </a:r>
            <a:endParaRPr sz="2750" dirty="0">
              <a:latin typeface="Palatino Linotype"/>
              <a:cs typeface="Palatino Linotype"/>
            </a:endParaRPr>
          </a:p>
          <a:p>
            <a:pPr marL="240029" indent="-227329">
              <a:lnSpc>
                <a:spcPct val="100000"/>
              </a:lnSpc>
              <a:spcBef>
                <a:spcPts val="3434"/>
              </a:spcBef>
              <a:buFont typeface="Arial"/>
              <a:buChar char="•"/>
              <a:tabLst>
                <a:tab pos="240029" algn="l"/>
              </a:tabLst>
            </a:pPr>
            <a:r>
              <a:rPr sz="2400" dirty="0">
                <a:solidFill>
                  <a:srgbClr val="001F5F"/>
                </a:solidFill>
                <a:latin typeface="Palatino Linotype"/>
                <a:cs typeface="Palatino Linotype"/>
              </a:rPr>
              <a:t>Loss</a:t>
            </a:r>
            <a:r>
              <a:rPr sz="2400" spc="-105" dirty="0">
                <a:solidFill>
                  <a:srgbClr val="001F5F"/>
                </a:solidFill>
                <a:latin typeface="Palatino Linotype"/>
                <a:cs typeface="Palatino Linotype"/>
              </a:rPr>
              <a:t> </a:t>
            </a:r>
            <a:r>
              <a:rPr sz="2400" dirty="0">
                <a:solidFill>
                  <a:srgbClr val="001F5F"/>
                </a:solidFill>
                <a:latin typeface="Palatino Linotype"/>
                <a:cs typeface="Palatino Linotype"/>
              </a:rPr>
              <a:t>function</a:t>
            </a:r>
            <a:r>
              <a:rPr sz="2400" spc="-30" dirty="0">
                <a:solidFill>
                  <a:srgbClr val="001F5F"/>
                </a:solidFill>
                <a:latin typeface="Palatino Linotype"/>
                <a:cs typeface="Palatino Linotype"/>
              </a:rPr>
              <a:t> </a:t>
            </a:r>
            <a:r>
              <a:rPr sz="2400" spc="-10" dirty="0">
                <a:latin typeface="Palatino Linotype"/>
                <a:cs typeface="Palatino Linotype"/>
              </a:rPr>
              <a:t>(Next-</a:t>
            </a:r>
            <a:r>
              <a:rPr sz="2400" dirty="0">
                <a:latin typeface="Palatino Linotype"/>
                <a:cs typeface="Palatino Linotype"/>
              </a:rPr>
              <a:t>token</a:t>
            </a:r>
            <a:r>
              <a:rPr sz="2400" spc="-35" dirty="0">
                <a:latin typeface="Palatino Linotype"/>
                <a:cs typeface="Palatino Linotype"/>
              </a:rPr>
              <a:t> </a:t>
            </a:r>
            <a:r>
              <a:rPr sz="2400" dirty="0">
                <a:latin typeface="Palatino Linotype"/>
                <a:cs typeface="Palatino Linotype"/>
              </a:rPr>
              <a:t>prediction</a:t>
            </a:r>
            <a:r>
              <a:rPr sz="2400" spc="-40" dirty="0">
                <a:latin typeface="Palatino Linotype"/>
                <a:cs typeface="Palatino Linotype"/>
              </a:rPr>
              <a:t> </a:t>
            </a:r>
            <a:r>
              <a:rPr sz="2400" spc="-10" dirty="0">
                <a:latin typeface="Palatino Linotype"/>
                <a:cs typeface="Palatino Linotype"/>
              </a:rPr>
              <a:t>objective)</a:t>
            </a:r>
            <a:endParaRPr sz="2400" dirty="0">
              <a:latin typeface="Palatino Linotype"/>
              <a:cs typeface="Palatino Linotype"/>
            </a:endParaRPr>
          </a:p>
          <a:p>
            <a:pPr marL="240029" indent="-227329">
              <a:lnSpc>
                <a:spcPct val="100000"/>
              </a:lnSpc>
              <a:spcBef>
                <a:spcPts val="725"/>
              </a:spcBef>
              <a:buFont typeface="Arial"/>
              <a:buChar char="•"/>
              <a:tabLst>
                <a:tab pos="240029" algn="l"/>
              </a:tabLst>
            </a:pPr>
            <a:r>
              <a:rPr sz="2400" dirty="0">
                <a:solidFill>
                  <a:srgbClr val="001F5F"/>
                </a:solidFill>
                <a:latin typeface="Palatino Linotype"/>
                <a:cs typeface="Palatino Linotype"/>
              </a:rPr>
              <a:t>Hypothesis</a:t>
            </a:r>
            <a:r>
              <a:rPr sz="2400" spc="-100" dirty="0">
                <a:solidFill>
                  <a:srgbClr val="001F5F"/>
                </a:solidFill>
                <a:latin typeface="Palatino Linotype"/>
                <a:cs typeface="Palatino Linotype"/>
              </a:rPr>
              <a:t> </a:t>
            </a:r>
            <a:r>
              <a:rPr sz="2400" dirty="0">
                <a:solidFill>
                  <a:srgbClr val="001F5F"/>
                </a:solidFill>
                <a:latin typeface="Palatino Linotype"/>
                <a:cs typeface="Palatino Linotype"/>
              </a:rPr>
              <a:t>class</a:t>
            </a:r>
            <a:r>
              <a:rPr sz="2400" spc="-35" dirty="0">
                <a:solidFill>
                  <a:srgbClr val="001F5F"/>
                </a:solidFill>
                <a:latin typeface="Palatino Linotype"/>
                <a:cs typeface="Palatino Linotype"/>
              </a:rPr>
              <a:t> </a:t>
            </a:r>
            <a:r>
              <a:rPr sz="2400" spc="-10" dirty="0">
                <a:latin typeface="Palatino Linotype"/>
                <a:cs typeface="Palatino Linotype"/>
              </a:rPr>
              <a:t>(Transformers)</a:t>
            </a:r>
            <a:endParaRPr sz="2400" dirty="0">
              <a:latin typeface="Palatino Linotype"/>
              <a:cs typeface="Palatino Linotype"/>
            </a:endParaRPr>
          </a:p>
          <a:p>
            <a:pPr marL="240029" indent="-227329">
              <a:lnSpc>
                <a:spcPct val="100000"/>
              </a:lnSpc>
              <a:spcBef>
                <a:spcPts val="725"/>
              </a:spcBef>
              <a:buFont typeface="Arial"/>
              <a:buChar char="•"/>
              <a:tabLst>
                <a:tab pos="240029" algn="l"/>
              </a:tabLst>
            </a:pPr>
            <a:r>
              <a:rPr sz="2400" dirty="0">
                <a:solidFill>
                  <a:srgbClr val="001F5F"/>
                </a:solidFill>
                <a:latin typeface="Palatino Linotype"/>
                <a:cs typeface="Palatino Linotype"/>
              </a:rPr>
              <a:t>Optimization</a:t>
            </a:r>
            <a:r>
              <a:rPr sz="2400" spc="-100" dirty="0">
                <a:solidFill>
                  <a:srgbClr val="001F5F"/>
                </a:solidFill>
                <a:latin typeface="Palatino Linotype"/>
                <a:cs typeface="Palatino Linotype"/>
              </a:rPr>
              <a:t> </a:t>
            </a:r>
            <a:r>
              <a:rPr sz="2400" dirty="0">
                <a:solidFill>
                  <a:srgbClr val="001F5F"/>
                </a:solidFill>
                <a:latin typeface="Palatino Linotype"/>
                <a:cs typeface="Palatino Linotype"/>
              </a:rPr>
              <a:t>algorithm</a:t>
            </a:r>
            <a:r>
              <a:rPr sz="2400" spc="-80" dirty="0">
                <a:solidFill>
                  <a:srgbClr val="001F5F"/>
                </a:solidFill>
                <a:latin typeface="Palatino Linotype"/>
                <a:cs typeface="Palatino Linotype"/>
              </a:rPr>
              <a:t> </a:t>
            </a:r>
            <a:r>
              <a:rPr sz="2400" dirty="0">
                <a:latin typeface="Palatino Linotype"/>
                <a:cs typeface="Palatino Linotype"/>
              </a:rPr>
              <a:t>(SGD,</a:t>
            </a:r>
            <a:r>
              <a:rPr sz="2400" spc="-150" dirty="0">
                <a:latin typeface="Palatino Linotype"/>
                <a:cs typeface="Palatino Linotype"/>
              </a:rPr>
              <a:t> </a:t>
            </a:r>
            <a:r>
              <a:rPr sz="2400" spc="-10" dirty="0">
                <a:latin typeface="Palatino Linotype"/>
                <a:cs typeface="Palatino Linotype"/>
              </a:rPr>
              <a:t>Adam)</a:t>
            </a:r>
            <a:endParaRPr sz="2400" dirty="0">
              <a:latin typeface="Palatino Linotype"/>
              <a:cs typeface="Palatino Linotype"/>
            </a:endParaRPr>
          </a:p>
          <a:p>
            <a:pPr>
              <a:lnSpc>
                <a:spcPct val="100000"/>
              </a:lnSpc>
              <a:spcBef>
                <a:spcPts val="935"/>
              </a:spcBef>
              <a:buFont typeface="Arial"/>
              <a:buChar char="•"/>
            </a:pPr>
            <a:endParaRPr sz="2400" dirty="0">
              <a:latin typeface="Palatino Linotype"/>
              <a:cs typeface="Palatino Linotype"/>
            </a:endParaRPr>
          </a:p>
          <a:p>
            <a:pPr marL="239395" marR="5080" indent="-227329">
              <a:lnSpc>
                <a:spcPts val="2630"/>
              </a:lnSpc>
              <a:buFont typeface="Arial"/>
              <a:buChar char="•"/>
              <a:tabLst>
                <a:tab pos="241300" algn="l"/>
              </a:tabLst>
            </a:pPr>
            <a:r>
              <a:rPr sz="2400" dirty="0">
                <a:latin typeface="Palatino Linotype"/>
                <a:cs typeface="Palatino Linotype"/>
              </a:rPr>
              <a:t>Parameters:</a:t>
            </a:r>
            <a:r>
              <a:rPr sz="2400" spc="-55" dirty="0">
                <a:latin typeface="Palatino Linotype"/>
                <a:cs typeface="Palatino Linotype"/>
              </a:rPr>
              <a:t> </a:t>
            </a:r>
            <a:r>
              <a:rPr sz="2400" dirty="0">
                <a:latin typeface="Palatino Linotype"/>
                <a:cs typeface="Palatino Linotype"/>
              </a:rPr>
              <a:t>weights,</a:t>
            </a:r>
            <a:r>
              <a:rPr sz="2400" spc="-50" dirty="0">
                <a:latin typeface="Palatino Linotype"/>
                <a:cs typeface="Palatino Linotype"/>
              </a:rPr>
              <a:t> </a:t>
            </a:r>
            <a:r>
              <a:rPr sz="2400" dirty="0">
                <a:latin typeface="Palatino Linotype"/>
                <a:cs typeface="Palatino Linotype"/>
              </a:rPr>
              <a:t>biases</a:t>
            </a:r>
            <a:r>
              <a:rPr sz="2400" spc="-95" dirty="0">
                <a:latin typeface="Palatino Linotype"/>
                <a:cs typeface="Palatino Linotype"/>
              </a:rPr>
              <a:t> </a:t>
            </a:r>
            <a:r>
              <a:rPr sz="2400" dirty="0">
                <a:latin typeface="Palatino Linotype"/>
                <a:cs typeface="Palatino Linotype"/>
              </a:rPr>
              <a:t>of</a:t>
            </a:r>
            <a:r>
              <a:rPr sz="2400" spc="-95" dirty="0">
                <a:latin typeface="Palatino Linotype"/>
                <a:cs typeface="Palatino Linotype"/>
              </a:rPr>
              <a:t> </a:t>
            </a:r>
            <a:r>
              <a:rPr sz="2400" dirty="0">
                <a:latin typeface="Palatino Linotype"/>
                <a:cs typeface="Palatino Linotype"/>
              </a:rPr>
              <a:t>the</a:t>
            </a:r>
            <a:r>
              <a:rPr sz="2400" spc="-80" dirty="0">
                <a:latin typeface="Palatino Linotype"/>
                <a:cs typeface="Palatino Linotype"/>
              </a:rPr>
              <a:t> </a:t>
            </a:r>
            <a:r>
              <a:rPr sz="2400" dirty="0">
                <a:latin typeface="Palatino Linotype"/>
                <a:cs typeface="Palatino Linotype"/>
              </a:rPr>
              <a:t>neural</a:t>
            </a:r>
            <a:r>
              <a:rPr sz="2400" spc="-80" dirty="0">
                <a:latin typeface="Palatino Linotype"/>
                <a:cs typeface="Palatino Linotype"/>
              </a:rPr>
              <a:t> </a:t>
            </a:r>
            <a:r>
              <a:rPr sz="2400" dirty="0">
                <a:latin typeface="Palatino Linotype"/>
                <a:cs typeface="Palatino Linotype"/>
              </a:rPr>
              <a:t>network</a:t>
            </a:r>
            <a:r>
              <a:rPr sz="2400" spc="-45" dirty="0">
                <a:latin typeface="Palatino Linotype"/>
                <a:cs typeface="Palatino Linotype"/>
              </a:rPr>
              <a:t> </a:t>
            </a:r>
            <a:r>
              <a:rPr sz="2400" dirty="0">
                <a:latin typeface="Palatino Linotype"/>
                <a:cs typeface="Palatino Linotype"/>
              </a:rPr>
              <a:t>learnt</a:t>
            </a:r>
            <a:r>
              <a:rPr sz="2400" spc="-80" dirty="0">
                <a:latin typeface="Palatino Linotype"/>
                <a:cs typeface="Palatino Linotype"/>
              </a:rPr>
              <a:t> </a:t>
            </a:r>
            <a:r>
              <a:rPr sz="2400" dirty="0">
                <a:latin typeface="Palatino Linotype"/>
                <a:cs typeface="Palatino Linotype"/>
              </a:rPr>
              <a:t>by</a:t>
            </a:r>
            <a:r>
              <a:rPr sz="2400" spc="-45" dirty="0">
                <a:latin typeface="Palatino Linotype"/>
                <a:cs typeface="Palatino Linotype"/>
              </a:rPr>
              <a:t> </a:t>
            </a:r>
            <a:r>
              <a:rPr sz="2400" spc="-10" dirty="0">
                <a:latin typeface="Palatino Linotype"/>
                <a:cs typeface="Palatino Linotype"/>
              </a:rPr>
              <a:t>running 	optimization</a:t>
            </a:r>
            <a:r>
              <a:rPr sz="2400" spc="-110" dirty="0">
                <a:latin typeface="Palatino Linotype"/>
                <a:cs typeface="Palatino Linotype"/>
              </a:rPr>
              <a:t> </a:t>
            </a:r>
            <a:r>
              <a:rPr sz="2400" dirty="0">
                <a:latin typeface="Palatino Linotype"/>
                <a:cs typeface="Palatino Linotype"/>
              </a:rPr>
              <a:t>algo</a:t>
            </a:r>
            <a:r>
              <a:rPr sz="2400" spc="-25" dirty="0">
                <a:latin typeface="Palatino Linotype"/>
                <a:cs typeface="Palatino Linotype"/>
              </a:rPr>
              <a:t> </a:t>
            </a:r>
            <a:r>
              <a:rPr sz="2400" dirty="0">
                <a:latin typeface="Palatino Linotype"/>
                <a:cs typeface="Palatino Linotype"/>
              </a:rPr>
              <a:t>on</a:t>
            </a:r>
            <a:r>
              <a:rPr sz="2400" spc="-45" dirty="0">
                <a:latin typeface="Palatino Linotype"/>
                <a:cs typeface="Palatino Linotype"/>
              </a:rPr>
              <a:t> </a:t>
            </a:r>
            <a:r>
              <a:rPr sz="2400" dirty="0">
                <a:latin typeface="Palatino Linotype"/>
                <a:cs typeface="Palatino Linotype"/>
              </a:rPr>
              <a:t>your</a:t>
            </a:r>
            <a:r>
              <a:rPr sz="2400" spc="-45" dirty="0">
                <a:latin typeface="Palatino Linotype"/>
                <a:cs typeface="Palatino Linotype"/>
              </a:rPr>
              <a:t> </a:t>
            </a:r>
            <a:r>
              <a:rPr sz="2400" dirty="0">
                <a:latin typeface="Palatino Linotype"/>
                <a:cs typeface="Palatino Linotype"/>
              </a:rPr>
              <a:t>training</a:t>
            </a:r>
            <a:r>
              <a:rPr sz="2400" spc="-50" dirty="0">
                <a:latin typeface="Palatino Linotype"/>
                <a:cs typeface="Palatino Linotype"/>
              </a:rPr>
              <a:t> </a:t>
            </a:r>
            <a:r>
              <a:rPr sz="2400" spc="-20" dirty="0">
                <a:latin typeface="Palatino Linotype"/>
                <a:cs typeface="Palatino Linotype"/>
              </a:rPr>
              <a:t>data</a:t>
            </a:r>
            <a:endParaRPr sz="2400" dirty="0">
              <a:latin typeface="Palatino Linotype"/>
              <a:cs typeface="Palatino Linotype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xfrm>
            <a:off x="838200" y="681016"/>
            <a:ext cx="10515600" cy="693780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spc="-20" dirty="0">
                <a:solidFill>
                  <a:srgbClr val="001F5F"/>
                </a:solidFill>
                <a:latin typeface="Palatino Linotype" panose="02040502050505030304" pitchFamily="18" charset="0"/>
              </a:rPr>
              <a:t>Data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917575" y="1763030"/>
            <a:ext cx="9991725" cy="3495040"/>
          </a:xfrm>
          <a:prstGeom prst="rect">
            <a:avLst/>
          </a:prstGeom>
        </p:spPr>
        <p:txBody>
          <a:bodyPr vert="horz" wrap="square" lIns="0" tIns="53975" rIns="0" bIns="0" rtlCol="0">
            <a:spAutoFit/>
          </a:bodyPr>
          <a:lstStyle/>
          <a:p>
            <a:pPr marL="240029" indent="-227329">
              <a:lnSpc>
                <a:spcPct val="100000"/>
              </a:lnSpc>
              <a:spcBef>
                <a:spcPts val="425"/>
              </a:spcBef>
              <a:buFont typeface="Arial"/>
              <a:buChar char="•"/>
              <a:tabLst>
                <a:tab pos="240029" algn="l"/>
              </a:tabLst>
            </a:pPr>
            <a:r>
              <a:rPr sz="2400" dirty="0">
                <a:latin typeface="Palatino Linotype"/>
                <a:cs typeface="Palatino Linotype"/>
              </a:rPr>
              <a:t>Data</a:t>
            </a:r>
            <a:r>
              <a:rPr sz="2400" spc="-55" dirty="0">
                <a:latin typeface="Palatino Linotype"/>
                <a:cs typeface="Palatino Linotype"/>
              </a:rPr>
              <a:t> </a:t>
            </a:r>
            <a:r>
              <a:rPr sz="2400" dirty="0">
                <a:latin typeface="Palatino Linotype"/>
                <a:cs typeface="Palatino Linotype"/>
              </a:rPr>
              <a:t>is</a:t>
            </a:r>
            <a:r>
              <a:rPr sz="2400" spc="-90" dirty="0">
                <a:latin typeface="Palatino Linotype"/>
                <a:cs typeface="Palatino Linotype"/>
              </a:rPr>
              <a:t> </a:t>
            </a:r>
            <a:r>
              <a:rPr sz="2400" dirty="0">
                <a:latin typeface="Palatino Linotype"/>
                <a:cs typeface="Palatino Linotype"/>
              </a:rPr>
              <a:t>THE</a:t>
            </a:r>
            <a:r>
              <a:rPr sz="2400" spc="-90" dirty="0">
                <a:latin typeface="Palatino Linotype"/>
                <a:cs typeface="Palatino Linotype"/>
              </a:rPr>
              <a:t> </a:t>
            </a:r>
            <a:r>
              <a:rPr sz="2400" dirty="0">
                <a:latin typeface="Palatino Linotype"/>
                <a:cs typeface="Palatino Linotype"/>
              </a:rPr>
              <a:t>most</a:t>
            </a:r>
            <a:r>
              <a:rPr sz="2400" spc="-20" dirty="0">
                <a:latin typeface="Palatino Linotype"/>
                <a:cs typeface="Palatino Linotype"/>
              </a:rPr>
              <a:t> </a:t>
            </a:r>
            <a:r>
              <a:rPr sz="2400" dirty="0">
                <a:latin typeface="Palatino Linotype"/>
                <a:cs typeface="Palatino Linotype"/>
              </a:rPr>
              <a:t>important</a:t>
            </a:r>
            <a:r>
              <a:rPr sz="2400" spc="-20" dirty="0">
                <a:latin typeface="Palatino Linotype"/>
                <a:cs typeface="Palatino Linotype"/>
              </a:rPr>
              <a:t> </a:t>
            </a:r>
            <a:r>
              <a:rPr sz="2400" dirty="0">
                <a:latin typeface="Palatino Linotype"/>
                <a:cs typeface="Palatino Linotype"/>
              </a:rPr>
              <a:t>thing</a:t>
            </a:r>
            <a:r>
              <a:rPr sz="2400" spc="-40" dirty="0">
                <a:latin typeface="Palatino Linotype"/>
                <a:cs typeface="Palatino Linotype"/>
              </a:rPr>
              <a:t> </a:t>
            </a:r>
            <a:r>
              <a:rPr sz="2400" dirty="0">
                <a:latin typeface="Palatino Linotype"/>
                <a:cs typeface="Palatino Linotype"/>
              </a:rPr>
              <a:t>in</a:t>
            </a:r>
            <a:r>
              <a:rPr sz="2400" spc="-30" dirty="0">
                <a:latin typeface="Palatino Linotype"/>
                <a:cs typeface="Palatino Linotype"/>
              </a:rPr>
              <a:t> </a:t>
            </a:r>
            <a:r>
              <a:rPr sz="2400" dirty="0">
                <a:latin typeface="Palatino Linotype"/>
                <a:cs typeface="Palatino Linotype"/>
              </a:rPr>
              <a:t>training</a:t>
            </a:r>
            <a:r>
              <a:rPr sz="2400" spc="-40" dirty="0">
                <a:latin typeface="Palatino Linotype"/>
                <a:cs typeface="Palatino Linotype"/>
              </a:rPr>
              <a:t> </a:t>
            </a:r>
            <a:r>
              <a:rPr sz="2400" dirty="0">
                <a:latin typeface="Palatino Linotype"/>
                <a:cs typeface="Palatino Linotype"/>
              </a:rPr>
              <a:t>modern</a:t>
            </a:r>
            <a:r>
              <a:rPr sz="2400" spc="-30" dirty="0">
                <a:latin typeface="Palatino Linotype"/>
                <a:cs typeface="Palatino Linotype"/>
              </a:rPr>
              <a:t> </a:t>
            </a:r>
            <a:r>
              <a:rPr sz="2400" spc="-20" dirty="0">
                <a:latin typeface="Palatino Linotype"/>
                <a:cs typeface="Palatino Linotype"/>
              </a:rPr>
              <a:t>LLMs</a:t>
            </a:r>
            <a:endParaRPr sz="2400">
              <a:latin typeface="Palatino Linotype"/>
              <a:cs typeface="Palatino Linotype"/>
            </a:endParaRPr>
          </a:p>
          <a:p>
            <a:pPr marL="698500" lvl="1" indent="-228600">
              <a:lnSpc>
                <a:spcPct val="100000"/>
              </a:lnSpc>
              <a:spcBef>
                <a:spcPts val="300"/>
              </a:spcBef>
              <a:buFont typeface="Arial"/>
              <a:buChar char="•"/>
              <a:tabLst>
                <a:tab pos="698500" algn="l"/>
              </a:tabLst>
            </a:pPr>
            <a:r>
              <a:rPr sz="2000" dirty="0">
                <a:latin typeface="Palatino Linotype"/>
                <a:cs typeface="Palatino Linotype"/>
              </a:rPr>
              <a:t>Lot</a:t>
            </a:r>
            <a:r>
              <a:rPr sz="2000" spc="-75" dirty="0">
                <a:latin typeface="Palatino Linotype"/>
                <a:cs typeface="Palatino Linotype"/>
              </a:rPr>
              <a:t> </a:t>
            </a:r>
            <a:r>
              <a:rPr sz="2000" dirty="0">
                <a:latin typeface="Palatino Linotype"/>
                <a:cs typeface="Palatino Linotype"/>
              </a:rPr>
              <a:t>of</a:t>
            </a:r>
            <a:r>
              <a:rPr sz="2000" spc="-80" dirty="0">
                <a:latin typeface="Palatino Linotype"/>
                <a:cs typeface="Palatino Linotype"/>
              </a:rPr>
              <a:t> </a:t>
            </a:r>
            <a:r>
              <a:rPr sz="2000" dirty="0">
                <a:latin typeface="Palatino Linotype"/>
                <a:cs typeface="Palatino Linotype"/>
              </a:rPr>
              <a:t>secrecy</a:t>
            </a:r>
            <a:r>
              <a:rPr sz="2000" spc="-15" dirty="0">
                <a:latin typeface="Palatino Linotype"/>
                <a:cs typeface="Palatino Linotype"/>
              </a:rPr>
              <a:t> </a:t>
            </a:r>
            <a:r>
              <a:rPr sz="2000" dirty="0">
                <a:latin typeface="Palatino Linotype"/>
                <a:cs typeface="Palatino Linotype"/>
              </a:rPr>
              <a:t>due</a:t>
            </a:r>
            <a:r>
              <a:rPr sz="2000" spc="-10" dirty="0">
                <a:latin typeface="Palatino Linotype"/>
                <a:cs typeface="Palatino Linotype"/>
              </a:rPr>
              <a:t> </a:t>
            </a:r>
            <a:r>
              <a:rPr sz="2000" dirty="0">
                <a:latin typeface="Palatino Linotype"/>
                <a:cs typeface="Palatino Linotype"/>
              </a:rPr>
              <a:t>to copyright</a:t>
            </a:r>
            <a:r>
              <a:rPr sz="2000" spc="-5" dirty="0">
                <a:latin typeface="Palatino Linotype"/>
                <a:cs typeface="Palatino Linotype"/>
              </a:rPr>
              <a:t> </a:t>
            </a:r>
            <a:r>
              <a:rPr sz="2000" dirty="0">
                <a:latin typeface="Palatino Linotype"/>
                <a:cs typeface="Palatino Linotype"/>
              </a:rPr>
              <a:t>concerns</a:t>
            </a:r>
            <a:r>
              <a:rPr sz="2000" spc="-50" dirty="0">
                <a:latin typeface="Palatino Linotype"/>
                <a:cs typeface="Palatino Linotype"/>
              </a:rPr>
              <a:t> </a:t>
            </a:r>
            <a:r>
              <a:rPr sz="2000" dirty="0">
                <a:latin typeface="Palatino Linotype"/>
                <a:cs typeface="Palatino Linotype"/>
              </a:rPr>
              <a:t>and</a:t>
            </a:r>
            <a:r>
              <a:rPr sz="2000" spc="-50" dirty="0">
                <a:latin typeface="Palatino Linotype"/>
                <a:cs typeface="Palatino Linotype"/>
              </a:rPr>
              <a:t> </a:t>
            </a:r>
            <a:r>
              <a:rPr sz="2000" spc="-10" dirty="0">
                <a:latin typeface="Palatino Linotype"/>
                <a:cs typeface="Palatino Linotype"/>
              </a:rPr>
              <a:t>competition</a:t>
            </a:r>
            <a:endParaRPr sz="2000">
              <a:latin typeface="Palatino Linotype"/>
              <a:cs typeface="Palatino Linotype"/>
            </a:endParaRPr>
          </a:p>
          <a:p>
            <a:pPr marL="239395" marR="5080" indent="-227329">
              <a:lnSpc>
                <a:spcPts val="2630"/>
              </a:lnSpc>
              <a:spcBef>
                <a:spcPts val="950"/>
              </a:spcBef>
              <a:buFont typeface="Arial"/>
              <a:buChar char="•"/>
              <a:tabLst>
                <a:tab pos="241300" algn="l"/>
              </a:tabLst>
            </a:pPr>
            <a:r>
              <a:rPr sz="2400" dirty="0">
                <a:latin typeface="Palatino Linotype"/>
                <a:cs typeface="Palatino Linotype"/>
              </a:rPr>
              <a:t>For</a:t>
            </a:r>
            <a:r>
              <a:rPr sz="2400" spc="-15" dirty="0">
                <a:latin typeface="Palatino Linotype"/>
                <a:cs typeface="Palatino Linotype"/>
              </a:rPr>
              <a:t> </a:t>
            </a:r>
            <a:r>
              <a:rPr sz="2400" dirty="0">
                <a:latin typeface="Palatino Linotype"/>
                <a:cs typeface="Palatino Linotype"/>
              </a:rPr>
              <a:t>general</a:t>
            </a:r>
            <a:r>
              <a:rPr sz="2400" spc="-60" dirty="0">
                <a:latin typeface="Palatino Linotype"/>
                <a:cs typeface="Palatino Linotype"/>
              </a:rPr>
              <a:t> </a:t>
            </a:r>
            <a:r>
              <a:rPr sz="2400" dirty="0">
                <a:latin typeface="Palatino Linotype"/>
                <a:cs typeface="Palatino Linotype"/>
              </a:rPr>
              <a:t>capabilities,</a:t>
            </a:r>
            <a:r>
              <a:rPr sz="2400" spc="-30" dirty="0">
                <a:latin typeface="Palatino Linotype"/>
                <a:cs typeface="Palatino Linotype"/>
              </a:rPr>
              <a:t> </a:t>
            </a:r>
            <a:r>
              <a:rPr sz="2400" dirty="0">
                <a:latin typeface="Palatino Linotype"/>
                <a:cs typeface="Palatino Linotype"/>
              </a:rPr>
              <a:t>we</a:t>
            </a:r>
            <a:r>
              <a:rPr sz="2400" spc="-60" dirty="0">
                <a:latin typeface="Palatino Linotype"/>
                <a:cs typeface="Palatino Linotype"/>
              </a:rPr>
              <a:t> </a:t>
            </a:r>
            <a:r>
              <a:rPr sz="2400" dirty="0">
                <a:latin typeface="Palatino Linotype"/>
                <a:cs typeface="Palatino Linotype"/>
              </a:rPr>
              <a:t>need</a:t>
            </a:r>
            <a:r>
              <a:rPr sz="2400" spc="-75" dirty="0">
                <a:latin typeface="Palatino Linotype"/>
                <a:cs typeface="Palatino Linotype"/>
              </a:rPr>
              <a:t> </a:t>
            </a:r>
            <a:r>
              <a:rPr sz="2400" dirty="0">
                <a:latin typeface="Palatino Linotype"/>
                <a:cs typeface="Palatino Linotype"/>
              </a:rPr>
              <a:t>data</a:t>
            </a:r>
            <a:r>
              <a:rPr sz="2400" spc="-30" dirty="0">
                <a:latin typeface="Palatino Linotype"/>
                <a:cs typeface="Palatino Linotype"/>
              </a:rPr>
              <a:t> </a:t>
            </a:r>
            <a:r>
              <a:rPr sz="2400" dirty="0">
                <a:latin typeface="Palatino Linotype"/>
                <a:cs typeface="Palatino Linotype"/>
              </a:rPr>
              <a:t>to</a:t>
            </a:r>
            <a:r>
              <a:rPr sz="2400" spc="-65" dirty="0">
                <a:latin typeface="Palatino Linotype"/>
                <a:cs typeface="Palatino Linotype"/>
              </a:rPr>
              <a:t> </a:t>
            </a:r>
            <a:r>
              <a:rPr sz="2400" dirty="0">
                <a:latin typeface="Palatino Linotype"/>
                <a:cs typeface="Palatino Linotype"/>
              </a:rPr>
              <a:t>span</a:t>
            </a:r>
            <a:r>
              <a:rPr sz="2400" spc="-80" dirty="0">
                <a:latin typeface="Palatino Linotype"/>
                <a:cs typeface="Palatino Linotype"/>
              </a:rPr>
              <a:t> </a:t>
            </a:r>
            <a:r>
              <a:rPr sz="2400" dirty="0">
                <a:latin typeface="Palatino Linotype"/>
                <a:cs typeface="Palatino Linotype"/>
              </a:rPr>
              <a:t>a</a:t>
            </a:r>
            <a:r>
              <a:rPr sz="2400" spc="-30" dirty="0">
                <a:latin typeface="Palatino Linotype"/>
                <a:cs typeface="Palatino Linotype"/>
              </a:rPr>
              <a:t> </a:t>
            </a:r>
            <a:r>
              <a:rPr sz="2400" dirty="0">
                <a:latin typeface="Palatino Linotype"/>
                <a:cs typeface="Palatino Linotype"/>
              </a:rPr>
              <a:t>broad</a:t>
            </a:r>
            <a:r>
              <a:rPr sz="2400" spc="-10" dirty="0">
                <a:latin typeface="Palatino Linotype"/>
                <a:cs typeface="Palatino Linotype"/>
              </a:rPr>
              <a:t> </a:t>
            </a:r>
            <a:r>
              <a:rPr sz="2400" dirty="0">
                <a:latin typeface="Palatino Linotype"/>
                <a:cs typeface="Palatino Linotype"/>
              </a:rPr>
              <a:t>range</a:t>
            </a:r>
            <a:r>
              <a:rPr sz="2400" spc="-60" dirty="0">
                <a:latin typeface="Palatino Linotype"/>
                <a:cs typeface="Palatino Linotype"/>
              </a:rPr>
              <a:t> </a:t>
            </a:r>
            <a:r>
              <a:rPr sz="2400" dirty="0">
                <a:latin typeface="Palatino Linotype"/>
                <a:cs typeface="Palatino Linotype"/>
              </a:rPr>
              <a:t>of</a:t>
            </a:r>
            <a:r>
              <a:rPr sz="2400" spc="-75" dirty="0">
                <a:latin typeface="Palatino Linotype"/>
                <a:cs typeface="Palatino Linotype"/>
              </a:rPr>
              <a:t> </a:t>
            </a:r>
            <a:r>
              <a:rPr sz="2400" spc="-10" dirty="0">
                <a:latin typeface="Palatino Linotype"/>
                <a:cs typeface="Palatino Linotype"/>
              </a:rPr>
              <a:t>domains, 	</a:t>
            </a:r>
            <a:r>
              <a:rPr sz="2400" dirty="0">
                <a:latin typeface="Palatino Linotype"/>
                <a:cs typeface="Palatino Linotype"/>
              </a:rPr>
              <a:t>genres,</a:t>
            </a:r>
            <a:r>
              <a:rPr sz="2400" spc="-85" dirty="0">
                <a:latin typeface="Palatino Linotype"/>
                <a:cs typeface="Palatino Linotype"/>
              </a:rPr>
              <a:t> </a:t>
            </a:r>
            <a:r>
              <a:rPr sz="2400" dirty="0">
                <a:latin typeface="Palatino Linotype"/>
                <a:cs typeface="Palatino Linotype"/>
              </a:rPr>
              <a:t>languages</a:t>
            </a:r>
            <a:r>
              <a:rPr sz="2400" spc="-80" dirty="0">
                <a:latin typeface="Palatino Linotype"/>
                <a:cs typeface="Palatino Linotype"/>
              </a:rPr>
              <a:t> </a:t>
            </a:r>
            <a:r>
              <a:rPr sz="2400" spc="-25" dirty="0">
                <a:latin typeface="Palatino Linotype"/>
                <a:cs typeface="Palatino Linotype"/>
              </a:rPr>
              <a:t>etc</a:t>
            </a:r>
            <a:endParaRPr sz="2400">
              <a:latin typeface="Palatino Linotype"/>
              <a:cs typeface="Palatino Linotype"/>
            </a:endParaRPr>
          </a:p>
          <a:p>
            <a:pPr marL="240029" indent="-227329">
              <a:lnSpc>
                <a:spcPct val="100000"/>
              </a:lnSpc>
              <a:spcBef>
                <a:spcPts val="675"/>
              </a:spcBef>
              <a:buFont typeface="Arial"/>
              <a:buChar char="•"/>
              <a:tabLst>
                <a:tab pos="240029" algn="l"/>
              </a:tabLst>
            </a:pPr>
            <a:r>
              <a:rPr sz="2400" b="1" dirty="0">
                <a:solidFill>
                  <a:srgbClr val="001F5F"/>
                </a:solidFill>
                <a:latin typeface="Palatino Linotype"/>
                <a:cs typeface="Palatino Linotype"/>
              </a:rPr>
              <a:t>Main</a:t>
            </a:r>
            <a:r>
              <a:rPr sz="2400" b="1" spc="-60" dirty="0">
                <a:solidFill>
                  <a:srgbClr val="001F5F"/>
                </a:solidFill>
                <a:latin typeface="Palatino Linotype"/>
                <a:cs typeface="Palatino Linotype"/>
              </a:rPr>
              <a:t> </a:t>
            </a:r>
            <a:r>
              <a:rPr sz="2400" b="1" dirty="0">
                <a:solidFill>
                  <a:srgbClr val="001F5F"/>
                </a:solidFill>
                <a:latin typeface="Palatino Linotype"/>
                <a:cs typeface="Palatino Linotype"/>
              </a:rPr>
              <a:t>source</a:t>
            </a:r>
            <a:r>
              <a:rPr sz="2400" b="1" spc="-10" dirty="0">
                <a:solidFill>
                  <a:srgbClr val="001F5F"/>
                </a:solidFill>
                <a:latin typeface="Palatino Linotype"/>
                <a:cs typeface="Palatino Linotype"/>
              </a:rPr>
              <a:t> </a:t>
            </a:r>
            <a:r>
              <a:rPr sz="2400" b="1" dirty="0">
                <a:solidFill>
                  <a:srgbClr val="001F5F"/>
                </a:solidFill>
                <a:latin typeface="Palatino Linotype"/>
                <a:cs typeface="Palatino Linotype"/>
              </a:rPr>
              <a:t>is</a:t>
            </a:r>
            <a:r>
              <a:rPr sz="2400" b="1" spc="-35" dirty="0">
                <a:solidFill>
                  <a:srgbClr val="001F5F"/>
                </a:solidFill>
                <a:latin typeface="Palatino Linotype"/>
                <a:cs typeface="Palatino Linotype"/>
              </a:rPr>
              <a:t> </a:t>
            </a:r>
            <a:r>
              <a:rPr sz="2400" b="1" dirty="0">
                <a:solidFill>
                  <a:srgbClr val="001F5F"/>
                </a:solidFill>
                <a:latin typeface="Palatino Linotype"/>
                <a:cs typeface="Palatino Linotype"/>
              </a:rPr>
              <a:t>the</a:t>
            </a:r>
            <a:r>
              <a:rPr sz="2400" b="1" spc="-10" dirty="0">
                <a:solidFill>
                  <a:srgbClr val="001F5F"/>
                </a:solidFill>
                <a:latin typeface="Palatino Linotype"/>
                <a:cs typeface="Palatino Linotype"/>
              </a:rPr>
              <a:t> </a:t>
            </a:r>
            <a:r>
              <a:rPr sz="2400" b="1" spc="-25" dirty="0">
                <a:solidFill>
                  <a:srgbClr val="001F5F"/>
                </a:solidFill>
                <a:latin typeface="Palatino Linotype"/>
                <a:cs typeface="Palatino Linotype"/>
              </a:rPr>
              <a:t>web</a:t>
            </a:r>
            <a:endParaRPr sz="2400">
              <a:latin typeface="Palatino Linotype"/>
              <a:cs typeface="Palatino Linotype"/>
            </a:endParaRPr>
          </a:p>
          <a:p>
            <a:pPr marL="240029" indent="-227329">
              <a:lnSpc>
                <a:spcPct val="100000"/>
              </a:lnSpc>
              <a:spcBef>
                <a:spcPts val="725"/>
              </a:spcBef>
              <a:buFont typeface="Arial"/>
              <a:buChar char="•"/>
              <a:tabLst>
                <a:tab pos="240029" algn="l"/>
              </a:tabLst>
            </a:pPr>
            <a:r>
              <a:rPr sz="2400" dirty="0">
                <a:latin typeface="Palatino Linotype"/>
                <a:cs typeface="Palatino Linotype"/>
              </a:rPr>
              <a:t>A</a:t>
            </a:r>
            <a:r>
              <a:rPr sz="2400" spc="-150" dirty="0">
                <a:latin typeface="Palatino Linotype"/>
                <a:cs typeface="Palatino Linotype"/>
              </a:rPr>
              <a:t> </a:t>
            </a:r>
            <a:r>
              <a:rPr sz="2400" dirty="0">
                <a:latin typeface="Palatino Linotype"/>
                <a:cs typeface="Palatino Linotype"/>
              </a:rPr>
              <a:t>canonical</a:t>
            </a:r>
            <a:r>
              <a:rPr sz="2400" spc="-70" dirty="0">
                <a:latin typeface="Palatino Linotype"/>
                <a:cs typeface="Palatino Linotype"/>
              </a:rPr>
              <a:t> </a:t>
            </a:r>
            <a:r>
              <a:rPr sz="2400" dirty="0">
                <a:latin typeface="Palatino Linotype"/>
                <a:cs typeface="Palatino Linotype"/>
              </a:rPr>
              <a:t>source</a:t>
            </a:r>
            <a:r>
              <a:rPr sz="2400" spc="-55" dirty="0">
                <a:latin typeface="Palatino Linotype"/>
                <a:cs typeface="Palatino Linotype"/>
              </a:rPr>
              <a:t> </a:t>
            </a:r>
            <a:r>
              <a:rPr sz="2400" dirty="0">
                <a:latin typeface="Palatino Linotype"/>
                <a:cs typeface="Palatino Linotype"/>
              </a:rPr>
              <a:t>is</a:t>
            </a:r>
            <a:r>
              <a:rPr sz="2400" spc="-65" dirty="0">
                <a:latin typeface="Palatino Linotype"/>
                <a:cs typeface="Palatino Linotype"/>
              </a:rPr>
              <a:t> </a:t>
            </a:r>
            <a:r>
              <a:rPr sz="2400" spc="-10" dirty="0">
                <a:latin typeface="Palatino Linotype"/>
                <a:cs typeface="Palatino Linotype"/>
              </a:rPr>
              <a:t>Wikipedia</a:t>
            </a:r>
            <a:endParaRPr sz="2400">
              <a:latin typeface="Palatino Linotype"/>
              <a:cs typeface="Palatino Linotype"/>
            </a:endParaRPr>
          </a:p>
          <a:p>
            <a:pPr marL="698500" lvl="1" indent="-228600">
              <a:lnSpc>
                <a:spcPct val="100000"/>
              </a:lnSpc>
              <a:spcBef>
                <a:spcPts val="300"/>
              </a:spcBef>
              <a:buFont typeface="Arial"/>
              <a:buChar char="•"/>
              <a:tabLst>
                <a:tab pos="698500" algn="l"/>
              </a:tabLst>
            </a:pPr>
            <a:r>
              <a:rPr sz="2000" dirty="0">
                <a:latin typeface="Palatino Linotype"/>
                <a:cs typeface="Palatino Linotype"/>
              </a:rPr>
              <a:t>Encyclopedic</a:t>
            </a:r>
            <a:r>
              <a:rPr sz="2000" spc="-80" dirty="0">
                <a:latin typeface="Palatino Linotype"/>
                <a:cs typeface="Palatino Linotype"/>
              </a:rPr>
              <a:t> </a:t>
            </a:r>
            <a:r>
              <a:rPr sz="2000" dirty="0">
                <a:latin typeface="Palatino Linotype"/>
                <a:cs typeface="Palatino Linotype"/>
              </a:rPr>
              <a:t>knowledge,</a:t>
            </a:r>
            <a:r>
              <a:rPr sz="2000" spc="-65" dirty="0">
                <a:latin typeface="Palatino Linotype"/>
                <a:cs typeface="Palatino Linotype"/>
              </a:rPr>
              <a:t> </a:t>
            </a:r>
            <a:r>
              <a:rPr sz="2000" dirty="0">
                <a:latin typeface="Palatino Linotype"/>
                <a:cs typeface="Palatino Linotype"/>
              </a:rPr>
              <a:t>anyone</a:t>
            </a:r>
            <a:r>
              <a:rPr sz="2000" spc="-5" dirty="0">
                <a:latin typeface="Palatino Linotype"/>
                <a:cs typeface="Palatino Linotype"/>
              </a:rPr>
              <a:t> </a:t>
            </a:r>
            <a:r>
              <a:rPr sz="2000" dirty="0">
                <a:latin typeface="Palatino Linotype"/>
                <a:cs typeface="Palatino Linotype"/>
              </a:rPr>
              <a:t>can</a:t>
            </a:r>
            <a:r>
              <a:rPr sz="2000" spc="-65" dirty="0">
                <a:latin typeface="Palatino Linotype"/>
                <a:cs typeface="Palatino Linotype"/>
              </a:rPr>
              <a:t> </a:t>
            </a:r>
            <a:r>
              <a:rPr sz="2000" dirty="0">
                <a:latin typeface="Palatino Linotype"/>
                <a:cs typeface="Palatino Linotype"/>
              </a:rPr>
              <a:t>edit and</a:t>
            </a:r>
            <a:r>
              <a:rPr sz="2000" spc="-50" dirty="0">
                <a:latin typeface="Palatino Linotype"/>
                <a:cs typeface="Palatino Linotype"/>
              </a:rPr>
              <a:t> </a:t>
            </a:r>
            <a:r>
              <a:rPr sz="2000" dirty="0">
                <a:latin typeface="Palatino Linotype"/>
                <a:cs typeface="Palatino Linotype"/>
              </a:rPr>
              <a:t>vandalism</a:t>
            </a:r>
            <a:r>
              <a:rPr sz="2000" spc="-70" dirty="0">
                <a:latin typeface="Palatino Linotype"/>
                <a:cs typeface="Palatino Linotype"/>
              </a:rPr>
              <a:t> </a:t>
            </a:r>
            <a:r>
              <a:rPr sz="2000" dirty="0">
                <a:latin typeface="Palatino Linotype"/>
                <a:cs typeface="Palatino Linotype"/>
              </a:rPr>
              <a:t>gets</a:t>
            </a:r>
            <a:r>
              <a:rPr sz="2000" spc="-45" dirty="0">
                <a:latin typeface="Palatino Linotype"/>
                <a:cs typeface="Palatino Linotype"/>
              </a:rPr>
              <a:t> </a:t>
            </a:r>
            <a:r>
              <a:rPr sz="2000" spc="-10" dirty="0">
                <a:latin typeface="Palatino Linotype"/>
                <a:cs typeface="Palatino Linotype"/>
              </a:rPr>
              <a:t>reverted</a:t>
            </a:r>
            <a:r>
              <a:rPr sz="2000" spc="-50" dirty="0">
                <a:latin typeface="Palatino Linotype"/>
                <a:cs typeface="Palatino Linotype"/>
              </a:rPr>
              <a:t> </a:t>
            </a:r>
            <a:r>
              <a:rPr sz="2000" dirty="0">
                <a:latin typeface="Palatino Linotype"/>
                <a:cs typeface="Palatino Linotype"/>
              </a:rPr>
              <a:t>by</a:t>
            </a:r>
            <a:r>
              <a:rPr sz="2000" spc="-10" dirty="0">
                <a:latin typeface="Palatino Linotype"/>
                <a:cs typeface="Palatino Linotype"/>
              </a:rPr>
              <a:t> admins</a:t>
            </a:r>
            <a:endParaRPr sz="2000">
              <a:latin typeface="Palatino Linotype"/>
              <a:cs typeface="Palatino Linotype"/>
            </a:endParaRPr>
          </a:p>
          <a:p>
            <a:pPr marL="698500" lvl="1" indent="-228600">
              <a:lnSpc>
                <a:spcPct val="100000"/>
              </a:lnSpc>
              <a:spcBef>
                <a:spcPts val="229"/>
              </a:spcBef>
              <a:buFont typeface="Arial"/>
              <a:buChar char="•"/>
              <a:tabLst>
                <a:tab pos="698500" algn="l"/>
              </a:tabLst>
            </a:pPr>
            <a:r>
              <a:rPr sz="2000" dirty="0">
                <a:latin typeface="Palatino Linotype"/>
                <a:cs typeface="Palatino Linotype"/>
              </a:rPr>
              <a:t>~3.7</a:t>
            </a:r>
            <a:r>
              <a:rPr sz="2000" spc="-35" dirty="0">
                <a:latin typeface="Palatino Linotype"/>
                <a:cs typeface="Palatino Linotype"/>
              </a:rPr>
              <a:t> </a:t>
            </a:r>
            <a:r>
              <a:rPr sz="2000" dirty="0">
                <a:latin typeface="Palatino Linotype"/>
                <a:cs typeface="Palatino Linotype"/>
              </a:rPr>
              <a:t>B</a:t>
            </a:r>
            <a:r>
              <a:rPr sz="2000" spc="-30" dirty="0">
                <a:latin typeface="Palatino Linotype"/>
                <a:cs typeface="Palatino Linotype"/>
              </a:rPr>
              <a:t> </a:t>
            </a:r>
            <a:r>
              <a:rPr sz="2000" spc="-10" dirty="0">
                <a:latin typeface="Palatino Linotype"/>
                <a:cs typeface="Palatino Linotype"/>
              </a:rPr>
              <a:t>tokens</a:t>
            </a:r>
            <a:endParaRPr sz="2000">
              <a:latin typeface="Palatino Linotype"/>
              <a:cs typeface="Palatino Linotype"/>
            </a:endParaRPr>
          </a:p>
          <a:p>
            <a:pPr marL="698500" lvl="1" indent="-228600">
              <a:lnSpc>
                <a:spcPct val="100000"/>
              </a:lnSpc>
              <a:spcBef>
                <a:spcPts val="305"/>
              </a:spcBef>
              <a:buFont typeface="Arial"/>
              <a:buChar char="•"/>
              <a:tabLst>
                <a:tab pos="698500" algn="l"/>
              </a:tabLst>
            </a:pPr>
            <a:r>
              <a:rPr sz="2000" dirty="0">
                <a:latin typeface="Palatino Linotype"/>
                <a:cs typeface="Palatino Linotype"/>
              </a:rPr>
              <a:t>Considered</a:t>
            </a:r>
            <a:r>
              <a:rPr sz="2000" spc="-15" dirty="0">
                <a:latin typeface="Palatino Linotype"/>
                <a:cs typeface="Palatino Linotype"/>
              </a:rPr>
              <a:t> </a:t>
            </a:r>
            <a:r>
              <a:rPr sz="2000" spc="-20" dirty="0">
                <a:latin typeface="Palatino Linotype"/>
                <a:cs typeface="Palatino Linotype"/>
              </a:rPr>
              <a:t>high-</a:t>
            </a:r>
            <a:r>
              <a:rPr sz="2000" spc="-25" dirty="0">
                <a:latin typeface="Palatino Linotype"/>
                <a:cs typeface="Palatino Linotype"/>
              </a:rPr>
              <a:t>quality,</a:t>
            </a:r>
            <a:r>
              <a:rPr sz="2000" spc="-30" dirty="0">
                <a:latin typeface="Palatino Linotype"/>
                <a:cs typeface="Palatino Linotype"/>
              </a:rPr>
              <a:t> </a:t>
            </a:r>
            <a:r>
              <a:rPr sz="2000" dirty="0">
                <a:latin typeface="Palatino Linotype"/>
                <a:cs typeface="Palatino Linotype"/>
              </a:rPr>
              <a:t>but</a:t>
            </a:r>
            <a:r>
              <a:rPr sz="2000" spc="-40" dirty="0">
                <a:latin typeface="Palatino Linotype"/>
                <a:cs typeface="Palatino Linotype"/>
              </a:rPr>
              <a:t> </a:t>
            </a:r>
            <a:r>
              <a:rPr sz="2000" dirty="0">
                <a:latin typeface="Palatino Linotype"/>
                <a:cs typeface="Palatino Linotype"/>
              </a:rPr>
              <a:t>can</a:t>
            </a:r>
            <a:r>
              <a:rPr sz="2000" spc="-30" dirty="0">
                <a:latin typeface="Palatino Linotype"/>
                <a:cs typeface="Palatino Linotype"/>
              </a:rPr>
              <a:t> </a:t>
            </a:r>
            <a:r>
              <a:rPr sz="2000" dirty="0">
                <a:latin typeface="Palatino Linotype"/>
                <a:cs typeface="Palatino Linotype"/>
              </a:rPr>
              <a:t>also</a:t>
            </a:r>
            <a:r>
              <a:rPr sz="2000" spc="-35" dirty="0">
                <a:latin typeface="Palatino Linotype"/>
                <a:cs typeface="Palatino Linotype"/>
              </a:rPr>
              <a:t> </a:t>
            </a:r>
            <a:r>
              <a:rPr sz="2000" dirty="0">
                <a:latin typeface="Palatino Linotype"/>
                <a:cs typeface="Palatino Linotype"/>
              </a:rPr>
              <a:t>be</a:t>
            </a:r>
            <a:r>
              <a:rPr sz="2000" spc="-40" dirty="0">
                <a:latin typeface="Palatino Linotype"/>
                <a:cs typeface="Palatino Linotype"/>
              </a:rPr>
              <a:t> </a:t>
            </a:r>
            <a:r>
              <a:rPr sz="2000" spc="-10" dirty="0">
                <a:latin typeface="Palatino Linotype"/>
                <a:cs typeface="Palatino Linotype"/>
              </a:rPr>
              <a:t>“poisoned”</a:t>
            </a:r>
            <a:endParaRPr sz="2000">
              <a:latin typeface="Palatino Linotype"/>
              <a:cs typeface="Palatino Linotype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spc="-45" dirty="0">
                <a:solidFill>
                  <a:srgbClr val="001F5F"/>
                </a:solidFill>
              </a:rPr>
              <a:t>Web</a:t>
            </a:r>
            <a:r>
              <a:rPr spc="-225" dirty="0">
                <a:solidFill>
                  <a:srgbClr val="001F5F"/>
                </a:solidFill>
              </a:rPr>
              <a:t> </a:t>
            </a:r>
            <a:r>
              <a:rPr spc="-20" dirty="0">
                <a:solidFill>
                  <a:srgbClr val="001F5F"/>
                </a:solidFill>
              </a:rPr>
              <a:t>data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917575" y="1763030"/>
            <a:ext cx="8492490" cy="3380104"/>
          </a:xfrm>
          <a:prstGeom prst="rect">
            <a:avLst/>
          </a:prstGeom>
        </p:spPr>
        <p:txBody>
          <a:bodyPr vert="horz" wrap="square" lIns="0" tIns="53975" rIns="0" bIns="0" rtlCol="0">
            <a:spAutoFit/>
          </a:bodyPr>
          <a:lstStyle/>
          <a:p>
            <a:pPr marL="240029" indent="-227329">
              <a:lnSpc>
                <a:spcPct val="100000"/>
              </a:lnSpc>
              <a:spcBef>
                <a:spcPts val="425"/>
              </a:spcBef>
              <a:buFont typeface="Arial"/>
              <a:buChar char="•"/>
              <a:tabLst>
                <a:tab pos="240029" algn="l"/>
              </a:tabLst>
            </a:pPr>
            <a:r>
              <a:rPr sz="2400" b="1" spc="-55" dirty="0">
                <a:solidFill>
                  <a:srgbClr val="001F5F"/>
                </a:solidFill>
                <a:latin typeface="Palatino Linotype"/>
                <a:cs typeface="Palatino Linotype"/>
              </a:rPr>
              <a:t>WebText</a:t>
            </a:r>
            <a:r>
              <a:rPr sz="2400" b="1" spc="-30" dirty="0">
                <a:solidFill>
                  <a:srgbClr val="001F5F"/>
                </a:solidFill>
                <a:latin typeface="Palatino Linotype"/>
                <a:cs typeface="Palatino Linotype"/>
              </a:rPr>
              <a:t> </a:t>
            </a:r>
            <a:r>
              <a:rPr sz="2400" dirty="0">
                <a:latin typeface="Palatino Linotype"/>
                <a:cs typeface="Palatino Linotype"/>
              </a:rPr>
              <a:t>(used</a:t>
            </a:r>
            <a:r>
              <a:rPr sz="2400" spc="-30" dirty="0">
                <a:latin typeface="Palatino Linotype"/>
                <a:cs typeface="Palatino Linotype"/>
              </a:rPr>
              <a:t> </a:t>
            </a:r>
            <a:r>
              <a:rPr sz="2400" dirty="0">
                <a:latin typeface="Palatino Linotype"/>
                <a:cs typeface="Palatino Linotype"/>
              </a:rPr>
              <a:t>to</a:t>
            </a:r>
            <a:r>
              <a:rPr sz="2400" spc="-25" dirty="0">
                <a:latin typeface="Palatino Linotype"/>
                <a:cs typeface="Palatino Linotype"/>
              </a:rPr>
              <a:t> </a:t>
            </a:r>
            <a:r>
              <a:rPr sz="2400" dirty="0">
                <a:latin typeface="Palatino Linotype"/>
                <a:cs typeface="Palatino Linotype"/>
              </a:rPr>
              <a:t>train</a:t>
            </a:r>
            <a:r>
              <a:rPr sz="2400" spc="40" dirty="0">
                <a:latin typeface="Palatino Linotype"/>
                <a:cs typeface="Palatino Linotype"/>
              </a:rPr>
              <a:t> </a:t>
            </a:r>
            <a:r>
              <a:rPr sz="2400" spc="-25" dirty="0">
                <a:latin typeface="Palatino Linotype"/>
                <a:cs typeface="Palatino Linotype"/>
              </a:rPr>
              <a:t>GPT-2)</a:t>
            </a:r>
            <a:endParaRPr sz="2400">
              <a:latin typeface="Palatino Linotype"/>
              <a:cs typeface="Palatino Linotype"/>
            </a:endParaRPr>
          </a:p>
          <a:p>
            <a:pPr marL="698500" lvl="1" indent="-228600">
              <a:lnSpc>
                <a:spcPct val="100000"/>
              </a:lnSpc>
              <a:spcBef>
                <a:spcPts val="300"/>
              </a:spcBef>
              <a:buFont typeface="Arial"/>
              <a:buChar char="•"/>
              <a:tabLst>
                <a:tab pos="698500" algn="l"/>
              </a:tabLst>
            </a:pPr>
            <a:r>
              <a:rPr sz="2000" spc="-10" dirty="0">
                <a:latin typeface="Palatino Linotype"/>
                <a:cs typeface="Palatino Linotype"/>
              </a:rPr>
              <a:t>Pages</a:t>
            </a:r>
            <a:r>
              <a:rPr sz="2000" spc="-35" dirty="0">
                <a:latin typeface="Palatino Linotype"/>
                <a:cs typeface="Palatino Linotype"/>
              </a:rPr>
              <a:t> </a:t>
            </a:r>
            <a:r>
              <a:rPr sz="2000" dirty="0">
                <a:latin typeface="Palatino Linotype"/>
                <a:cs typeface="Palatino Linotype"/>
              </a:rPr>
              <a:t>that</a:t>
            </a:r>
            <a:r>
              <a:rPr sz="2000" spc="-60" dirty="0">
                <a:latin typeface="Palatino Linotype"/>
                <a:cs typeface="Palatino Linotype"/>
              </a:rPr>
              <a:t> </a:t>
            </a:r>
            <a:r>
              <a:rPr sz="2000" dirty="0">
                <a:latin typeface="Palatino Linotype"/>
                <a:cs typeface="Palatino Linotype"/>
              </a:rPr>
              <a:t>are</a:t>
            </a:r>
            <a:r>
              <a:rPr sz="2000" spc="-70" dirty="0">
                <a:latin typeface="Palatino Linotype"/>
                <a:cs typeface="Palatino Linotype"/>
              </a:rPr>
              <a:t> </a:t>
            </a:r>
            <a:r>
              <a:rPr sz="2000" dirty="0">
                <a:latin typeface="Palatino Linotype"/>
                <a:cs typeface="Palatino Linotype"/>
              </a:rPr>
              <a:t>outgoing</a:t>
            </a:r>
            <a:r>
              <a:rPr sz="2000" spc="-5" dirty="0">
                <a:latin typeface="Palatino Linotype"/>
                <a:cs typeface="Palatino Linotype"/>
              </a:rPr>
              <a:t> </a:t>
            </a:r>
            <a:r>
              <a:rPr sz="2000" dirty="0">
                <a:latin typeface="Palatino Linotype"/>
                <a:cs typeface="Palatino Linotype"/>
              </a:rPr>
              <a:t>links</a:t>
            </a:r>
            <a:r>
              <a:rPr sz="2000" spc="-40" dirty="0">
                <a:latin typeface="Palatino Linotype"/>
                <a:cs typeface="Palatino Linotype"/>
              </a:rPr>
              <a:t> </a:t>
            </a:r>
            <a:r>
              <a:rPr sz="2000" dirty="0">
                <a:latin typeface="Palatino Linotype"/>
                <a:cs typeface="Palatino Linotype"/>
              </a:rPr>
              <a:t>from</a:t>
            </a:r>
            <a:r>
              <a:rPr sz="2000" spc="-65" dirty="0">
                <a:latin typeface="Palatino Linotype"/>
                <a:cs typeface="Palatino Linotype"/>
              </a:rPr>
              <a:t> </a:t>
            </a:r>
            <a:r>
              <a:rPr sz="2000" dirty="0">
                <a:latin typeface="Palatino Linotype"/>
                <a:cs typeface="Palatino Linotype"/>
              </a:rPr>
              <a:t>Reddit</a:t>
            </a:r>
            <a:r>
              <a:rPr sz="2000" spc="-60" dirty="0">
                <a:latin typeface="Palatino Linotype"/>
                <a:cs typeface="Palatino Linotype"/>
              </a:rPr>
              <a:t> </a:t>
            </a:r>
            <a:r>
              <a:rPr sz="2000" dirty="0">
                <a:latin typeface="Palatino Linotype"/>
                <a:cs typeface="Palatino Linotype"/>
              </a:rPr>
              <a:t>posts</a:t>
            </a:r>
            <a:r>
              <a:rPr sz="2000" spc="-40" dirty="0">
                <a:latin typeface="Palatino Linotype"/>
                <a:cs typeface="Palatino Linotype"/>
              </a:rPr>
              <a:t> </a:t>
            </a:r>
            <a:r>
              <a:rPr sz="2000" dirty="0">
                <a:latin typeface="Palatino Linotype"/>
                <a:cs typeface="Palatino Linotype"/>
              </a:rPr>
              <a:t>with</a:t>
            </a:r>
            <a:r>
              <a:rPr sz="2000" spc="15" dirty="0">
                <a:latin typeface="Palatino Linotype"/>
                <a:cs typeface="Palatino Linotype"/>
              </a:rPr>
              <a:t> </a:t>
            </a:r>
            <a:r>
              <a:rPr sz="2000" dirty="0">
                <a:latin typeface="Palatino Linotype"/>
                <a:cs typeface="Palatino Linotype"/>
              </a:rPr>
              <a:t>&gt;3</a:t>
            </a:r>
            <a:r>
              <a:rPr sz="2000" spc="-40" dirty="0">
                <a:latin typeface="Palatino Linotype"/>
                <a:cs typeface="Palatino Linotype"/>
              </a:rPr>
              <a:t> </a:t>
            </a:r>
            <a:r>
              <a:rPr sz="2000" dirty="0">
                <a:latin typeface="Palatino Linotype"/>
                <a:cs typeface="Palatino Linotype"/>
              </a:rPr>
              <a:t>karma</a:t>
            </a:r>
            <a:r>
              <a:rPr sz="2000" spc="-45" dirty="0">
                <a:latin typeface="Palatino Linotype"/>
                <a:cs typeface="Palatino Linotype"/>
              </a:rPr>
              <a:t> </a:t>
            </a:r>
            <a:r>
              <a:rPr sz="2000" spc="-10" dirty="0">
                <a:latin typeface="Palatino Linotype"/>
                <a:cs typeface="Palatino Linotype"/>
              </a:rPr>
              <a:t>points</a:t>
            </a:r>
            <a:endParaRPr sz="2000">
              <a:latin typeface="Palatino Linotype"/>
              <a:cs typeface="Palatino Linotype"/>
            </a:endParaRPr>
          </a:p>
          <a:p>
            <a:pPr marL="698500" lvl="1" indent="-228600">
              <a:lnSpc>
                <a:spcPct val="100000"/>
              </a:lnSpc>
              <a:spcBef>
                <a:spcPts val="225"/>
              </a:spcBef>
              <a:buFont typeface="Arial"/>
              <a:buChar char="•"/>
              <a:tabLst>
                <a:tab pos="698500" algn="l"/>
              </a:tabLst>
            </a:pPr>
            <a:r>
              <a:rPr sz="2000" dirty="0">
                <a:latin typeface="Palatino Linotype"/>
                <a:cs typeface="Palatino Linotype"/>
              </a:rPr>
              <a:t>8</a:t>
            </a:r>
            <a:r>
              <a:rPr sz="2000" spc="-40" dirty="0">
                <a:latin typeface="Palatino Linotype"/>
                <a:cs typeface="Palatino Linotype"/>
              </a:rPr>
              <a:t> </a:t>
            </a:r>
            <a:r>
              <a:rPr sz="2000" dirty="0">
                <a:latin typeface="Palatino Linotype"/>
                <a:cs typeface="Palatino Linotype"/>
              </a:rPr>
              <a:t>Million</a:t>
            </a:r>
            <a:r>
              <a:rPr sz="2000" spc="-50" dirty="0">
                <a:latin typeface="Palatino Linotype"/>
                <a:cs typeface="Palatino Linotype"/>
              </a:rPr>
              <a:t> </a:t>
            </a:r>
            <a:r>
              <a:rPr sz="2000" dirty="0">
                <a:latin typeface="Palatino Linotype"/>
                <a:cs typeface="Palatino Linotype"/>
              </a:rPr>
              <a:t>pages,</a:t>
            </a:r>
            <a:r>
              <a:rPr sz="2000" spc="-50" dirty="0">
                <a:latin typeface="Palatino Linotype"/>
                <a:cs typeface="Palatino Linotype"/>
              </a:rPr>
              <a:t> </a:t>
            </a:r>
            <a:r>
              <a:rPr sz="2000" dirty="0">
                <a:latin typeface="Palatino Linotype"/>
                <a:cs typeface="Palatino Linotype"/>
              </a:rPr>
              <a:t>40GB</a:t>
            </a:r>
            <a:r>
              <a:rPr sz="2000" spc="-35" dirty="0">
                <a:latin typeface="Palatino Linotype"/>
                <a:cs typeface="Palatino Linotype"/>
              </a:rPr>
              <a:t> </a:t>
            </a:r>
            <a:r>
              <a:rPr sz="2000" dirty="0">
                <a:latin typeface="Palatino Linotype"/>
                <a:cs typeface="Palatino Linotype"/>
              </a:rPr>
              <a:t>of </a:t>
            </a:r>
            <a:r>
              <a:rPr sz="2000" spc="-20" dirty="0">
                <a:latin typeface="Palatino Linotype"/>
                <a:cs typeface="Palatino Linotype"/>
              </a:rPr>
              <a:t>text</a:t>
            </a:r>
            <a:endParaRPr sz="2000">
              <a:latin typeface="Palatino Linotype"/>
              <a:cs typeface="Palatino Linotype"/>
            </a:endParaRPr>
          </a:p>
          <a:p>
            <a:pPr marL="698500" lvl="1" indent="-228600">
              <a:lnSpc>
                <a:spcPct val="100000"/>
              </a:lnSpc>
              <a:spcBef>
                <a:spcPts val="305"/>
              </a:spcBef>
              <a:buFont typeface="Arial"/>
              <a:buChar char="•"/>
              <a:tabLst>
                <a:tab pos="698500" algn="l"/>
              </a:tabLst>
            </a:pPr>
            <a:r>
              <a:rPr sz="2000" dirty="0">
                <a:latin typeface="Palatino Linotype"/>
                <a:cs typeface="Palatino Linotype"/>
              </a:rPr>
              <a:t>Replicated</a:t>
            </a:r>
            <a:r>
              <a:rPr sz="2000" spc="-50" dirty="0">
                <a:latin typeface="Palatino Linotype"/>
                <a:cs typeface="Palatino Linotype"/>
              </a:rPr>
              <a:t> </a:t>
            </a:r>
            <a:r>
              <a:rPr sz="2000" dirty="0">
                <a:latin typeface="Palatino Linotype"/>
                <a:cs typeface="Palatino Linotype"/>
              </a:rPr>
              <a:t>as</a:t>
            </a:r>
            <a:r>
              <a:rPr sz="2000" spc="-45" dirty="0">
                <a:latin typeface="Palatino Linotype"/>
                <a:cs typeface="Palatino Linotype"/>
              </a:rPr>
              <a:t> </a:t>
            </a:r>
            <a:r>
              <a:rPr sz="2000" spc="-10" dirty="0">
                <a:latin typeface="Palatino Linotype"/>
                <a:cs typeface="Palatino Linotype"/>
              </a:rPr>
              <a:t>“OpenWebText”</a:t>
            </a:r>
            <a:endParaRPr sz="2000">
              <a:latin typeface="Palatino Linotype"/>
              <a:cs typeface="Palatino Linotype"/>
            </a:endParaRPr>
          </a:p>
          <a:p>
            <a:pPr lvl="1">
              <a:lnSpc>
                <a:spcPct val="100000"/>
              </a:lnSpc>
              <a:spcBef>
                <a:spcPts val="660"/>
              </a:spcBef>
              <a:buFont typeface="Arial"/>
              <a:buChar char="•"/>
            </a:pPr>
            <a:endParaRPr sz="2000">
              <a:latin typeface="Palatino Linotype"/>
              <a:cs typeface="Palatino Linotype"/>
            </a:endParaRPr>
          </a:p>
          <a:p>
            <a:pPr marL="240029" indent="-227329">
              <a:lnSpc>
                <a:spcPct val="100000"/>
              </a:lnSpc>
              <a:buFont typeface="Arial"/>
              <a:buChar char="•"/>
              <a:tabLst>
                <a:tab pos="240029" algn="l"/>
              </a:tabLst>
            </a:pPr>
            <a:r>
              <a:rPr sz="2400" spc="-25" dirty="0">
                <a:latin typeface="Palatino Linotype"/>
                <a:cs typeface="Palatino Linotype"/>
              </a:rPr>
              <a:t>Train</a:t>
            </a:r>
            <a:r>
              <a:rPr sz="2400" spc="-35" dirty="0">
                <a:latin typeface="Palatino Linotype"/>
                <a:cs typeface="Palatino Linotype"/>
              </a:rPr>
              <a:t> </a:t>
            </a:r>
            <a:r>
              <a:rPr sz="2400" dirty="0">
                <a:latin typeface="Palatino Linotype"/>
                <a:cs typeface="Palatino Linotype"/>
              </a:rPr>
              <a:t>on</a:t>
            </a:r>
            <a:r>
              <a:rPr sz="2400" spc="-95" dirty="0">
                <a:latin typeface="Palatino Linotype"/>
                <a:cs typeface="Palatino Linotype"/>
              </a:rPr>
              <a:t> </a:t>
            </a:r>
            <a:r>
              <a:rPr sz="2400" dirty="0">
                <a:latin typeface="Palatino Linotype"/>
                <a:cs typeface="Palatino Linotype"/>
              </a:rPr>
              <a:t>the</a:t>
            </a:r>
            <a:r>
              <a:rPr sz="2400" spc="-10" dirty="0">
                <a:latin typeface="Palatino Linotype"/>
                <a:cs typeface="Palatino Linotype"/>
              </a:rPr>
              <a:t> internet?</a:t>
            </a:r>
            <a:endParaRPr sz="2400">
              <a:latin typeface="Palatino Linotype"/>
              <a:cs typeface="Palatino Linotype"/>
            </a:endParaRPr>
          </a:p>
          <a:p>
            <a:pPr marL="240029" indent="-227329">
              <a:lnSpc>
                <a:spcPct val="100000"/>
              </a:lnSpc>
              <a:spcBef>
                <a:spcPts val="725"/>
              </a:spcBef>
              <a:buFont typeface="Arial"/>
              <a:buChar char="•"/>
              <a:tabLst>
                <a:tab pos="240029" algn="l"/>
              </a:tabLst>
            </a:pPr>
            <a:r>
              <a:rPr sz="2400" b="1" spc="-10" dirty="0">
                <a:solidFill>
                  <a:srgbClr val="001F5F"/>
                </a:solidFill>
                <a:latin typeface="Palatino Linotype"/>
                <a:cs typeface="Palatino Linotype"/>
              </a:rPr>
              <a:t>CommonCrawl</a:t>
            </a:r>
            <a:endParaRPr sz="2400">
              <a:latin typeface="Palatino Linotype"/>
              <a:cs typeface="Palatino Linotype"/>
            </a:endParaRPr>
          </a:p>
          <a:p>
            <a:pPr marL="698500" lvl="1" indent="-228600">
              <a:lnSpc>
                <a:spcPct val="100000"/>
              </a:lnSpc>
              <a:spcBef>
                <a:spcPts val="300"/>
              </a:spcBef>
              <a:buFont typeface="Arial"/>
              <a:buChar char="•"/>
              <a:tabLst>
                <a:tab pos="698500" algn="l"/>
              </a:tabLst>
            </a:pPr>
            <a:r>
              <a:rPr sz="2000" dirty="0">
                <a:latin typeface="Palatino Linotype"/>
                <a:cs typeface="Palatino Linotype"/>
              </a:rPr>
              <a:t>Every</a:t>
            </a:r>
            <a:r>
              <a:rPr sz="2000" spc="-30" dirty="0">
                <a:latin typeface="Palatino Linotype"/>
                <a:cs typeface="Palatino Linotype"/>
              </a:rPr>
              <a:t> </a:t>
            </a:r>
            <a:r>
              <a:rPr sz="2000" dirty="0">
                <a:latin typeface="Palatino Linotype"/>
                <a:cs typeface="Palatino Linotype"/>
              </a:rPr>
              <a:t>month,</a:t>
            </a:r>
            <a:r>
              <a:rPr sz="2000" spc="-15" dirty="0">
                <a:latin typeface="Palatino Linotype"/>
                <a:cs typeface="Palatino Linotype"/>
              </a:rPr>
              <a:t> </a:t>
            </a:r>
            <a:r>
              <a:rPr sz="2000" dirty="0">
                <a:latin typeface="Palatino Linotype"/>
                <a:cs typeface="Palatino Linotype"/>
              </a:rPr>
              <a:t>run</a:t>
            </a:r>
            <a:r>
              <a:rPr sz="2000" spc="-75" dirty="0">
                <a:latin typeface="Palatino Linotype"/>
                <a:cs typeface="Palatino Linotype"/>
              </a:rPr>
              <a:t> </a:t>
            </a:r>
            <a:r>
              <a:rPr sz="2000" dirty="0">
                <a:latin typeface="Palatino Linotype"/>
                <a:cs typeface="Palatino Linotype"/>
              </a:rPr>
              <a:t>a</a:t>
            </a:r>
            <a:r>
              <a:rPr sz="2000" spc="-65" dirty="0">
                <a:latin typeface="Palatino Linotype"/>
                <a:cs typeface="Palatino Linotype"/>
              </a:rPr>
              <a:t> </a:t>
            </a:r>
            <a:r>
              <a:rPr sz="2000" dirty="0">
                <a:latin typeface="Palatino Linotype"/>
                <a:cs typeface="Palatino Linotype"/>
              </a:rPr>
              <a:t>web</a:t>
            </a:r>
            <a:r>
              <a:rPr sz="2000" spc="-85" dirty="0">
                <a:latin typeface="Palatino Linotype"/>
                <a:cs typeface="Palatino Linotype"/>
              </a:rPr>
              <a:t> </a:t>
            </a:r>
            <a:r>
              <a:rPr sz="2000" spc="-10" dirty="0">
                <a:latin typeface="Palatino Linotype"/>
                <a:cs typeface="Palatino Linotype"/>
              </a:rPr>
              <a:t>crawl</a:t>
            </a:r>
            <a:endParaRPr sz="2000">
              <a:latin typeface="Palatino Linotype"/>
              <a:cs typeface="Palatino Linotype"/>
            </a:endParaRPr>
          </a:p>
          <a:p>
            <a:pPr marL="698500" lvl="1" indent="-228600">
              <a:lnSpc>
                <a:spcPct val="100000"/>
              </a:lnSpc>
              <a:spcBef>
                <a:spcPts val="229"/>
              </a:spcBef>
              <a:buFont typeface="Arial"/>
              <a:buChar char="•"/>
              <a:tabLst>
                <a:tab pos="698500" algn="l"/>
              </a:tabLst>
            </a:pPr>
            <a:r>
              <a:rPr sz="2000" dirty="0">
                <a:latin typeface="Palatino Linotype"/>
                <a:cs typeface="Palatino Linotype"/>
              </a:rPr>
              <a:t>A</a:t>
            </a:r>
            <a:r>
              <a:rPr sz="2000" spc="-130" dirty="0">
                <a:latin typeface="Palatino Linotype"/>
                <a:cs typeface="Palatino Linotype"/>
              </a:rPr>
              <a:t> </a:t>
            </a:r>
            <a:r>
              <a:rPr sz="2000" spc="-10" dirty="0">
                <a:latin typeface="Palatino Linotype"/>
                <a:cs typeface="Palatino Linotype"/>
              </a:rPr>
              <a:t>non-</a:t>
            </a:r>
            <a:r>
              <a:rPr sz="2000" dirty="0">
                <a:latin typeface="Palatino Linotype"/>
                <a:cs typeface="Palatino Linotype"/>
              </a:rPr>
              <a:t>trivial</a:t>
            </a:r>
            <a:r>
              <a:rPr sz="2000" spc="-50" dirty="0">
                <a:latin typeface="Palatino Linotype"/>
                <a:cs typeface="Palatino Linotype"/>
              </a:rPr>
              <a:t> </a:t>
            </a:r>
            <a:r>
              <a:rPr sz="2000" dirty="0">
                <a:latin typeface="Palatino Linotype"/>
                <a:cs typeface="Palatino Linotype"/>
              </a:rPr>
              <a:t>process</a:t>
            </a:r>
            <a:r>
              <a:rPr sz="2000" spc="-55" dirty="0">
                <a:latin typeface="Palatino Linotype"/>
                <a:cs typeface="Palatino Linotype"/>
              </a:rPr>
              <a:t> </a:t>
            </a:r>
            <a:r>
              <a:rPr sz="2000" dirty="0">
                <a:latin typeface="Palatino Linotype"/>
                <a:cs typeface="Palatino Linotype"/>
              </a:rPr>
              <a:t>to</a:t>
            </a:r>
            <a:r>
              <a:rPr sz="2000" spc="-10" dirty="0">
                <a:latin typeface="Palatino Linotype"/>
                <a:cs typeface="Palatino Linotype"/>
              </a:rPr>
              <a:t> </a:t>
            </a:r>
            <a:r>
              <a:rPr sz="2000" dirty="0">
                <a:latin typeface="Palatino Linotype"/>
                <a:cs typeface="Palatino Linotype"/>
              </a:rPr>
              <a:t>crawl</a:t>
            </a:r>
            <a:r>
              <a:rPr sz="2000" spc="-15" dirty="0">
                <a:latin typeface="Palatino Linotype"/>
                <a:cs typeface="Palatino Linotype"/>
              </a:rPr>
              <a:t> </a:t>
            </a:r>
            <a:r>
              <a:rPr sz="2000" dirty="0">
                <a:latin typeface="Palatino Linotype"/>
                <a:cs typeface="Palatino Linotype"/>
              </a:rPr>
              <a:t>a</a:t>
            </a:r>
            <a:r>
              <a:rPr sz="2000" spc="-65" dirty="0">
                <a:latin typeface="Palatino Linotype"/>
                <a:cs typeface="Palatino Linotype"/>
              </a:rPr>
              <a:t> </a:t>
            </a:r>
            <a:r>
              <a:rPr sz="2000" dirty="0">
                <a:latin typeface="Palatino Linotype"/>
                <a:cs typeface="Palatino Linotype"/>
              </a:rPr>
              <a:t>live</a:t>
            </a:r>
            <a:r>
              <a:rPr sz="2000" spc="-15" dirty="0">
                <a:latin typeface="Palatino Linotype"/>
                <a:cs typeface="Palatino Linotype"/>
              </a:rPr>
              <a:t> </a:t>
            </a:r>
            <a:r>
              <a:rPr sz="2000" spc="-10" dirty="0">
                <a:latin typeface="Palatino Linotype"/>
                <a:cs typeface="Palatino Linotype"/>
              </a:rPr>
              <a:t>surface</a:t>
            </a:r>
            <a:endParaRPr sz="2000">
              <a:latin typeface="Palatino Linotype"/>
              <a:cs typeface="Palatino Linotype"/>
            </a:endParaRPr>
          </a:p>
        </p:txBody>
      </p:sp>
      <p:pic>
        <p:nvPicPr>
          <p:cNvPr id="4" name="object 4" descr="A page of a website  AI-generated content may be incorrect.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7162800" y="3200400"/>
            <a:ext cx="3914775" cy="2771775"/>
          </a:xfrm>
          <a:prstGeom prst="rect">
            <a:avLst/>
          </a:prstGeom>
          <a:ln>
            <a:solidFill>
              <a:schemeClr val="tx1"/>
            </a:solidFill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xfrm>
            <a:off x="838200" y="681016"/>
            <a:ext cx="10515600" cy="693780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spc="-45" dirty="0">
                <a:solidFill>
                  <a:srgbClr val="001F5F"/>
                </a:solidFill>
                <a:latin typeface="Palatino Linotype" panose="02040502050505030304" pitchFamily="18" charset="0"/>
              </a:rPr>
              <a:t>Web</a:t>
            </a:r>
            <a:r>
              <a:rPr spc="-225" dirty="0">
                <a:solidFill>
                  <a:srgbClr val="001F5F"/>
                </a:solidFill>
                <a:latin typeface="Palatino Linotype" panose="02040502050505030304" pitchFamily="18" charset="0"/>
              </a:rPr>
              <a:t> </a:t>
            </a:r>
            <a:r>
              <a:rPr spc="-20" dirty="0">
                <a:solidFill>
                  <a:srgbClr val="001F5F"/>
                </a:solidFill>
                <a:latin typeface="Palatino Linotype" panose="02040502050505030304" pitchFamily="18" charset="0"/>
              </a:rPr>
              <a:t>data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917575" y="1763030"/>
            <a:ext cx="9460230" cy="3771265"/>
          </a:xfrm>
          <a:prstGeom prst="rect">
            <a:avLst/>
          </a:prstGeom>
        </p:spPr>
        <p:txBody>
          <a:bodyPr vert="horz" wrap="square" lIns="0" tIns="53975" rIns="0" bIns="0" rtlCol="0">
            <a:spAutoFit/>
          </a:bodyPr>
          <a:lstStyle/>
          <a:p>
            <a:pPr marL="240029" indent="-227329">
              <a:lnSpc>
                <a:spcPct val="100000"/>
              </a:lnSpc>
              <a:spcBef>
                <a:spcPts val="425"/>
              </a:spcBef>
              <a:buFont typeface="Arial"/>
              <a:buChar char="•"/>
              <a:tabLst>
                <a:tab pos="240029" algn="l"/>
              </a:tabLst>
            </a:pPr>
            <a:r>
              <a:rPr sz="2400" b="1" dirty="0">
                <a:solidFill>
                  <a:srgbClr val="001F5F"/>
                </a:solidFill>
                <a:latin typeface="Palatino Linotype"/>
                <a:cs typeface="Palatino Linotype"/>
              </a:rPr>
              <a:t>Collosal</a:t>
            </a:r>
            <a:r>
              <a:rPr sz="2400" b="1" spc="-30" dirty="0">
                <a:solidFill>
                  <a:srgbClr val="001F5F"/>
                </a:solidFill>
                <a:latin typeface="Palatino Linotype"/>
                <a:cs typeface="Palatino Linotype"/>
              </a:rPr>
              <a:t> </a:t>
            </a:r>
            <a:r>
              <a:rPr sz="2400" b="1" dirty="0">
                <a:solidFill>
                  <a:srgbClr val="001F5F"/>
                </a:solidFill>
                <a:latin typeface="Palatino Linotype"/>
                <a:cs typeface="Palatino Linotype"/>
              </a:rPr>
              <a:t>Clean</a:t>
            </a:r>
            <a:r>
              <a:rPr sz="2400" b="1" spc="-100" dirty="0">
                <a:solidFill>
                  <a:srgbClr val="001F5F"/>
                </a:solidFill>
                <a:latin typeface="Palatino Linotype"/>
                <a:cs typeface="Palatino Linotype"/>
              </a:rPr>
              <a:t> </a:t>
            </a:r>
            <a:r>
              <a:rPr sz="2400" b="1" dirty="0">
                <a:solidFill>
                  <a:srgbClr val="001F5F"/>
                </a:solidFill>
                <a:latin typeface="Palatino Linotype"/>
                <a:cs typeface="Palatino Linotype"/>
              </a:rPr>
              <a:t>Crawled</a:t>
            </a:r>
            <a:r>
              <a:rPr sz="2400" b="1" spc="-35" dirty="0">
                <a:solidFill>
                  <a:srgbClr val="001F5F"/>
                </a:solidFill>
                <a:latin typeface="Palatino Linotype"/>
                <a:cs typeface="Palatino Linotype"/>
              </a:rPr>
              <a:t> </a:t>
            </a:r>
            <a:r>
              <a:rPr sz="2400" b="1" dirty="0">
                <a:solidFill>
                  <a:srgbClr val="001F5F"/>
                </a:solidFill>
                <a:latin typeface="Palatino Linotype"/>
                <a:cs typeface="Palatino Linotype"/>
              </a:rPr>
              <a:t>Corpus</a:t>
            </a:r>
            <a:r>
              <a:rPr lang="en-US" sz="2400" b="1" dirty="0">
                <a:solidFill>
                  <a:srgbClr val="001F5F"/>
                </a:solidFill>
                <a:latin typeface="Palatino Linotype"/>
                <a:cs typeface="Palatino Linotype"/>
              </a:rPr>
              <a:t> (C4)</a:t>
            </a:r>
            <a:endParaRPr sz="2400" dirty="0">
              <a:latin typeface="Palatino Linotype"/>
              <a:cs typeface="Palatino Linotype"/>
            </a:endParaRPr>
          </a:p>
          <a:p>
            <a:pPr marL="698500" lvl="1" indent="-228600">
              <a:lnSpc>
                <a:spcPct val="100000"/>
              </a:lnSpc>
              <a:spcBef>
                <a:spcPts val="300"/>
              </a:spcBef>
              <a:buFont typeface="Arial"/>
              <a:buChar char="•"/>
              <a:tabLst>
                <a:tab pos="698500" algn="l"/>
              </a:tabLst>
            </a:pPr>
            <a:r>
              <a:rPr sz="2000" spc="-10" dirty="0">
                <a:latin typeface="Palatino Linotype"/>
                <a:cs typeface="Palatino Linotype"/>
              </a:rPr>
              <a:t>Filtered</a:t>
            </a:r>
            <a:r>
              <a:rPr sz="2000" spc="-114" dirty="0">
                <a:latin typeface="Palatino Linotype"/>
                <a:cs typeface="Palatino Linotype"/>
              </a:rPr>
              <a:t> </a:t>
            </a:r>
            <a:r>
              <a:rPr sz="2000" dirty="0">
                <a:latin typeface="Palatino Linotype"/>
                <a:cs typeface="Palatino Linotype"/>
              </a:rPr>
              <a:t>April</a:t>
            </a:r>
            <a:r>
              <a:rPr sz="2000" spc="-15" dirty="0">
                <a:latin typeface="Palatino Linotype"/>
                <a:cs typeface="Palatino Linotype"/>
              </a:rPr>
              <a:t> </a:t>
            </a:r>
            <a:r>
              <a:rPr sz="2000" dirty="0">
                <a:latin typeface="Palatino Linotype"/>
                <a:cs typeface="Palatino Linotype"/>
              </a:rPr>
              <a:t>2019</a:t>
            </a:r>
            <a:r>
              <a:rPr sz="2000" spc="-50" dirty="0">
                <a:latin typeface="Palatino Linotype"/>
                <a:cs typeface="Palatino Linotype"/>
              </a:rPr>
              <a:t> </a:t>
            </a:r>
            <a:r>
              <a:rPr sz="2000" dirty="0">
                <a:latin typeface="Palatino Linotype"/>
                <a:cs typeface="Palatino Linotype"/>
              </a:rPr>
              <a:t>snapshot</a:t>
            </a:r>
            <a:r>
              <a:rPr sz="2000" spc="-10" dirty="0">
                <a:latin typeface="Palatino Linotype"/>
                <a:cs typeface="Palatino Linotype"/>
              </a:rPr>
              <a:t> </a:t>
            </a:r>
            <a:r>
              <a:rPr sz="2000" dirty="0">
                <a:latin typeface="Palatino Linotype"/>
                <a:cs typeface="Palatino Linotype"/>
              </a:rPr>
              <a:t>(1.4</a:t>
            </a:r>
            <a:r>
              <a:rPr sz="2000" spc="-50" dirty="0">
                <a:latin typeface="Palatino Linotype"/>
                <a:cs typeface="Palatino Linotype"/>
              </a:rPr>
              <a:t> </a:t>
            </a:r>
            <a:r>
              <a:rPr sz="2000" dirty="0">
                <a:latin typeface="Palatino Linotype"/>
                <a:cs typeface="Palatino Linotype"/>
              </a:rPr>
              <a:t>T</a:t>
            </a:r>
            <a:r>
              <a:rPr sz="2000" spc="-50" dirty="0">
                <a:latin typeface="Palatino Linotype"/>
                <a:cs typeface="Palatino Linotype"/>
              </a:rPr>
              <a:t> </a:t>
            </a:r>
            <a:r>
              <a:rPr sz="2000" dirty="0">
                <a:latin typeface="Palatino Linotype"/>
                <a:cs typeface="Palatino Linotype"/>
              </a:rPr>
              <a:t>tokens)</a:t>
            </a:r>
            <a:r>
              <a:rPr sz="2000" spc="-15" dirty="0">
                <a:latin typeface="Palatino Linotype"/>
                <a:cs typeface="Palatino Linotype"/>
              </a:rPr>
              <a:t> </a:t>
            </a:r>
            <a:r>
              <a:rPr sz="2000" dirty="0">
                <a:latin typeface="Palatino Linotype"/>
                <a:cs typeface="Palatino Linotype"/>
              </a:rPr>
              <a:t>with </a:t>
            </a:r>
            <a:r>
              <a:rPr sz="2000" spc="-10" dirty="0">
                <a:latin typeface="Palatino Linotype"/>
                <a:cs typeface="Palatino Linotype"/>
              </a:rPr>
              <a:t>various</a:t>
            </a:r>
            <a:r>
              <a:rPr sz="2000" spc="-45" dirty="0">
                <a:latin typeface="Palatino Linotype"/>
                <a:cs typeface="Palatino Linotype"/>
              </a:rPr>
              <a:t> </a:t>
            </a:r>
            <a:r>
              <a:rPr sz="2000" spc="-10" dirty="0">
                <a:latin typeface="Palatino Linotype"/>
                <a:cs typeface="Palatino Linotype"/>
              </a:rPr>
              <a:t>heuristics</a:t>
            </a:r>
            <a:endParaRPr sz="2000" dirty="0">
              <a:latin typeface="Palatino Linotype"/>
              <a:cs typeface="Palatino Linotype"/>
            </a:endParaRPr>
          </a:p>
          <a:p>
            <a:pPr lvl="1">
              <a:lnSpc>
                <a:spcPct val="100000"/>
              </a:lnSpc>
              <a:spcBef>
                <a:spcPts val="655"/>
              </a:spcBef>
              <a:buFont typeface="Arial"/>
              <a:buChar char="•"/>
            </a:pPr>
            <a:endParaRPr sz="2000" dirty="0">
              <a:latin typeface="Palatino Linotype"/>
              <a:cs typeface="Palatino Linotype"/>
            </a:endParaRPr>
          </a:p>
          <a:p>
            <a:pPr marL="240029" indent="-227329">
              <a:lnSpc>
                <a:spcPct val="100000"/>
              </a:lnSpc>
              <a:spcBef>
                <a:spcPts val="5"/>
              </a:spcBef>
              <a:buFont typeface="Arial"/>
              <a:buChar char="•"/>
              <a:tabLst>
                <a:tab pos="240029" algn="l"/>
              </a:tabLst>
            </a:pPr>
            <a:r>
              <a:rPr sz="2400" dirty="0">
                <a:latin typeface="Palatino Linotype"/>
                <a:cs typeface="Palatino Linotype"/>
              </a:rPr>
              <a:t>What</a:t>
            </a:r>
            <a:r>
              <a:rPr sz="2400" spc="-80" dirty="0">
                <a:latin typeface="Palatino Linotype"/>
                <a:cs typeface="Palatino Linotype"/>
              </a:rPr>
              <a:t> </a:t>
            </a:r>
            <a:r>
              <a:rPr sz="2400" dirty="0">
                <a:latin typeface="Palatino Linotype"/>
                <a:cs typeface="Palatino Linotype"/>
              </a:rPr>
              <a:t>was</a:t>
            </a:r>
            <a:r>
              <a:rPr sz="2400" spc="-85" dirty="0">
                <a:latin typeface="Palatino Linotype"/>
                <a:cs typeface="Palatino Linotype"/>
              </a:rPr>
              <a:t> </a:t>
            </a:r>
            <a:r>
              <a:rPr sz="2400" dirty="0">
                <a:latin typeface="Palatino Linotype"/>
                <a:cs typeface="Palatino Linotype"/>
              </a:rPr>
              <a:t>GPT3</a:t>
            </a:r>
            <a:r>
              <a:rPr sz="2400" spc="-40" dirty="0">
                <a:latin typeface="Palatino Linotype"/>
                <a:cs typeface="Palatino Linotype"/>
              </a:rPr>
              <a:t> </a:t>
            </a:r>
            <a:r>
              <a:rPr sz="2400" dirty="0">
                <a:latin typeface="Palatino Linotype"/>
                <a:cs typeface="Palatino Linotype"/>
              </a:rPr>
              <a:t>trained</a:t>
            </a:r>
            <a:r>
              <a:rPr sz="2400" spc="-20" dirty="0">
                <a:latin typeface="Palatino Linotype"/>
                <a:cs typeface="Palatino Linotype"/>
              </a:rPr>
              <a:t> </a:t>
            </a:r>
            <a:r>
              <a:rPr sz="2400" spc="-25" dirty="0">
                <a:latin typeface="Palatino Linotype"/>
                <a:cs typeface="Palatino Linotype"/>
              </a:rPr>
              <a:t>on?</a:t>
            </a:r>
            <a:endParaRPr sz="2400" dirty="0">
              <a:latin typeface="Palatino Linotype"/>
              <a:cs typeface="Palatino Linotype"/>
            </a:endParaRPr>
          </a:p>
          <a:p>
            <a:pPr marL="698500" lvl="1" indent="-228600">
              <a:lnSpc>
                <a:spcPct val="100000"/>
              </a:lnSpc>
              <a:spcBef>
                <a:spcPts val="300"/>
              </a:spcBef>
              <a:buFont typeface="Arial"/>
              <a:buChar char="•"/>
              <a:tabLst>
                <a:tab pos="698500" algn="l"/>
              </a:tabLst>
            </a:pPr>
            <a:r>
              <a:rPr sz="2000" dirty="0">
                <a:latin typeface="Palatino Linotype"/>
                <a:cs typeface="Palatino Linotype"/>
              </a:rPr>
              <a:t>400B</a:t>
            </a:r>
            <a:r>
              <a:rPr sz="2000" spc="-55" dirty="0">
                <a:latin typeface="Palatino Linotype"/>
                <a:cs typeface="Palatino Linotype"/>
              </a:rPr>
              <a:t> </a:t>
            </a:r>
            <a:r>
              <a:rPr sz="2000" dirty="0">
                <a:latin typeface="Palatino Linotype"/>
                <a:cs typeface="Palatino Linotype"/>
              </a:rPr>
              <a:t>tokens</a:t>
            </a:r>
            <a:r>
              <a:rPr sz="2000" spc="-45" dirty="0">
                <a:latin typeface="Palatino Linotype"/>
                <a:cs typeface="Palatino Linotype"/>
              </a:rPr>
              <a:t> </a:t>
            </a:r>
            <a:r>
              <a:rPr sz="2000" spc="-10" dirty="0">
                <a:latin typeface="Palatino Linotype"/>
                <a:cs typeface="Palatino Linotype"/>
              </a:rPr>
              <a:t>(570GB)</a:t>
            </a:r>
            <a:endParaRPr sz="2000" dirty="0">
              <a:latin typeface="Palatino Linotype"/>
              <a:cs typeface="Palatino Linotype"/>
            </a:endParaRPr>
          </a:p>
          <a:p>
            <a:pPr marL="698500" lvl="1" indent="-228600">
              <a:lnSpc>
                <a:spcPts val="2290"/>
              </a:lnSpc>
              <a:spcBef>
                <a:spcPts val="225"/>
              </a:spcBef>
              <a:buFont typeface="Arial"/>
              <a:buChar char="•"/>
              <a:tabLst>
                <a:tab pos="698500" algn="l"/>
              </a:tabLst>
            </a:pPr>
            <a:r>
              <a:rPr sz="2000" dirty="0">
                <a:latin typeface="Palatino Linotype"/>
                <a:cs typeface="Palatino Linotype"/>
              </a:rPr>
              <a:t>Common</a:t>
            </a:r>
            <a:r>
              <a:rPr sz="2000" spc="-45" dirty="0">
                <a:latin typeface="Palatino Linotype"/>
                <a:cs typeface="Palatino Linotype"/>
              </a:rPr>
              <a:t> </a:t>
            </a:r>
            <a:r>
              <a:rPr sz="2000" dirty="0">
                <a:latin typeface="Palatino Linotype"/>
                <a:cs typeface="Palatino Linotype"/>
              </a:rPr>
              <a:t>Crawl</a:t>
            </a:r>
            <a:r>
              <a:rPr sz="2000" spc="-50" dirty="0">
                <a:latin typeface="Palatino Linotype"/>
                <a:cs typeface="Palatino Linotype"/>
              </a:rPr>
              <a:t> </a:t>
            </a:r>
            <a:r>
              <a:rPr sz="2000" dirty="0">
                <a:latin typeface="Palatino Linotype"/>
                <a:cs typeface="Palatino Linotype"/>
              </a:rPr>
              <a:t>(processed)</a:t>
            </a:r>
            <a:r>
              <a:rPr sz="2000" spc="-50" dirty="0">
                <a:latin typeface="Palatino Linotype"/>
                <a:cs typeface="Palatino Linotype"/>
              </a:rPr>
              <a:t> </a:t>
            </a:r>
            <a:r>
              <a:rPr sz="2000" dirty="0">
                <a:latin typeface="Palatino Linotype"/>
                <a:cs typeface="Palatino Linotype"/>
              </a:rPr>
              <a:t>+</a:t>
            </a:r>
            <a:r>
              <a:rPr sz="2000" spc="15" dirty="0">
                <a:latin typeface="Palatino Linotype"/>
                <a:cs typeface="Palatino Linotype"/>
              </a:rPr>
              <a:t> </a:t>
            </a:r>
            <a:r>
              <a:rPr sz="2000" spc="-40" dirty="0">
                <a:latin typeface="Palatino Linotype"/>
                <a:cs typeface="Palatino Linotype"/>
              </a:rPr>
              <a:t>WebText </a:t>
            </a:r>
            <a:r>
              <a:rPr sz="2000" dirty="0">
                <a:latin typeface="Palatino Linotype"/>
                <a:cs typeface="Palatino Linotype"/>
              </a:rPr>
              <a:t>2</a:t>
            </a:r>
            <a:r>
              <a:rPr sz="2000" spc="-20" dirty="0">
                <a:latin typeface="Palatino Linotype"/>
                <a:cs typeface="Palatino Linotype"/>
              </a:rPr>
              <a:t> </a:t>
            </a:r>
            <a:r>
              <a:rPr sz="2000" dirty="0">
                <a:latin typeface="Palatino Linotype"/>
                <a:cs typeface="Palatino Linotype"/>
              </a:rPr>
              <a:t>+</a:t>
            </a:r>
            <a:r>
              <a:rPr sz="2000" spc="-20" dirty="0">
                <a:latin typeface="Palatino Linotype"/>
                <a:cs typeface="Palatino Linotype"/>
              </a:rPr>
              <a:t> </a:t>
            </a:r>
            <a:r>
              <a:rPr sz="2000" dirty="0">
                <a:latin typeface="Palatino Linotype"/>
                <a:cs typeface="Palatino Linotype"/>
              </a:rPr>
              <a:t>Wikipedia</a:t>
            </a:r>
            <a:r>
              <a:rPr sz="2000" spc="-20" dirty="0">
                <a:latin typeface="Palatino Linotype"/>
                <a:cs typeface="Palatino Linotype"/>
              </a:rPr>
              <a:t> </a:t>
            </a:r>
            <a:r>
              <a:rPr sz="2000" dirty="0">
                <a:latin typeface="Palatino Linotype"/>
                <a:cs typeface="Palatino Linotype"/>
              </a:rPr>
              <a:t>+</a:t>
            </a:r>
            <a:r>
              <a:rPr sz="2000" spc="-20" dirty="0">
                <a:latin typeface="Palatino Linotype"/>
                <a:cs typeface="Palatino Linotype"/>
              </a:rPr>
              <a:t> “Internet-</a:t>
            </a:r>
            <a:r>
              <a:rPr sz="2000" dirty="0">
                <a:latin typeface="Palatino Linotype"/>
                <a:cs typeface="Palatino Linotype"/>
              </a:rPr>
              <a:t>based</a:t>
            </a:r>
            <a:r>
              <a:rPr sz="2000" spc="-25" dirty="0">
                <a:latin typeface="Palatino Linotype"/>
                <a:cs typeface="Palatino Linotype"/>
              </a:rPr>
              <a:t> </a:t>
            </a:r>
            <a:r>
              <a:rPr sz="2000" spc="-10" dirty="0">
                <a:latin typeface="Palatino Linotype"/>
                <a:cs typeface="Palatino Linotype"/>
              </a:rPr>
              <a:t>books</a:t>
            </a:r>
            <a:endParaRPr sz="2000" dirty="0">
              <a:latin typeface="Palatino Linotype"/>
              <a:cs typeface="Palatino Linotype"/>
            </a:endParaRPr>
          </a:p>
          <a:p>
            <a:pPr marL="699135">
              <a:lnSpc>
                <a:spcPts val="2290"/>
              </a:lnSpc>
            </a:pPr>
            <a:r>
              <a:rPr sz="2000" dirty="0">
                <a:latin typeface="Palatino Linotype"/>
                <a:cs typeface="Palatino Linotype"/>
              </a:rPr>
              <a:t>corpora</a:t>
            </a:r>
            <a:r>
              <a:rPr sz="2000" spc="-50" dirty="0">
                <a:latin typeface="Palatino Linotype"/>
                <a:cs typeface="Palatino Linotype"/>
              </a:rPr>
              <a:t> </a:t>
            </a:r>
            <a:r>
              <a:rPr sz="2000" dirty="0">
                <a:latin typeface="Palatino Linotype"/>
                <a:cs typeface="Palatino Linotype"/>
              </a:rPr>
              <a:t>(Books</a:t>
            </a:r>
            <a:r>
              <a:rPr sz="2000" spc="-40" dirty="0">
                <a:latin typeface="Palatino Linotype"/>
                <a:cs typeface="Palatino Linotype"/>
              </a:rPr>
              <a:t> </a:t>
            </a:r>
            <a:r>
              <a:rPr sz="2000" dirty="0">
                <a:latin typeface="Palatino Linotype"/>
                <a:cs typeface="Palatino Linotype"/>
              </a:rPr>
              <a:t>1, Books</a:t>
            </a:r>
            <a:r>
              <a:rPr sz="2000" spc="-40" dirty="0">
                <a:latin typeface="Palatino Linotype"/>
                <a:cs typeface="Palatino Linotype"/>
              </a:rPr>
              <a:t> </a:t>
            </a:r>
            <a:r>
              <a:rPr sz="2000" spc="-25" dirty="0">
                <a:latin typeface="Palatino Linotype"/>
                <a:cs typeface="Palatino Linotype"/>
              </a:rPr>
              <a:t>2)”</a:t>
            </a:r>
            <a:endParaRPr sz="2000" dirty="0">
              <a:latin typeface="Palatino Linotype"/>
              <a:cs typeface="Palatino Linotype"/>
            </a:endParaRPr>
          </a:p>
          <a:p>
            <a:pPr>
              <a:lnSpc>
                <a:spcPct val="100000"/>
              </a:lnSpc>
              <a:spcBef>
                <a:spcPts val="1560"/>
              </a:spcBef>
            </a:pPr>
            <a:endParaRPr sz="2000" dirty="0">
              <a:latin typeface="Palatino Linotype"/>
              <a:cs typeface="Palatino Linotype"/>
            </a:endParaRPr>
          </a:p>
          <a:p>
            <a:pPr marL="240029" indent="-227329">
              <a:lnSpc>
                <a:spcPct val="100000"/>
              </a:lnSpc>
              <a:buFont typeface="Arial"/>
              <a:buChar char="•"/>
              <a:tabLst>
                <a:tab pos="240029" algn="l"/>
              </a:tabLst>
            </a:pPr>
            <a:r>
              <a:rPr sz="2400" spc="-20" dirty="0">
                <a:latin typeface="Palatino Linotype"/>
                <a:cs typeface="Palatino Linotype"/>
              </a:rPr>
              <a:t>Typical</a:t>
            </a:r>
            <a:r>
              <a:rPr sz="2400" spc="-105" dirty="0">
                <a:latin typeface="Palatino Linotype"/>
                <a:cs typeface="Palatino Linotype"/>
              </a:rPr>
              <a:t> </a:t>
            </a:r>
            <a:r>
              <a:rPr sz="2400" dirty="0">
                <a:latin typeface="Palatino Linotype"/>
                <a:cs typeface="Palatino Linotype"/>
              </a:rPr>
              <a:t>processing</a:t>
            </a:r>
            <a:r>
              <a:rPr sz="2400" spc="-65" dirty="0">
                <a:latin typeface="Palatino Linotype"/>
                <a:cs typeface="Palatino Linotype"/>
              </a:rPr>
              <a:t> </a:t>
            </a:r>
            <a:r>
              <a:rPr sz="2400" spc="-10" dirty="0">
                <a:latin typeface="Palatino Linotype"/>
                <a:cs typeface="Palatino Linotype"/>
              </a:rPr>
              <a:t>recipe:</a:t>
            </a:r>
            <a:endParaRPr sz="2400" dirty="0">
              <a:latin typeface="Palatino Linotype"/>
              <a:cs typeface="Palatino Linotype"/>
            </a:endParaRPr>
          </a:p>
          <a:p>
            <a:pPr marL="698500" lvl="1" indent="-228600">
              <a:lnSpc>
                <a:spcPct val="100000"/>
              </a:lnSpc>
              <a:spcBef>
                <a:spcPts val="300"/>
              </a:spcBef>
              <a:buFont typeface="Arial"/>
              <a:buChar char="•"/>
              <a:tabLst>
                <a:tab pos="698500" algn="l"/>
              </a:tabLst>
            </a:pPr>
            <a:r>
              <a:rPr sz="2000" spc="-25" dirty="0">
                <a:latin typeface="Palatino Linotype"/>
                <a:cs typeface="Palatino Linotype"/>
              </a:rPr>
              <a:t>Train</a:t>
            </a:r>
            <a:r>
              <a:rPr sz="2000" spc="-45" dirty="0">
                <a:latin typeface="Palatino Linotype"/>
                <a:cs typeface="Palatino Linotype"/>
              </a:rPr>
              <a:t> </a:t>
            </a:r>
            <a:r>
              <a:rPr sz="2000" dirty="0">
                <a:latin typeface="Palatino Linotype"/>
                <a:cs typeface="Palatino Linotype"/>
              </a:rPr>
              <a:t>a</a:t>
            </a:r>
            <a:r>
              <a:rPr sz="2000" spc="-30" dirty="0">
                <a:latin typeface="Palatino Linotype"/>
                <a:cs typeface="Palatino Linotype"/>
              </a:rPr>
              <a:t> </a:t>
            </a:r>
            <a:r>
              <a:rPr sz="2000" dirty="0">
                <a:latin typeface="Palatino Linotype"/>
                <a:cs typeface="Palatino Linotype"/>
              </a:rPr>
              <a:t>classifier</a:t>
            </a:r>
            <a:r>
              <a:rPr sz="2000" spc="-35" dirty="0">
                <a:latin typeface="Palatino Linotype"/>
                <a:cs typeface="Palatino Linotype"/>
              </a:rPr>
              <a:t> </a:t>
            </a:r>
            <a:r>
              <a:rPr sz="2000" dirty="0">
                <a:latin typeface="Palatino Linotype"/>
                <a:cs typeface="Palatino Linotype"/>
              </a:rPr>
              <a:t>to</a:t>
            </a:r>
            <a:r>
              <a:rPr sz="2000" spc="-45" dirty="0">
                <a:latin typeface="Palatino Linotype"/>
                <a:cs typeface="Palatino Linotype"/>
              </a:rPr>
              <a:t> </a:t>
            </a:r>
            <a:r>
              <a:rPr sz="2000" dirty="0">
                <a:latin typeface="Palatino Linotype"/>
                <a:cs typeface="Palatino Linotype"/>
              </a:rPr>
              <a:t>distinguish</a:t>
            </a:r>
            <a:r>
              <a:rPr sz="2000" spc="-45" dirty="0">
                <a:latin typeface="Palatino Linotype"/>
                <a:cs typeface="Palatino Linotype"/>
              </a:rPr>
              <a:t> </a:t>
            </a:r>
            <a:r>
              <a:rPr sz="2000" dirty="0">
                <a:latin typeface="Palatino Linotype"/>
                <a:cs typeface="Palatino Linotype"/>
              </a:rPr>
              <a:t>{Wikipedia,</a:t>
            </a:r>
            <a:r>
              <a:rPr sz="2000" spc="15" dirty="0">
                <a:latin typeface="Palatino Linotype"/>
                <a:cs typeface="Palatino Linotype"/>
              </a:rPr>
              <a:t> </a:t>
            </a:r>
            <a:r>
              <a:rPr sz="2000" spc="-40" dirty="0">
                <a:latin typeface="Palatino Linotype"/>
                <a:cs typeface="Palatino Linotype"/>
              </a:rPr>
              <a:t>WebText,</a:t>
            </a:r>
            <a:r>
              <a:rPr sz="2000" spc="-45" dirty="0">
                <a:latin typeface="Palatino Linotype"/>
                <a:cs typeface="Palatino Linotype"/>
              </a:rPr>
              <a:t> </a:t>
            </a:r>
            <a:r>
              <a:rPr sz="2000" dirty="0">
                <a:latin typeface="Palatino Linotype"/>
                <a:cs typeface="Palatino Linotype"/>
              </a:rPr>
              <a:t>Books}</a:t>
            </a:r>
            <a:r>
              <a:rPr sz="2000" spc="-60" dirty="0">
                <a:latin typeface="Palatino Linotype"/>
                <a:cs typeface="Palatino Linotype"/>
              </a:rPr>
              <a:t> </a:t>
            </a:r>
            <a:r>
              <a:rPr sz="2000" dirty="0">
                <a:latin typeface="Palatino Linotype"/>
                <a:cs typeface="Palatino Linotype"/>
              </a:rPr>
              <a:t>from</a:t>
            </a:r>
            <a:r>
              <a:rPr sz="2000" spc="-55" dirty="0">
                <a:latin typeface="Palatino Linotype"/>
                <a:cs typeface="Palatino Linotype"/>
              </a:rPr>
              <a:t> </a:t>
            </a:r>
            <a:r>
              <a:rPr sz="2000" dirty="0">
                <a:latin typeface="Palatino Linotype"/>
                <a:cs typeface="Palatino Linotype"/>
              </a:rPr>
              <a:t>the</a:t>
            </a:r>
            <a:r>
              <a:rPr sz="2000" spc="-60" dirty="0">
                <a:latin typeface="Palatino Linotype"/>
                <a:cs typeface="Palatino Linotype"/>
              </a:rPr>
              <a:t> </a:t>
            </a:r>
            <a:r>
              <a:rPr sz="2000" spc="-20" dirty="0">
                <a:latin typeface="Palatino Linotype"/>
                <a:cs typeface="Palatino Linotype"/>
              </a:rPr>
              <a:t>rest</a:t>
            </a:r>
            <a:endParaRPr sz="2000" dirty="0">
              <a:latin typeface="Palatino Linotype"/>
              <a:cs typeface="Palatino Linotype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xfrm>
            <a:off x="838200" y="681016"/>
            <a:ext cx="10515600" cy="693780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dirty="0">
                <a:latin typeface="Palatino Linotype" panose="02040502050505030304" pitchFamily="18" charset="0"/>
              </a:rPr>
              <a:t>A</a:t>
            </a:r>
            <a:r>
              <a:rPr spc="-275" dirty="0">
                <a:latin typeface="Palatino Linotype" panose="02040502050505030304" pitchFamily="18" charset="0"/>
              </a:rPr>
              <a:t> </a:t>
            </a:r>
            <a:r>
              <a:rPr dirty="0">
                <a:latin typeface="Palatino Linotype" panose="02040502050505030304" pitchFamily="18" charset="0"/>
              </a:rPr>
              <a:t>base</a:t>
            </a:r>
            <a:r>
              <a:rPr spc="-25" dirty="0">
                <a:latin typeface="Palatino Linotype" panose="02040502050505030304" pitchFamily="18" charset="0"/>
              </a:rPr>
              <a:t> </a:t>
            </a:r>
            <a:r>
              <a:rPr spc="-10" dirty="0">
                <a:latin typeface="Palatino Linotype" panose="02040502050505030304" pitchFamily="18" charset="0"/>
              </a:rPr>
              <a:t>model?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917575" y="1794255"/>
            <a:ext cx="10222865" cy="2900680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241300" indent="-228600">
              <a:lnSpc>
                <a:spcPct val="100000"/>
              </a:lnSpc>
              <a:spcBef>
                <a:spcPts val="130"/>
              </a:spcBef>
              <a:buFont typeface="Arial"/>
              <a:buChar char="•"/>
              <a:tabLst>
                <a:tab pos="241300" algn="l"/>
              </a:tabLst>
            </a:pPr>
            <a:r>
              <a:rPr sz="2750" dirty="0">
                <a:latin typeface="Palatino Linotype"/>
                <a:cs typeface="Palatino Linotype"/>
              </a:rPr>
              <a:t>Fitting</a:t>
            </a:r>
            <a:r>
              <a:rPr sz="2750" spc="95" dirty="0">
                <a:latin typeface="Palatino Linotype"/>
                <a:cs typeface="Palatino Linotype"/>
              </a:rPr>
              <a:t> </a:t>
            </a:r>
            <a:r>
              <a:rPr sz="2750" dirty="0">
                <a:latin typeface="Palatino Linotype"/>
                <a:cs typeface="Palatino Linotype"/>
              </a:rPr>
              <a:t>a</a:t>
            </a:r>
            <a:r>
              <a:rPr sz="2750" spc="95" dirty="0">
                <a:latin typeface="Palatino Linotype"/>
                <a:cs typeface="Palatino Linotype"/>
              </a:rPr>
              <a:t> </a:t>
            </a:r>
            <a:r>
              <a:rPr sz="2750" dirty="0">
                <a:latin typeface="Palatino Linotype"/>
                <a:cs typeface="Palatino Linotype"/>
              </a:rPr>
              <a:t>language</a:t>
            </a:r>
            <a:r>
              <a:rPr sz="2750" spc="80" dirty="0">
                <a:latin typeface="Palatino Linotype"/>
                <a:cs typeface="Palatino Linotype"/>
              </a:rPr>
              <a:t> </a:t>
            </a:r>
            <a:r>
              <a:rPr sz="2750" dirty="0">
                <a:latin typeface="Palatino Linotype"/>
                <a:cs typeface="Palatino Linotype"/>
              </a:rPr>
              <a:t>model</a:t>
            </a:r>
            <a:r>
              <a:rPr sz="2750" spc="75" dirty="0">
                <a:latin typeface="Palatino Linotype"/>
                <a:cs typeface="Palatino Linotype"/>
              </a:rPr>
              <a:t> </a:t>
            </a:r>
            <a:r>
              <a:rPr sz="2750" dirty="0">
                <a:latin typeface="Palatino Linotype"/>
                <a:cs typeface="Palatino Linotype"/>
              </a:rPr>
              <a:t>on</a:t>
            </a:r>
            <a:r>
              <a:rPr sz="2750" spc="95" dirty="0">
                <a:latin typeface="Palatino Linotype"/>
                <a:cs typeface="Palatino Linotype"/>
              </a:rPr>
              <a:t> </a:t>
            </a:r>
            <a:r>
              <a:rPr sz="2750" dirty="0">
                <a:latin typeface="Palatino Linotype"/>
                <a:cs typeface="Palatino Linotype"/>
              </a:rPr>
              <a:t>internet</a:t>
            </a:r>
            <a:r>
              <a:rPr sz="2750" spc="130" dirty="0">
                <a:latin typeface="Palatino Linotype"/>
                <a:cs typeface="Palatino Linotype"/>
              </a:rPr>
              <a:t> </a:t>
            </a:r>
            <a:r>
              <a:rPr sz="2750" dirty="0">
                <a:latin typeface="Palatino Linotype"/>
                <a:cs typeface="Palatino Linotype"/>
              </a:rPr>
              <a:t>data</a:t>
            </a:r>
            <a:r>
              <a:rPr sz="2750" spc="190" dirty="0">
                <a:latin typeface="Palatino Linotype"/>
                <a:cs typeface="Palatino Linotype"/>
              </a:rPr>
              <a:t> </a:t>
            </a:r>
            <a:r>
              <a:rPr sz="2750" spc="50" dirty="0">
                <a:latin typeface="Palatino Linotype"/>
                <a:cs typeface="Palatino Linotype"/>
              </a:rPr>
              <a:t>-</a:t>
            </a:r>
            <a:r>
              <a:rPr sz="2750" spc="-25" dirty="0">
                <a:latin typeface="Palatino Linotype"/>
                <a:cs typeface="Palatino Linotype"/>
              </a:rPr>
              <a:t>-</a:t>
            </a:r>
            <a:r>
              <a:rPr sz="2750" dirty="0">
                <a:latin typeface="Palatino Linotype"/>
                <a:cs typeface="Palatino Linotype"/>
              </a:rPr>
              <a:t>-</a:t>
            </a:r>
            <a:r>
              <a:rPr sz="2750" spc="105" dirty="0">
                <a:latin typeface="Palatino Linotype"/>
                <a:cs typeface="Palatino Linotype"/>
              </a:rPr>
              <a:t> </a:t>
            </a:r>
            <a:r>
              <a:rPr sz="2750" dirty="0">
                <a:latin typeface="Palatino Linotype"/>
                <a:cs typeface="Palatino Linotype"/>
              </a:rPr>
              <a:t>called</a:t>
            </a:r>
            <a:r>
              <a:rPr sz="2750" spc="85" dirty="0">
                <a:latin typeface="Palatino Linotype"/>
                <a:cs typeface="Palatino Linotype"/>
              </a:rPr>
              <a:t> </a:t>
            </a:r>
            <a:r>
              <a:rPr sz="2750" dirty="0">
                <a:latin typeface="Palatino Linotype"/>
                <a:cs typeface="Palatino Linotype"/>
              </a:rPr>
              <a:t>pre-</a:t>
            </a:r>
            <a:r>
              <a:rPr sz="2750" spc="-10" dirty="0">
                <a:latin typeface="Palatino Linotype"/>
                <a:cs typeface="Palatino Linotype"/>
              </a:rPr>
              <a:t>training</a:t>
            </a:r>
            <a:endParaRPr sz="2750" dirty="0">
              <a:latin typeface="Palatino Linotype"/>
              <a:cs typeface="Palatino Linotype"/>
            </a:endParaRPr>
          </a:p>
          <a:p>
            <a:pPr>
              <a:lnSpc>
                <a:spcPct val="100000"/>
              </a:lnSpc>
              <a:spcBef>
                <a:spcPts val="1100"/>
              </a:spcBef>
              <a:buFont typeface="Arial"/>
              <a:buChar char="•"/>
            </a:pPr>
            <a:endParaRPr sz="2750" dirty="0">
              <a:latin typeface="Palatino Linotype"/>
              <a:cs typeface="Palatino Linotype"/>
            </a:endParaRPr>
          </a:p>
          <a:p>
            <a:pPr marL="240665" indent="-227965">
              <a:lnSpc>
                <a:spcPct val="100000"/>
              </a:lnSpc>
              <a:buFont typeface="Arial"/>
              <a:buChar char="•"/>
              <a:tabLst>
                <a:tab pos="240665" algn="l"/>
              </a:tabLst>
            </a:pPr>
            <a:r>
              <a:rPr sz="2750" dirty="0">
                <a:latin typeface="Palatino Linotype"/>
                <a:cs typeface="Palatino Linotype"/>
              </a:rPr>
              <a:t>This</a:t>
            </a:r>
            <a:r>
              <a:rPr sz="2750" spc="105" dirty="0">
                <a:latin typeface="Palatino Linotype"/>
                <a:cs typeface="Palatino Linotype"/>
              </a:rPr>
              <a:t> </a:t>
            </a:r>
            <a:r>
              <a:rPr sz="2750" dirty="0">
                <a:latin typeface="Palatino Linotype"/>
                <a:cs typeface="Palatino Linotype"/>
              </a:rPr>
              <a:t>is</a:t>
            </a:r>
            <a:r>
              <a:rPr sz="2750" spc="110" dirty="0">
                <a:latin typeface="Palatino Linotype"/>
                <a:cs typeface="Palatino Linotype"/>
              </a:rPr>
              <a:t> </a:t>
            </a:r>
            <a:r>
              <a:rPr sz="2750" dirty="0">
                <a:latin typeface="Palatino Linotype"/>
                <a:cs typeface="Palatino Linotype"/>
              </a:rPr>
              <a:t>called</a:t>
            </a:r>
            <a:r>
              <a:rPr sz="2750" spc="114" dirty="0">
                <a:latin typeface="Palatino Linotype"/>
                <a:cs typeface="Palatino Linotype"/>
              </a:rPr>
              <a:t> </a:t>
            </a:r>
            <a:r>
              <a:rPr sz="2750" b="1" dirty="0">
                <a:solidFill>
                  <a:srgbClr val="001F5F"/>
                </a:solidFill>
                <a:latin typeface="Palatino Linotype"/>
                <a:cs typeface="Palatino Linotype"/>
              </a:rPr>
              <a:t>GPT-</a:t>
            </a:r>
            <a:r>
              <a:rPr sz="2750" b="1" spc="-50" dirty="0">
                <a:solidFill>
                  <a:srgbClr val="001F5F"/>
                </a:solidFill>
                <a:latin typeface="Palatino Linotype"/>
                <a:cs typeface="Palatino Linotype"/>
              </a:rPr>
              <a:t>3</a:t>
            </a:r>
            <a:endParaRPr sz="2750" dirty="0">
              <a:latin typeface="Palatino Linotype"/>
              <a:cs typeface="Palatino Linotype"/>
            </a:endParaRPr>
          </a:p>
          <a:p>
            <a:pPr>
              <a:lnSpc>
                <a:spcPct val="100000"/>
              </a:lnSpc>
              <a:spcBef>
                <a:spcPts val="1025"/>
              </a:spcBef>
              <a:buFont typeface="Arial"/>
              <a:buChar char="•"/>
            </a:pPr>
            <a:endParaRPr sz="2750" dirty="0">
              <a:latin typeface="Palatino Linotype"/>
              <a:cs typeface="Palatino Linotype"/>
            </a:endParaRPr>
          </a:p>
          <a:p>
            <a:pPr marL="241300" indent="-228600">
              <a:lnSpc>
                <a:spcPct val="100000"/>
              </a:lnSpc>
              <a:buFont typeface="Arial"/>
              <a:buChar char="•"/>
              <a:tabLst>
                <a:tab pos="241300" algn="l"/>
              </a:tabLst>
            </a:pPr>
            <a:r>
              <a:rPr sz="2750" dirty="0">
                <a:latin typeface="Palatino Linotype"/>
                <a:cs typeface="Palatino Linotype"/>
              </a:rPr>
              <a:t>This</a:t>
            </a:r>
            <a:r>
              <a:rPr sz="2750" spc="160" dirty="0">
                <a:latin typeface="Palatino Linotype"/>
                <a:cs typeface="Palatino Linotype"/>
              </a:rPr>
              <a:t> </a:t>
            </a:r>
            <a:r>
              <a:rPr sz="2750" dirty="0">
                <a:latin typeface="Palatino Linotype"/>
                <a:cs typeface="Palatino Linotype"/>
              </a:rPr>
              <a:t>model</a:t>
            </a:r>
            <a:r>
              <a:rPr sz="2750" spc="70" dirty="0">
                <a:latin typeface="Palatino Linotype"/>
                <a:cs typeface="Palatino Linotype"/>
              </a:rPr>
              <a:t> </a:t>
            </a:r>
            <a:r>
              <a:rPr sz="2750" dirty="0">
                <a:latin typeface="Palatino Linotype"/>
                <a:cs typeface="Palatino Linotype"/>
              </a:rPr>
              <a:t>does</a:t>
            </a:r>
            <a:r>
              <a:rPr sz="2750" spc="75" dirty="0">
                <a:latin typeface="Palatino Linotype"/>
                <a:cs typeface="Palatino Linotype"/>
              </a:rPr>
              <a:t> </a:t>
            </a:r>
            <a:r>
              <a:rPr sz="2750" dirty="0">
                <a:latin typeface="Palatino Linotype"/>
                <a:cs typeface="Palatino Linotype"/>
              </a:rPr>
              <a:t>NOT</a:t>
            </a:r>
            <a:r>
              <a:rPr sz="2750" spc="70" dirty="0">
                <a:latin typeface="Palatino Linotype"/>
                <a:cs typeface="Palatino Linotype"/>
              </a:rPr>
              <a:t> </a:t>
            </a:r>
            <a:r>
              <a:rPr sz="2750" dirty="0">
                <a:latin typeface="Palatino Linotype"/>
                <a:cs typeface="Palatino Linotype"/>
              </a:rPr>
              <a:t>follow</a:t>
            </a:r>
            <a:r>
              <a:rPr sz="2750" spc="140" dirty="0">
                <a:latin typeface="Palatino Linotype"/>
                <a:cs typeface="Palatino Linotype"/>
              </a:rPr>
              <a:t> </a:t>
            </a:r>
            <a:r>
              <a:rPr sz="2750" spc="-10" dirty="0">
                <a:latin typeface="Palatino Linotype"/>
                <a:cs typeface="Palatino Linotype"/>
              </a:rPr>
              <a:t>instructions</a:t>
            </a:r>
            <a:endParaRPr sz="2750" dirty="0">
              <a:latin typeface="Palatino Linotype"/>
              <a:cs typeface="Palatino Linotype"/>
            </a:endParaRPr>
          </a:p>
          <a:p>
            <a:pPr marL="697865" lvl="1" indent="-227965">
              <a:lnSpc>
                <a:spcPct val="100000"/>
              </a:lnSpc>
              <a:spcBef>
                <a:spcPts val="280"/>
              </a:spcBef>
              <a:buFont typeface="Arial"/>
              <a:buChar char="•"/>
              <a:tabLst>
                <a:tab pos="697865" algn="l"/>
              </a:tabLst>
            </a:pPr>
            <a:r>
              <a:rPr sz="2400" dirty="0">
                <a:latin typeface="Palatino Linotype"/>
                <a:cs typeface="Palatino Linotype"/>
              </a:rPr>
              <a:t>The</a:t>
            </a:r>
            <a:r>
              <a:rPr sz="2400" spc="-15" dirty="0">
                <a:latin typeface="Palatino Linotype"/>
                <a:cs typeface="Palatino Linotype"/>
              </a:rPr>
              <a:t> </a:t>
            </a:r>
            <a:r>
              <a:rPr sz="2400" dirty="0">
                <a:latin typeface="Palatino Linotype"/>
                <a:cs typeface="Palatino Linotype"/>
              </a:rPr>
              <a:t>data</a:t>
            </a:r>
            <a:r>
              <a:rPr sz="2400" spc="-50" dirty="0">
                <a:latin typeface="Palatino Linotype"/>
                <a:cs typeface="Palatino Linotype"/>
              </a:rPr>
              <a:t> </a:t>
            </a:r>
            <a:r>
              <a:rPr sz="2400" dirty="0">
                <a:latin typeface="Palatino Linotype"/>
                <a:cs typeface="Palatino Linotype"/>
              </a:rPr>
              <a:t>distribution</a:t>
            </a:r>
            <a:r>
              <a:rPr sz="2400" spc="-35" dirty="0">
                <a:latin typeface="Palatino Linotype"/>
                <a:cs typeface="Palatino Linotype"/>
              </a:rPr>
              <a:t> </a:t>
            </a:r>
            <a:r>
              <a:rPr sz="2400" dirty="0">
                <a:latin typeface="Palatino Linotype"/>
                <a:cs typeface="Palatino Linotype"/>
              </a:rPr>
              <a:t>on</a:t>
            </a:r>
            <a:r>
              <a:rPr sz="2400" spc="-35" dirty="0">
                <a:latin typeface="Palatino Linotype"/>
                <a:cs typeface="Palatino Linotype"/>
              </a:rPr>
              <a:t> </a:t>
            </a:r>
            <a:r>
              <a:rPr sz="2400" dirty="0">
                <a:latin typeface="Palatino Linotype"/>
                <a:cs typeface="Palatino Linotype"/>
              </a:rPr>
              <a:t>the</a:t>
            </a:r>
            <a:r>
              <a:rPr sz="2400" spc="-80" dirty="0">
                <a:latin typeface="Palatino Linotype"/>
                <a:cs typeface="Palatino Linotype"/>
              </a:rPr>
              <a:t> </a:t>
            </a:r>
            <a:r>
              <a:rPr sz="2400" dirty="0">
                <a:latin typeface="Palatino Linotype"/>
                <a:cs typeface="Palatino Linotype"/>
              </a:rPr>
              <a:t>internet</a:t>
            </a:r>
            <a:r>
              <a:rPr sz="2400" spc="-85" dirty="0">
                <a:latin typeface="Palatino Linotype"/>
                <a:cs typeface="Palatino Linotype"/>
              </a:rPr>
              <a:t> </a:t>
            </a:r>
            <a:r>
              <a:rPr sz="2400" dirty="0">
                <a:latin typeface="Palatino Linotype"/>
                <a:cs typeface="Palatino Linotype"/>
              </a:rPr>
              <a:t>does</a:t>
            </a:r>
            <a:r>
              <a:rPr sz="2400" spc="-95" dirty="0">
                <a:latin typeface="Palatino Linotype"/>
                <a:cs typeface="Palatino Linotype"/>
              </a:rPr>
              <a:t> </a:t>
            </a:r>
            <a:r>
              <a:rPr sz="2400" dirty="0">
                <a:latin typeface="Palatino Linotype"/>
                <a:cs typeface="Palatino Linotype"/>
              </a:rPr>
              <a:t>not</a:t>
            </a:r>
            <a:r>
              <a:rPr sz="2400" spc="-20" dirty="0">
                <a:latin typeface="Palatino Linotype"/>
                <a:cs typeface="Palatino Linotype"/>
              </a:rPr>
              <a:t> look</a:t>
            </a:r>
            <a:endParaRPr sz="2400" dirty="0">
              <a:latin typeface="Palatino Linotype"/>
              <a:cs typeface="Palatino Linotype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dirty="0"/>
              <a:t>Instruction</a:t>
            </a:r>
            <a:r>
              <a:rPr spc="-145" dirty="0"/>
              <a:t> </a:t>
            </a:r>
            <a:r>
              <a:rPr spc="-10" dirty="0"/>
              <a:t>following</a:t>
            </a:r>
          </a:p>
        </p:txBody>
      </p:sp>
      <p:pic>
        <p:nvPicPr>
          <p:cNvPr id="3" name="object 3" descr="A close-up of a graph  AI-generated content may be incorrect.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324100" y="1828800"/>
            <a:ext cx="7543800" cy="4352925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4323D344-92C7-BF2E-0492-10B9F3803C92}"/>
              </a:ext>
            </a:extLst>
          </p:cNvPr>
          <p:cNvSpPr txBox="1"/>
          <p:nvPr/>
        </p:nvSpPr>
        <p:spPr>
          <a:xfrm>
            <a:off x="8991600" y="3244334"/>
            <a:ext cx="22860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b="1">
                <a:latin typeface="Palatino Linotype" panose="02040502050505030304" pitchFamily="18" charset="0"/>
              </a:rPr>
              <a:t>Need Post-Training</a:t>
            </a:r>
            <a:endParaRPr lang="ko-KR" altLang="en-US" b="1" dirty="0">
              <a:latin typeface="Palatino Linotype" panose="02040502050505030304" pitchFamily="18" charset="0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dirty="0">
                <a:solidFill>
                  <a:srgbClr val="001F5F"/>
                </a:solidFill>
              </a:rPr>
              <a:t>Safety</a:t>
            </a:r>
            <a:r>
              <a:rPr spc="-100" dirty="0">
                <a:solidFill>
                  <a:srgbClr val="001F5F"/>
                </a:solidFill>
              </a:rPr>
              <a:t> </a:t>
            </a:r>
            <a:r>
              <a:rPr dirty="0">
                <a:solidFill>
                  <a:srgbClr val="001F5F"/>
                </a:solidFill>
              </a:rPr>
              <a:t>and</a:t>
            </a:r>
            <a:r>
              <a:rPr spc="-100" dirty="0">
                <a:solidFill>
                  <a:srgbClr val="001F5F"/>
                </a:solidFill>
              </a:rPr>
              <a:t> </a:t>
            </a:r>
            <a:r>
              <a:rPr dirty="0">
                <a:solidFill>
                  <a:srgbClr val="001F5F"/>
                </a:solidFill>
              </a:rPr>
              <a:t>content</a:t>
            </a:r>
            <a:r>
              <a:rPr spc="-45" dirty="0">
                <a:solidFill>
                  <a:srgbClr val="001F5F"/>
                </a:solidFill>
              </a:rPr>
              <a:t> </a:t>
            </a:r>
            <a:r>
              <a:rPr spc="-10" dirty="0">
                <a:solidFill>
                  <a:srgbClr val="001F5F"/>
                </a:solidFill>
              </a:rPr>
              <a:t>moderation</a:t>
            </a:r>
          </a:p>
        </p:txBody>
      </p:sp>
      <p:pic>
        <p:nvPicPr>
          <p:cNvPr id="3" name="object 3" descr="A screenshot of a social media post  AI-generated content may be incorrect.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514600" y="1695450"/>
            <a:ext cx="7162800" cy="2914650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5CDE5C5C-A0C1-6D80-C55A-5EA9598CB3F2}"/>
              </a:ext>
            </a:extLst>
          </p:cNvPr>
          <p:cNvSpPr txBox="1"/>
          <p:nvPr/>
        </p:nvSpPr>
        <p:spPr>
          <a:xfrm>
            <a:off x="4724400" y="5181600"/>
            <a:ext cx="27432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2400" b="1">
                <a:latin typeface="Palatino Linotype" panose="02040502050505030304" pitchFamily="18" charset="0"/>
              </a:rPr>
              <a:t>“Safety</a:t>
            </a:r>
            <a:r>
              <a:rPr lang="ko-KR" altLang="en-US" sz="2400" b="1">
                <a:latin typeface="Palatino Linotype" panose="02040502050505030304" pitchFamily="18" charset="0"/>
              </a:rPr>
              <a:t> </a:t>
            </a:r>
            <a:r>
              <a:rPr lang="en-US" altLang="ko-KR" sz="2400" b="1">
                <a:latin typeface="Palatino Linotype" panose="02040502050505030304" pitchFamily="18" charset="0"/>
              </a:rPr>
              <a:t>Behavior”</a:t>
            </a:r>
            <a:endParaRPr lang="ko-KR" altLang="en-US" sz="2400" b="1" dirty="0">
              <a:latin typeface="Palatino Linotype" panose="02040502050505030304" pitchFamily="18" charset="0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xfrm>
            <a:off x="838200" y="681016"/>
            <a:ext cx="10515600" cy="693780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spc="-50" dirty="0">
                <a:latin typeface="Palatino Linotype" panose="02040502050505030304" pitchFamily="18" charset="0"/>
              </a:rPr>
              <a:t>Post-</a:t>
            </a:r>
            <a:r>
              <a:rPr spc="-10" dirty="0">
                <a:latin typeface="Palatino Linotype" panose="02040502050505030304" pitchFamily="18" charset="0"/>
              </a:rPr>
              <a:t>training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917575" y="1794255"/>
            <a:ext cx="10041255" cy="3272790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241300" indent="-228600">
              <a:lnSpc>
                <a:spcPct val="100000"/>
              </a:lnSpc>
              <a:spcBef>
                <a:spcPts val="130"/>
              </a:spcBef>
              <a:buFont typeface="Arial"/>
              <a:buChar char="•"/>
              <a:tabLst>
                <a:tab pos="241300" algn="l"/>
              </a:tabLst>
            </a:pPr>
            <a:r>
              <a:rPr sz="2750" dirty="0">
                <a:latin typeface="Palatino Linotype"/>
                <a:cs typeface="Palatino Linotype"/>
              </a:rPr>
              <a:t>Internet</a:t>
            </a:r>
            <a:r>
              <a:rPr sz="2750" spc="65" dirty="0">
                <a:latin typeface="Palatino Linotype"/>
                <a:cs typeface="Palatino Linotype"/>
              </a:rPr>
              <a:t> </a:t>
            </a:r>
            <a:r>
              <a:rPr sz="2750" dirty="0">
                <a:latin typeface="Palatino Linotype"/>
                <a:cs typeface="Palatino Linotype"/>
              </a:rPr>
              <a:t>data</a:t>
            </a:r>
            <a:r>
              <a:rPr sz="2750" spc="35" dirty="0">
                <a:latin typeface="Palatino Linotype"/>
                <a:cs typeface="Palatino Linotype"/>
              </a:rPr>
              <a:t> </a:t>
            </a:r>
            <a:r>
              <a:rPr sz="2750" dirty="0">
                <a:latin typeface="Palatino Linotype"/>
                <a:cs typeface="Palatino Linotype"/>
              </a:rPr>
              <a:t>isn’t</a:t>
            </a:r>
            <a:r>
              <a:rPr sz="2750" spc="-10" dirty="0">
                <a:latin typeface="Palatino Linotype"/>
                <a:cs typeface="Palatino Linotype"/>
              </a:rPr>
              <a:t> </a:t>
            </a:r>
            <a:r>
              <a:rPr sz="2750" dirty="0">
                <a:latin typeface="Palatino Linotype"/>
                <a:cs typeface="Palatino Linotype"/>
              </a:rPr>
              <a:t>quite</a:t>
            </a:r>
            <a:r>
              <a:rPr sz="2750" spc="85" dirty="0">
                <a:latin typeface="Palatino Linotype"/>
                <a:cs typeface="Palatino Linotype"/>
              </a:rPr>
              <a:t> </a:t>
            </a:r>
            <a:r>
              <a:rPr sz="2750" dirty="0">
                <a:latin typeface="Palatino Linotype"/>
                <a:cs typeface="Palatino Linotype"/>
              </a:rPr>
              <a:t>what</a:t>
            </a:r>
            <a:r>
              <a:rPr sz="2750" spc="65" dirty="0">
                <a:latin typeface="Palatino Linotype"/>
                <a:cs typeface="Palatino Linotype"/>
              </a:rPr>
              <a:t> </a:t>
            </a:r>
            <a:r>
              <a:rPr sz="2750" dirty="0">
                <a:latin typeface="Palatino Linotype"/>
                <a:cs typeface="Palatino Linotype"/>
              </a:rPr>
              <a:t>we</a:t>
            </a:r>
            <a:r>
              <a:rPr sz="2750" spc="10" dirty="0">
                <a:latin typeface="Palatino Linotype"/>
                <a:cs typeface="Palatino Linotype"/>
              </a:rPr>
              <a:t> </a:t>
            </a:r>
            <a:r>
              <a:rPr sz="2750" dirty="0">
                <a:latin typeface="Palatino Linotype"/>
                <a:cs typeface="Palatino Linotype"/>
              </a:rPr>
              <a:t>want</a:t>
            </a:r>
            <a:r>
              <a:rPr sz="2750" spc="-5" dirty="0">
                <a:latin typeface="Palatino Linotype"/>
                <a:cs typeface="Palatino Linotype"/>
              </a:rPr>
              <a:t> </a:t>
            </a:r>
            <a:r>
              <a:rPr sz="2750" dirty="0">
                <a:latin typeface="Palatino Linotype"/>
                <a:cs typeface="Palatino Linotype"/>
              </a:rPr>
              <a:t>but</a:t>
            </a:r>
            <a:r>
              <a:rPr sz="2750" spc="65" dirty="0">
                <a:latin typeface="Palatino Linotype"/>
                <a:cs typeface="Palatino Linotype"/>
              </a:rPr>
              <a:t> </a:t>
            </a:r>
            <a:r>
              <a:rPr sz="2750" dirty="0">
                <a:latin typeface="Palatino Linotype"/>
                <a:cs typeface="Palatino Linotype"/>
              </a:rPr>
              <a:t>it</a:t>
            </a:r>
            <a:r>
              <a:rPr sz="2750" spc="-10" dirty="0">
                <a:latin typeface="Palatino Linotype"/>
                <a:cs typeface="Palatino Linotype"/>
              </a:rPr>
              <a:t> scales</a:t>
            </a:r>
            <a:endParaRPr sz="2750" dirty="0">
              <a:latin typeface="Palatino Linotype"/>
              <a:cs typeface="Palatino Linotype"/>
            </a:endParaRPr>
          </a:p>
          <a:p>
            <a:pPr>
              <a:lnSpc>
                <a:spcPct val="100000"/>
              </a:lnSpc>
              <a:spcBef>
                <a:spcPts val="1450"/>
              </a:spcBef>
              <a:buFont typeface="Arial"/>
              <a:buChar char="•"/>
            </a:pPr>
            <a:endParaRPr sz="2750" dirty="0">
              <a:latin typeface="Palatino Linotype"/>
              <a:cs typeface="Palatino Linotype"/>
            </a:endParaRPr>
          </a:p>
          <a:p>
            <a:pPr marL="240029" marR="5080" indent="-227965">
              <a:lnSpc>
                <a:spcPts val="3000"/>
              </a:lnSpc>
              <a:buFont typeface="Arial"/>
              <a:buChar char="•"/>
              <a:tabLst>
                <a:tab pos="241300" algn="l"/>
              </a:tabLst>
            </a:pPr>
            <a:r>
              <a:rPr sz="2750" b="1" dirty="0">
                <a:solidFill>
                  <a:srgbClr val="001F5F"/>
                </a:solidFill>
                <a:latin typeface="Palatino Linotype"/>
                <a:cs typeface="Palatino Linotype"/>
              </a:rPr>
              <a:t>”Alignment</a:t>
            </a:r>
            <a:r>
              <a:rPr sz="2750" b="1" spc="100" dirty="0">
                <a:solidFill>
                  <a:srgbClr val="001F5F"/>
                </a:solidFill>
                <a:latin typeface="Palatino Linotype"/>
                <a:cs typeface="Palatino Linotype"/>
              </a:rPr>
              <a:t> </a:t>
            </a:r>
            <a:r>
              <a:rPr sz="2750" b="1" dirty="0">
                <a:solidFill>
                  <a:srgbClr val="001F5F"/>
                </a:solidFill>
                <a:latin typeface="Palatino Linotype"/>
                <a:cs typeface="Palatino Linotype"/>
              </a:rPr>
              <a:t>phase”:</a:t>
            </a:r>
            <a:r>
              <a:rPr sz="2750" b="1" spc="125" dirty="0">
                <a:solidFill>
                  <a:srgbClr val="001F5F"/>
                </a:solidFill>
                <a:latin typeface="Palatino Linotype"/>
                <a:cs typeface="Palatino Linotype"/>
              </a:rPr>
              <a:t> </a:t>
            </a:r>
            <a:r>
              <a:rPr sz="2750" dirty="0">
                <a:latin typeface="Palatino Linotype"/>
                <a:cs typeface="Palatino Linotype"/>
              </a:rPr>
              <a:t>collecting</a:t>
            </a:r>
            <a:r>
              <a:rPr sz="2750" spc="80" dirty="0">
                <a:latin typeface="Palatino Linotype"/>
                <a:cs typeface="Palatino Linotype"/>
              </a:rPr>
              <a:t> </a:t>
            </a:r>
            <a:r>
              <a:rPr sz="2750" dirty="0">
                <a:latin typeface="Palatino Linotype"/>
                <a:cs typeface="Palatino Linotype"/>
              </a:rPr>
              <a:t>data</a:t>
            </a:r>
            <a:r>
              <a:rPr sz="2750" spc="90" dirty="0">
                <a:latin typeface="Palatino Linotype"/>
                <a:cs typeface="Palatino Linotype"/>
              </a:rPr>
              <a:t> </a:t>
            </a:r>
            <a:r>
              <a:rPr sz="2750" dirty="0">
                <a:latin typeface="Palatino Linotype"/>
                <a:cs typeface="Palatino Linotype"/>
              </a:rPr>
              <a:t>of</a:t>
            </a:r>
            <a:r>
              <a:rPr sz="2750" spc="100" dirty="0">
                <a:latin typeface="Palatino Linotype"/>
                <a:cs typeface="Palatino Linotype"/>
              </a:rPr>
              <a:t> </a:t>
            </a:r>
            <a:r>
              <a:rPr sz="2750" dirty="0">
                <a:latin typeface="Palatino Linotype"/>
                <a:cs typeface="Palatino Linotype"/>
              </a:rPr>
              <a:t>behaviors</a:t>
            </a:r>
            <a:r>
              <a:rPr sz="2750" spc="150" dirty="0">
                <a:latin typeface="Palatino Linotype"/>
                <a:cs typeface="Palatino Linotype"/>
              </a:rPr>
              <a:t> </a:t>
            </a:r>
            <a:r>
              <a:rPr sz="2750" dirty="0">
                <a:latin typeface="Palatino Linotype"/>
                <a:cs typeface="Palatino Linotype"/>
              </a:rPr>
              <a:t>that</a:t>
            </a:r>
            <a:r>
              <a:rPr sz="2750" spc="125" dirty="0">
                <a:latin typeface="Palatino Linotype"/>
                <a:cs typeface="Palatino Linotype"/>
              </a:rPr>
              <a:t> </a:t>
            </a:r>
            <a:r>
              <a:rPr sz="2750" dirty="0">
                <a:latin typeface="Palatino Linotype"/>
                <a:cs typeface="Palatino Linotype"/>
              </a:rPr>
              <a:t>we</a:t>
            </a:r>
            <a:r>
              <a:rPr sz="2750" spc="70" dirty="0">
                <a:latin typeface="Palatino Linotype"/>
                <a:cs typeface="Palatino Linotype"/>
              </a:rPr>
              <a:t> </a:t>
            </a:r>
            <a:r>
              <a:rPr sz="2750" spc="-25" dirty="0">
                <a:latin typeface="Palatino Linotype"/>
                <a:cs typeface="Palatino Linotype"/>
              </a:rPr>
              <a:t>do 	</a:t>
            </a:r>
            <a:r>
              <a:rPr sz="2750" dirty="0">
                <a:latin typeface="Palatino Linotype"/>
                <a:cs typeface="Palatino Linotype"/>
              </a:rPr>
              <a:t>want</a:t>
            </a:r>
            <a:r>
              <a:rPr sz="2750" spc="40" dirty="0">
                <a:latin typeface="Palatino Linotype"/>
                <a:cs typeface="Palatino Linotype"/>
              </a:rPr>
              <a:t> </a:t>
            </a:r>
            <a:r>
              <a:rPr sz="2750" dirty="0">
                <a:latin typeface="Palatino Linotype"/>
                <a:cs typeface="Palatino Linotype"/>
              </a:rPr>
              <a:t>and</a:t>
            </a:r>
            <a:r>
              <a:rPr sz="2750" spc="155" dirty="0">
                <a:latin typeface="Palatino Linotype"/>
                <a:cs typeface="Palatino Linotype"/>
              </a:rPr>
              <a:t> </a:t>
            </a:r>
            <a:r>
              <a:rPr sz="2750" dirty="0">
                <a:latin typeface="Palatino Linotype"/>
                <a:cs typeface="Palatino Linotype"/>
              </a:rPr>
              <a:t>then</a:t>
            </a:r>
            <a:r>
              <a:rPr sz="2750" spc="75" dirty="0">
                <a:latin typeface="Palatino Linotype"/>
                <a:cs typeface="Palatino Linotype"/>
              </a:rPr>
              <a:t> </a:t>
            </a:r>
            <a:r>
              <a:rPr sz="2750" dirty="0">
                <a:latin typeface="Palatino Linotype"/>
                <a:cs typeface="Palatino Linotype"/>
              </a:rPr>
              <a:t>further</a:t>
            </a:r>
            <a:r>
              <a:rPr sz="2750" spc="75" dirty="0">
                <a:latin typeface="Palatino Linotype"/>
                <a:cs typeface="Palatino Linotype"/>
              </a:rPr>
              <a:t> </a:t>
            </a:r>
            <a:r>
              <a:rPr sz="2750" dirty="0">
                <a:latin typeface="Palatino Linotype"/>
                <a:cs typeface="Palatino Linotype"/>
              </a:rPr>
              <a:t>updating</a:t>
            </a:r>
            <a:r>
              <a:rPr sz="2750" spc="70" dirty="0">
                <a:latin typeface="Palatino Linotype"/>
                <a:cs typeface="Palatino Linotype"/>
              </a:rPr>
              <a:t> </a:t>
            </a:r>
            <a:r>
              <a:rPr sz="2750" dirty="0">
                <a:latin typeface="Palatino Linotype"/>
                <a:cs typeface="Palatino Linotype"/>
              </a:rPr>
              <a:t>the</a:t>
            </a:r>
            <a:r>
              <a:rPr sz="2750" spc="60" dirty="0">
                <a:latin typeface="Palatino Linotype"/>
                <a:cs typeface="Palatino Linotype"/>
              </a:rPr>
              <a:t> </a:t>
            </a:r>
            <a:r>
              <a:rPr sz="2750" dirty="0">
                <a:latin typeface="Palatino Linotype"/>
                <a:cs typeface="Palatino Linotype"/>
              </a:rPr>
              <a:t>pretrained</a:t>
            </a:r>
            <a:r>
              <a:rPr sz="2750" spc="75" dirty="0">
                <a:latin typeface="Palatino Linotype"/>
                <a:cs typeface="Palatino Linotype"/>
              </a:rPr>
              <a:t> </a:t>
            </a:r>
            <a:r>
              <a:rPr sz="2750" dirty="0">
                <a:latin typeface="Palatino Linotype"/>
                <a:cs typeface="Palatino Linotype"/>
              </a:rPr>
              <a:t>model</a:t>
            </a:r>
            <a:r>
              <a:rPr sz="2750" spc="60" dirty="0">
                <a:latin typeface="Palatino Linotype"/>
                <a:cs typeface="Palatino Linotype"/>
              </a:rPr>
              <a:t> </a:t>
            </a:r>
            <a:r>
              <a:rPr sz="2750" dirty="0">
                <a:latin typeface="Palatino Linotype"/>
                <a:cs typeface="Palatino Linotype"/>
              </a:rPr>
              <a:t>on</a:t>
            </a:r>
            <a:r>
              <a:rPr sz="2750" spc="75" dirty="0">
                <a:latin typeface="Palatino Linotype"/>
                <a:cs typeface="Palatino Linotype"/>
              </a:rPr>
              <a:t> </a:t>
            </a:r>
            <a:r>
              <a:rPr sz="2750" spc="-10" dirty="0">
                <a:latin typeface="Palatino Linotype"/>
                <a:cs typeface="Palatino Linotype"/>
              </a:rPr>
              <a:t>these</a:t>
            </a:r>
            <a:endParaRPr sz="2750" dirty="0">
              <a:latin typeface="Palatino Linotype"/>
              <a:cs typeface="Palatino Linotype"/>
            </a:endParaRPr>
          </a:p>
          <a:p>
            <a:pPr>
              <a:lnSpc>
                <a:spcPct val="100000"/>
              </a:lnSpc>
              <a:spcBef>
                <a:spcPts val="1265"/>
              </a:spcBef>
              <a:buFont typeface="Arial"/>
              <a:buChar char="•"/>
            </a:pPr>
            <a:endParaRPr sz="2750" dirty="0">
              <a:latin typeface="Palatino Linotype"/>
              <a:cs typeface="Palatino Linotype"/>
            </a:endParaRPr>
          </a:p>
          <a:p>
            <a:pPr marL="241300" marR="697230" indent="-229235">
              <a:lnSpc>
                <a:spcPts val="3080"/>
              </a:lnSpc>
              <a:buFont typeface="Arial"/>
              <a:buChar char="•"/>
              <a:tabLst>
                <a:tab pos="241300" algn="l"/>
              </a:tabLst>
            </a:pPr>
            <a:r>
              <a:rPr sz="2750" dirty="0">
                <a:latin typeface="Palatino Linotype"/>
                <a:cs typeface="Palatino Linotype"/>
              </a:rPr>
              <a:t>Example</a:t>
            </a:r>
            <a:r>
              <a:rPr sz="2750" spc="85" dirty="0">
                <a:latin typeface="Palatino Linotype"/>
                <a:cs typeface="Palatino Linotype"/>
              </a:rPr>
              <a:t> </a:t>
            </a:r>
            <a:r>
              <a:rPr sz="2750" dirty="0">
                <a:latin typeface="Palatino Linotype"/>
                <a:cs typeface="Palatino Linotype"/>
              </a:rPr>
              <a:t>of</a:t>
            </a:r>
            <a:r>
              <a:rPr sz="2750" spc="135" dirty="0">
                <a:latin typeface="Palatino Linotype"/>
                <a:cs typeface="Palatino Linotype"/>
              </a:rPr>
              <a:t> </a:t>
            </a:r>
            <a:r>
              <a:rPr sz="2750" dirty="0">
                <a:latin typeface="Palatino Linotype"/>
                <a:cs typeface="Palatino Linotype"/>
              </a:rPr>
              <a:t>such</a:t>
            </a:r>
            <a:r>
              <a:rPr sz="2750" spc="114" dirty="0">
                <a:latin typeface="Palatino Linotype"/>
                <a:cs typeface="Palatino Linotype"/>
              </a:rPr>
              <a:t> </a:t>
            </a:r>
            <a:r>
              <a:rPr sz="2750" dirty="0">
                <a:latin typeface="Palatino Linotype"/>
                <a:cs typeface="Palatino Linotype"/>
              </a:rPr>
              <a:t>datasets:</a:t>
            </a:r>
            <a:r>
              <a:rPr sz="2750" spc="140" dirty="0">
                <a:latin typeface="Palatino Linotype"/>
                <a:cs typeface="Palatino Linotype"/>
              </a:rPr>
              <a:t> </a:t>
            </a:r>
            <a:r>
              <a:rPr sz="2750" dirty="0">
                <a:latin typeface="Palatino Linotype"/>
                <a:cs typeface="Palatino Linotype"/>
              </a:rPr>
              <a:t>FLAN,</a:t>
            </a:r>
            <a:r>
              <a:rPr sz="2750" spc="55" dirty="0">
                <a:latin typeface="Palatino Linotype"/>
                <a:cs typeface="Palatino Linotype"/>
              </a:rPr>
              <a:t> </a:t>
            </a:r>
            <a:r>
              <a:rPr sz="2750" dirty="0">
                <a:latin typeface="Palatino Linotype"/>
                <a:cs typeface="Palatino Linotype"/>
              </a:rPr>
              <a:t>TULU,</a:t>
            </a:r>
            <a:r>
              <a:rPr sz="2750" spc="145" dirty="0">
                <a:latin typeface="Palatino Linotype"/>
                <a:cs typeface="Palatino Linotype"/>
              </a:rPr>
              <a:t> </a:t>
            </a:r>
            <a:r>
              <a:rPr sz="2750" dirty="0">
                <a:latin typeface="Palatino Linotype"/>
                <a:cs typeface="Palatino Linotype"/>
              </a:rPr>
              <a:t>Stanford</a:t>
            </a:r>
            <a:r>
              <a:rPr sz="2750" spc="20" dirty="0">
                <a:latin typeface="Palatino Linotype"/>
                <a:cs typeface="Palatino Linotype"/>
              </a:rPr>
              <a:t> </a:t>
            </a:r>
            <a:r>
              <a:rPr sz="2750" spc="-10" dirty="0">
                <a:latin typeface="Palatino Linotype"/>
                <a:cs typeface="Palatino Linotype"/>
              </a:rPr>
              <a:t>Alpaca, InstructGPT</a:t>
            </a:r>
            <a:endParaRPr sz="2750" dirty="0">
              <a:latin typeface="Palatino Linotype"/>
              <a:cs typeface="Palatino Linotype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xfrm>
            <a:off x="838200" y="681016"/>
            <a:ext cx="10515600" cy="693780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dirty="0">
                <a:latin typeface="Palatino Linotype" panose="02040502050505030304" pitchFamily="18" charset="0"/>
              </a:rPr>
              <a:t>FLAN</a:t>
            </a:r>
            <a:r>
              <a:rPr spc="-50" dirty="0">
                <a:latin typeface="Palatino Linotype" panose="02040502050505030304" pitchFamily="18" charset="0"/>
              </a:rPr>
              <a:t> </a:t>
            </a:r>
            <a:r>
              <a:rPr spc="-10" dirty="0">
                <a:latin typeface="Palatino Linotype" panose="02040502050505030304" pitchFamily="18" charset="0"/>
              </a:rPr>
              <a:t>dataset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917575" y="1517332"/>
            <a:ext cx="9701530" cy="3917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40029" indent="-227329">
              <a:lnSpc>
                <a:spcPct val="100000"/>
              </a:lnSpc>
              <a:spcBef>
                <a:spcPts val="100"/>
              </a:spcBef>
              <a:buFont typeface="Arial"/>
              <a:buChar char="•"/>
              <a:tabLst>
                <a:tab pos="240029" algn="l"/>
              </a:tabLst>
            </a:pPr>
            <a:r>
              <a:rPr sz="2400" dirty="0">
                <a:latin typeface="Palatino Linotype"/>
                <a:cs typeface="Palatino Linotype"/>
              </a:rPr>
              <a:t>60</a:t>
            </a:r>
            <a:r>
              <a:rPr sz="2400" spc="-50" dirty="0">
                <a:latin typeface="Palatino Linotype"/>
                <a:cs typeface="Palatino Linotype"/>
              </a:rPr>
              <a:t> </a:t>
            </a:r>
            <a:r>
              <a:rPr sz="2400" dirty="0">
                <a:latin typeface="Palatino Linotype"/>
                <a:cs typeface="Palatino Linotype"/>
              </a:rPr>
              <a:t>NLP</a:t>
            </a:r>
            <a:r>
              <a:rPr sz="2400" spc="-80" dirty="0">
                <a:latin typeface="Palatino Linotype"/>
                <a:cs typeface="Palatino Linotype"/>
              </a:rPr>
              <a:t> </a:t>
            </a:r>
            <a:r>
              <a:rPr sz="2400" dirty="0">
                <a:latin typeface="Palatino Linotype"/>
                <a:cs typeface="Palatino Linotype"/>
              </a:rPr>
              <a:t>datasets</a:t>
            </a:r>
            <a:r>
              <a:rPr sz="2400" spc="-25" dirty="0">
                <a:latin typeface="Palatino Linotype"/>
                <a:cs typeface="Palatino Linotype"/>
              </a:rPr>
              <a:t> </a:t>
            </a:r>
            <a:r>
              <a:rPr sz="2400" spc="-10" dirty="0">
                <a:latin typeface="Palatino Linotype"/>
                <a:cs typeface="Palatino Linotype"/>
              </a:rPr>
              <a:t>verbalized</a:t>
            </a:r>
            <a:r>
              <a:rPr sz="2400" spc="-90" dirty="0">
                <a:latin typeface="Palatino Linotype"/>
                <a:cs typeface="Palatino Linotype"/>
              </a:rPr>
              <a:t> </a:t>
            </a:r>
            <a:r>
              <a:rPr sz="2400" dirty="0">
                <a:latin typeface="Palatino Linotype"/>
                <a:cs typeface="Palatino Linotype"/>
              </a:rPr>
              <a:t>via</a:t>
            </a:r>
            <a:r>
              <a:rPr sz="2400" spc="-50" dirty="0">
                <a:latin typeface="Palatino Linotype"/>
                <a:cs typeface="Palatino Linotype"/>
              </a:rPr>
              <a:t> </a:t>
            </a:r>
            <a:r>
              <a:rPr sz="2400" dirty="0">
                <a:latin typeface="Palatino Linotype"/>
                <a:cs typeface="Palatino Linotype"/>
              </a:rPr>
              <a:t>natural</a:t>
            </a:r>
            <a:r>
              <a:rPr sz="2400" spc="-80" dirty="0">
                <a:latin typeface="Palatino Linotype"/>
                <a:cs typeface="Palatino Linotype"/>
              </a:rPr>
              <a:t> </a:t>
            </a:r>
            <a:r>
              <a:rPr sz="2400" dirty="0">
                <a:latin typeface="Palatino Linotype"/>
                <a:cs typeface="Palatino Linotype"/>
              </a:rPr>
              <a:t>language</a:t>
            </a:r>
            <a:r>
              <a:rPr sz="2400" spc="-75" dirty="0">
                <a:latin typeface="Palatino Linotype"/>
                <a:cs typeface="Palatino Linotype"/>
              </a:rPr>
              <a:t> </a:t>
            </a:r>
            <a:r>
              <a:rPr sz="2400" dirty="0">
                <a:latin typeface="Palatino Linotype"/>
                <a:cs typeface="Palatino Linotype"/>
              </a:rPr>
              <a:t>instruction</a:t>
            </a:r>
            <a:r>
              <a:rPr sz="2400" spc="-35" dirty="0">
                <a:latin typeface="Palatino Linotype"/>
                <a:cs typeface="Palatino Linotype"/>
              </a:rPr>
              <a:t> </a:t>
            </a:r>
            <a:r>
              <a:rPr sz="2400" spc="-10" dirty="0">
                <a:latin typeface="Palatino Linotype"/>
                <a:cs typeface="Palatino Linotype"/>
              </a:rPr>
              <a:t>templates</a:t>
            </a:r>
            <a:endParaRPr sz="2400">
              <a:latin typeface="Palatino Linotype"/>
              <a:cs typeface="Palatino Linotype"/>
            </a:endParaRPr>
          </a:p>
        </p:txBody>
      </p:sp>
      <p:pic>
        <p:nvPicPr>
          <p:cNvPr id="4" name="object 4" descr="A screenshot of a computer  AI-generated content may be incorrect.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209800" y="2286000"/>
            <a:ext cx="7772400" cy="3800475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C0E207A4-D42D-43C4-C5B7-43B4AEBFB91B}"/>
              </a:ext>
            </a:extLst>
          </p:cNvPr>
          <p:cNvSpPr txBox="1"/>
          <p:nvPr/>
        </p:nvSpPr>
        <p:spPr>
          <a:xfrm>
            <a:off x="4010977" y="6151584"/>
            <a:ext cx="417004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>
                <a:latin typeface="Palatino Linotype" panose="02040502050505030304" pitchFamily="18" charset="0"/>
              </a:rPr>
              <a:t>Model Instruction -&gt; Task Specification</a:t>
            </a:r>
            <a:endParaRPr lang="ko-KR" altLang="en-US" dirty="0">
              <a:latin typeface="Palatino Linotype" panose="02040502050505030304" pitchFamily="18" charset="0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dirty="0"/>
              <a:t>Random</a:t>
            </a:r>
            <a:r>
              <a:rPr spc="-175" dirty="0"/>
              <a:t> </a:t>
            </a:r>
            <a:r>
              <a:rPr dirty="0"/>
              <a:t>examples</a:t>
            </a:r>
            <a:r>
              <a:rPr spc="-90" dirty="0"/>
              <a:t> </a:t>
            </a:r>
            <a:r>
              <a:rPr dirty="0"/>
              <a:t>from</a:t>
            </a:r>
            <a:r>
              <a:rPr spc="-225" dirty="0"/>
              <a:t> </a:t>
            </a:r>
            <a:r>
              <a:rPr dirty="0"/>
              <a:t>Alpaca</a:t>
            </a:r>
            <a:r>
              <a:rPr spc="-120" dirty="0"/>
              <a:t> </a:t>
            </a:r>
            <a:r>
              <a:rPr spc="-10" dirty="0"/>
              <a:t>dataset</a:t>
            </a:r>
          </a:p>
        </p:txBody>
      </p:sp>
      <p:pic>
        <p:nvPicPr>
          <p:cNvPr id="3" name="object 3" descr="A screenshot of a computer program  AI-generated content may be incorrect.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905000" y="1543050"/>
            <a:ext cx="8382000" cy="4343400"/>
          </a:xfrm>
          <a:prstGeom prst="rect">
            <a:avLst/>
          </a:prstGeom>
        </p:spPr>
      </p:pic>
      <p:sp>
        <p:nvSpPr>
          <p:cNvPr id="4" name="object 4"/>
          <p:cNvSpPr txBox="1"/>
          <p:nvPr/>
        </p:nvSpPr>
        <p:spPr>
          <a:xfrm>
            <a:off x="8804656" y="6303327"/>
            <a:ext cx="2875915" cy="3003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dirty="0">
                <a:latin typeface="Palatino Linotype"/>
                <a:cs typeface="Palatino Linotype"/>
              </a:rPr>
              <a:t>From</a:t>
            </a:r>
            <a:r>
              <a:rPr sz="1800" spc="-45" dirty="0">
                <a:latin typeface="Palatino Linotype"/>
                <a:cs typeface="Palatino Linotype"/>
              </a:rPr>
              <a:t> </a:t>
            </a:r>
            <a:r>
              <a:rPr sz="1800" dirty="0">
                <a:latin typeface="Palatino Linotype"/>
                <a:cs typeface="Palatino Linotype"/>
              </a:rPr>
              <a:t>Stanford</a:t>
            </a:r>
            <a:r>
              <a:rPr sz="1800" spc="-5" dirty="0">
                <a:latin typeface="Palatino Linotype"/>
                <a:cs typeface="Palatino Linotype"/>
              </a:rPr>
              <a:t> </a:t>
            </a:r>
            <a:r>
              <a:rPr sz="1800" dirty="0">
                <a:latin typeface="Palatino Linotype"/>
                <a:cs typeface="Palatino Linotype"/>
              </a:rPr>
              <a:t>CS 336</a:t>
            </a:r>
            <a:r>
              <a:rPr sz="1800" spc="-30" dirty="0">
                <a:latin typeface="Palatino Linotype"/>
                <a:cs typeface="Palatino Linotype"/>
              </a:rPr>
              <a:t> </a:t>
            </a:r>
            <a:r>
              <a:rPr sz="1800" spc="-10" dirty="0">
                <a:latin typeface="Palatino Linotype"/>
                <a:cs typeface="Palatino Linotype"/>
              </a:rPr>
              <a:t>slides</a:t>
            </a:r>
            <a:endParaRPr sz="1800">
              <a:latin typeface="Palatino Linotype"/>
              <a:cs typeface="Palatino Linotype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xfrm>
            <a:off x="838200" y="681016"/>
            <a:ext cx="10515600" cy="693780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dirty="0">
                <a:latin typeface="Palatino Linotype" panose="02040502050505030304" pitchFamily="18" charset="0"/>
              </a:rPr>
              <a:t>Instruction</a:t>
            </a:r>
            <a:r>
              <a:rPr spc="-145" dirty="0">
                <a:latin typeface="Palatino Linotype" panose="02040502050505030304" pitchFamily="18" charset="0"/>
              </a:rPr>
              <a:t> </a:t>
            </a:r>
            <a:r>
              <a:rPr spc="-10" dirty="0">
                <a:latin typeface="Palatino Linotype" panose="02040502050505030304" pitchFamily="18" charset="0"/>
              </a:rPr>
              <a:t>following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252729" y="6423977"/>
            <a:ext cx="8237220" cy="266065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1550" dirty="0">
                <a:solidFill>
                  <a:srgbClr val="80350D"/>
                </a:solidFill>
                <a:latin typeface="Palatino Linotype"/>
                <a:cs typeface="Palatino Linotype"/>
              </a:rPr>
              <a:t>[Training</a:t>
            </a:r>
            <a:r>
              <a:rPr sz="1550" spc="105" dirty="0">
                <a:solidFill>
                  <a:srgbClr val="80350D"/>
                </a:solidFill>
                <a:latin typeface="Palatino Linotype"/>
                <a:cs typeface="Palatino Linotype"/>
              </a:rPr>
              <a:t> </a:t>
            </a:r>
            <a:r>
              <a:rPr sz="1550" dirty="0">
                <a:solidFill>
                  <a:srgbClr val="80350D"/>
                </a:solidFill>
                <a:latin typeface="Palatino Linotype"/>
                <a:cs typeface="Palatino Linotype"/>
              </a:rPr>
              <a:t>language</a:t>
            </a:r>
            <a:r>
              <a:rPr sz="1550" spc="75" dirty="0">
                <a:solidFill>
                  <a:srgbClr val="80350D"/>
                </a:solidFill>
                <a:latin typeface="Palatino Linotype"/>
                <a:cs typeface="Palatino Linotype"/>
              </a:rPr>
              <a:t> </a:t>
            </a:r>
            <a:r>
              <a:rPr sz="1550" dirty="0">
                <a:solidFill>
                  <a:srgbClr val="80350D"/>
                </a:solidFill>
                <a:latin typeface="Palatino Linotype"/>
                <a:cs typeface="Palatino Linotype"/>
              </a:rPr>
              <a:t>models</a:t>
            </a:r>
            <a:r>
              <a:rPr sz="1550" spc="90" dirty="0">
                <a:solidFill>
                  <a:srgbClr val="80350D"/>
                </a:solidFill>
                <a:latin typeface="Palatino Linotype"/>
                <a:cs typeface="Palatino Linotype"/>
              </a:rPr>
              <a:t> </a:t>
            </a:r>
            <a:r>
              <a:rPr sz="1550" dirty="0">
                <a:solidFill>
                  <a:srgbClr val="80350D"/>
                </a:solidFill>
                <a:latin typeface="Palatino Linotype"/>
                <a:cs typeface="Palatino Linotype"/>
              </a:rPr>
              <a:t>to</a:t>
            </a:r>
            <a:r>
              <a:rPr sz="1550" spc="130" dirty="0">
                <a:solidFill>
                  <a:srgbClr val="80350D"/>
                </a:solidFill>
                <a:latin typeface="Palatino Linotype"/>
                <a:cs typeface="Palatino Linotype"/>
              </a:rPr>
              <a:t> </a:t>
            </a:r>
            <a:r>
              <a:rPr sz="1550" dirty="0">
                <a:solidFill>
                  <a:srgbClr val="80350D"/>
                </a:solidFill>
                <a:latin typeface="Palatino Linotype"/>
                <a:cs typeface="Palatino Linotype"/>
              </a:rPr>
              <a:t>follow</a:t>
            </a:r>
            <a:r>
              <a:rPr sz="1550" spc="130" dirty="0">
                <a:solidFill>
                  <a:srgbClr val="80350D"/>
                </a:solidFill>
                <a:latin typeface="Palatino Linotype"/>
                <a:cs typeface="Palatino Linotype"/>
              </a:rPr>
              <a:t> </a:t>
            </a:r>
            <a:r>
              <a:rPr sz="1550" dirty="0">
                <a:solidFill>
                  <a:srgbClr val="80350D"/>
                </a:solidFill>
                <a:latin typeface="Palatino Linotype"/>
                <a:cs typeface="Palatino Linotype"/>
              </a:rPr>
              <a:t>instructions</a:t>
            </a:r>
            <a:r>
              <a:rPr sz="1550" spc="180" dirty="0">
                <a:solidFill>
                  <a:srgbClr val="80350D"/>
                </a:solidFill>
                <a:latin typeface="Palatino Linotype"/>
                <a:cs typeface="Palatino Linotype"/>
              </a:rPr>
              <a:t> </a:t>
            </a:r>
            <a:r>
              <a:rPr sz="1550" dirty="0">
                <a:solidFill>
                  <a:srgbClr val="80350D"/>
                </a:solidFill>
                <a:latin typeface="Palatino Linotype"/>
                <a:cs typeface="Palatino Linotype"/>
              </a:rPr>
              <a:t>with</a:t>
            </a:r>
            <a:r>
              <a:rPr sz="1550" spc="65" dirty="0">
                <a:solidFill>
                  <a:srgbClr val="80350D"/>
                </a:solidFill>
                <a:latin typeface="Palatino Linotype"/>
                <a:cs typeface="Palatino Linotype"/>
              </a:rPr>
              <a:t> </a:t>
            </a:r>
            <a:r>
              <a:rPr sz="1550" dirty="0">
                <a:solidFill>
                  <a:srgbClr val="80350D"/>
                </a:solidFill>
                <a:latin typeface="Palatino Linotype"/>
                <a:cs typeface="Palatino Linotype"/>
              </a:rPr>
              <a:t>human</a:t>
            </a:r>
            <a:r>
              <a:rPr sz="1550" spc="150" dirty="0">
                <a:solidFill>
                  <a:srgbClr val="80350D"/>
                </a:solidFill>
                <a:latin typeface="Palatino Linotype"/>
                <a:cs typeface="Palatino Linotype"/>
              </a:rPr>
              <a:t> </a:t>
            </a:r>
            <a:r>
              <a:rPr sz="1550" dirty="0">
                <a:solidFill>
                  <a:srgbClr val="80350D"/>
                </a:solidFill>
                <a:latin typeface="Palatino Linotype"/>
                <a:cs typeface="Palatino Linotype"/>
              </a:rPr>
              <a:t>feedback.</a:t>
            </a:r>
            <a:r>
              <a:rPr sz="1550" spc="150" dirty="0">
                <a:solidFill>
                  <a:srgbClr val="80350D"/>
                </a:solidFill>
                <a:latin typeface="Palatino Linotype"/>
                <a:cs typeface="Palatino Linotype"/>
              </a:rPr>
              <a:t> </a:t>
            </a:r>
            <a:r>
              <a:rPr sz="1550" dirty="0">
                <a:solidFill>
                  <a:srgbClr val="80350D"/>
                </a:solidFill>
                <a:latin typeface="Palatino Linotype"/>
                <a:cs typeface="Palatino Linotype"/>
              </a:rPr>
              <a:t>Ouyang</a:t>
            </a:r>
            <a:r>
              <a:rPr sz="1550" spc="110" dirty="0">
                <a:solidFill>
                  <a:srgbClr val="80350D"/>
                </a:solidFill>
                <a:latin typeface="Palatino Linotype"/>
                <a:cs typeface="Palatino Linotype"/>
              </a:rPr>
              <a:t> </a:t>
            </a:r>
            <a:r>
              <a:rPr sz="1550" dirty="0">
                <a:solidFill>
                  <a:srgbClr val="80350D"/>
                </a:solidFill>
                <a:latin typeface="Palatino Linotype"/>
                <a:cs typeface="Palatino Linotype"/>
              </a:rPr>
              <a:t>et</a:t>
            </a:r>
            <a:r>
              <a:rPr sz="1550" spc="95" dirty="0">
                <a:solidFill>
                  <a:srgbClr val="80350D"/>
                </a:solidFill>
                <a:latin typeface="Palatino Linotype"/>
                <a:cs typeface="Palatino Linotype"/>
              </a:rPr>
              <a:t> </a:t>
            </a:r>
            <a:r>
              <a:rPr sz="1550" dirty="0">
                <a:solidFill>
                  <a:srgbClr val="80350D"/>
                </a:solidFill>
                <a:latin typeface="Palatino Linotype"/>
                <a:cs typeface="Palatino Linotype"/>
              </a:rPr>
              <a:t>al.</a:t>
            </a:r>
            <a:r>
              <a:rPr sz="1550" spc="55" dirty="0">
                <a:solidFill>
                  <a:srgbClr val="80350D"/>
                </a:solidFill>
                <a:latin typeface="Palatino Linotype"/>
                <a:cs typeface="Palatino Linotype"/>
              </a:rPr>
              <a:t> </a:t>
            </a:r>
            <a:r>
              <a:rPr sz="1550" spc="-10" dirty="0">
                <a:solidFill>
                  <a:srgbClr val="80350D"/>
                </a:solidFill>
                <a:latin typeface="Palatino Linotype"/>
                <a:cs typeface="Palatino Linotype"/>
              </a:rPr>
              <a:t>2022]</a:t>
            </a:r>
            <a:endParaRPr sz="1550">
              <a:latin typeface="Palatino Linotype"/>
              <a:cs typeface="Palatino Linotype"/>
            </a:endParaRPr>
          </a:p>
        </p:txBody>
      </p:sp>
      <p:pic>
        <p:nvPicPr>
          <p:cNvPr id="4" name="object 4" descr="A screenshot of a cell phone  AI-generated content may be incorrect.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8372475" y="1076325"/>
            <a:ext cx="2705100" cy="4705350"/>
          </a:xfrm>
          <a:prstGeom prst="rect">
            <a:avLst/>
          </a:prstGeom>
        </p:spPr>
      </p:pic>
      <p:sp>
        <p:nvSpPr>
          <p:cNvPr id="5" name="object 5"/>
          <p:cNvSpPr txBox="1"/>
          <p:nvPr/>
        </p:nvSpPr>
        <p:spPr>
          <a:xfrm>
            <a:off x="917575" y="2202497"/>
            <a:ext cx="6983095" cy="1950085"/>
          </a:xfrm>
          <a:prstGeom prst="rect">
            <a:avLst/>
          </a:prstGeom>
        </p:spPr>
        <p:txBody>
          <a:bodyPr vert="horz" wrap="square" lIns="0" tIns="10795" rIns="0" bIns="0" rtlCol="0">
            <a:spAutoFit/>
          </a:bodyPr>
          <a:lstStyle/>
          <a:p>
            <a:pPr marL="298450" marR="5080" indent="-286385">
              <a:lnSpc>
                <a:spcPct val="100800"/>
              </a:lnSpc>
              <a:spcBef>
                <a:spcPts val="85"/>
              </a:spcBef>
              <a:buFont typeface="Arial"/>
              <a:buChar char="•"/>
              <a:tabLst>
                <a:tab pos="298450" algn="l"/>
              </a:tabLst>
            </a:pPr>
            <a:r>
              <a:rPr sz="1800" spc="-10" dirty="0">
                <a:latin typeface="Palatino Linotype"/>
                <a:cs typeface="Palatino Linotype"/>
              </a:rPr>
              <a:t>Pre-</a:t>
            </a:r>
            <a:r>
              <a:rPr sz="1800" dirty="0">
                <a:latin typeface="Palatino Linotype"/>
                <a:cs typeface="Palatino Linotype"/>
              </a:rPr>
              <a:t>training</a:t>
            </a:r>
            <a:r>
              <a:rPr sz="1800" spc="10" dirty="0">
                <a:latin typeface="Palatino Linotype"/>
                <a:cs typeface="Palatino Linotype"/>
              </a:rPr>
              <a:t> </a:t>
            </a:r>
            <a:r>
              <a:rPr sz="1800" dirty="0">
                <a:latin typeface="Palatino Linotype"/>
                <a:cs typeface="Palatino Linotype"/>
              </a:rPr>
              <a:t>on</a:t>
            </a:r>
            <a:r>
              <a:rPr sz="1800" spc="-25" dirty="0">
                <a:latin typeface="Palatino Linotype"/>
                <a:cs typeface="Palatino Linotype"/>
              </a:rPr>
              <a:t> </a:t>
            </a:r>
            <a:r>
              <a:rPr sz="1800" dirty="0">
                <a:latin typeface="Palatino Linotype"/>
                <a:cs typeface="Palatino Linotype"/>
              </a:rPr>
              <a:t>trillions</a:t>
            </a:r>
            <a:r>
              <a:rPr sz="1800" spc="25" dirty="0">
                <a:latin typeface="Palatino Linotype"/>
                <a:cs typeface="Palatino Linotype"/>
              </a:rPr>
              <a:t> </a:t>
            </a:r>
            <a:r>
              <a:rPr sz="1800" dirty="0">
                <a:latin typeface="Palatino Linotype"/>
                <a:cs typeface="Palatino Linotype"/>
              </a:rPr>
              <a:t>of</a:t>
            </a:r>
            <a:r>
              <a:rPr sz="1800" spc="-30" dirty="0">
                <a:latin typeface="Palatino Linotype"/>
                <a:cs typeface="Palatino Linotype"/>
              </a:rPr>
              <a:t> </a:t>
            </a:r>
            <a:r>
              <a:rPr sz="1800" dirty="0">
                <a:latin typeface="Palatino Linotype"/>
                <a:cs typeface="Palatino Linotype"/>
              </a:rPr>
              <a:t>internet</a:t>
            </a:r>
            <a:r>
              <a:rPr sz="1800" spc="-15" dirty="0">
                <a:latin typeface="Palatino Linotype"/>
                <a:cs typeface="Palatino Linotype"/>
              </a:rPr>
              <a:t> </a:t>
            </a:r>
            <a:r>
              <a:rPr sz="1800" dirty="0">
                <a:latin typeface="Palatino Linotype"/>
                <a:cs typeface="Palatino Linotype"/>
              </a:rPr>
              <a:t>tokens</a:t>
            </a:r>
            <a:r>
              <a:rPr sz="1800" spc="-45" dirty="0">
                <a:latin typeface="Palatino Linotype"/>
                <a:cs typeface="Palatino Linotype"/>
              </a:rPr>
              <a:t> </a:t>
            </a:r>
            <a:r>
              <a:rPr sz="1800" dirty="0">
                <a:latin typeface="Palatino Linotype"/>
                <a:cs typeface="Palatino Linotype"/>
              </a:rPr>
              <a:t>does</a:t>
            </a:r>
            <a:r>
              <a:rPr sz="1800" spc="-40" dirty="0">
                <a:latin typeface="Palatino Linotype"/>
                <a:cs typeface="Palatino Linotype"/>
              </a:rPr>
              <a:t> </a:t>
            </a:r>
            <a:r>
              <a:rPr sz="1800" dirty="0">
                <a:latin typeface="Palatino Linotype"/>
                <a:cs typeface="Palatino Linotype"/>
              </a:rPr>
              <a:t>not</a:t>
            </a:r>
            <a:r>
              <a:rPr sz="1800" spc="-90" dirty="0">
                <a:latin typeface="Palatino Linotype"/>
                <a:cs typeface="Palatino Linotype"/>
              </a:rPr>
              <a:t> </a:t>
            </a:r>
            <a:r>
              <a:rPr sz="1800" dirty="0">
                <a:latin typeface="Palatino Linotype"/>
                <a:cs typeface="Palatino Linotype"/>
              </a:rPr>
              <a:t>lead</a:t>
            </a:r>
            <a:r>
              <a:rPr sz="1800" spc="-10" dirty="0">
                <a:latin typeface="Palatino Linotype"/>
                <a:cs typeface="Palatino Linotype"/>
              </a:rPr>
              <a:t> </a:t>
            </a:r>
            <a:r>
              <a:rPr sz="1800" dirty="0">
                <a:latin typeface="Palatino Linotype"/>
                <a:cs typeface="Palatino Linotype"/>
              </a:rPr>
              <a:t>to</a:t>
            </a:r>
            <a:r>
              <a:rPr sz="1800" spc="30" dirty="0">
                <a:latin typeface="Palatino Linotype"/>
                <a:cs typeface="Palatino Linotype"/>
              </a:rPr>
              <a:t> </a:t>
            </a:r>
            <a:r>
              <a:rPr sz="1800" spc="-10" dirty="0">
                <a:latin typeface="Palatino Linotype"/>
                <a:cs typeface="Palatino Linotype"/>
              </a:rPr>
              <a:t>models </a:t>
            </a:r>
            <a:r>
              <a:rPr sz="1800" dirty="0">
                <a:latin typeface="Palatino Linotype"/>
                <a:cs typeface="Palatino Linotype"/>
              </a:rPr>
              <a:t>that</a:t>
            </a:r>
            <a:r>
              <a:rPr sz="1800" spc="-10" dirty="0">
                <a:latin typeface="Palatino Linotype"/>
                <a:cs typeface="Palatino Linotype"/>
              </a:rPr>
              <a:t> </a:t>
            </a:r>
            <a:r>
              <a:rPr sz="1800" dirty="0">
                <a:latin typeface="Palatino Linotype"/>
                <a:cs typeface="Palatino Linotype"/>
              </a:rPr>
              <a:t>can</a:t>
            </a:r>
            <a:r>
              <a:rPr sz="1800" spc="-15" dirty="0">
                <a:latin typeface="Palatino Linotype"/>
                <a:cs typeface="Palatino Linotype"/>
              </a:rPr>
              <a:t> </a:t>
            </a:r>
            <a:r>
              <a:rPr sz="1800" dirty="0">
                <a:latin typeface="Palatino Linotype"/>
                <a:cs typeface="Palatino Linotype"/>
              </a:rPr>
              <a:t>follow</a:t>
            </a:r>
            <a:r>
              <a:rPr sz="1800" spc="-15" dirty="0">
                <a:latin typeface="Palatino Linotype"/>
                <a:cs typeface="Palatino Linotype"/>
              </a:rPr>
              <a:t> </a:t>
            </a:r>
            <a:r>
              <a:rPr sz="1800" spc="-10" dirty="0">
                <a:latin typeface="Palatino Linotype"/>
                <a:cs typeface="Palatino Linotype"/>
              </a:rPr>
              <a:t>instructions</a:t>
            </a:r>
            <a:endParaRPr sz="1800" dirty="0">
              <a:latin typeface="Palatino Linotype"/>
              <a:cs typeface="Palatino Linotype"/>
            </a:endParaRPr>
          </a:p>
          <a:p>
            <a:pPr marL="298450" indent="-285750">
              <a:lnSpc>
                <a:spcPct val="100000"/>
              </a:lnSpc>
              <a:spcBef>
                <a:spcPts val="15"/>
              </a:spcBef>
              <a:buFont typeface="Arial"/>
              <a:buChar char="•"/>
              <a:tabLst>
                <a:tab pos="298450" algn="l"/>
              </a:tabLst>
            </a:pPr>
            <a:r>
              <a:rPr sz="1800" dirty="0">
                <a:latin typeface="Palatino Linotype"/>
                <a:cs typeface="Palatino Linotype"/>
              </a:rPr>
              <a:t>It</a:t>
            </a:r>
            <a:r>
              <a:rPr sz="1800" spc="-10" dirty="0">
                <a:latin typeface="Palatino Linotype"/>
                <a:cs typeface="Palatino Linotype"/>
              </a:rPr>
              <a:t> </a:t>
            </a:r>
            <a:r>
              <a:rPr sz="1800" dirty="0">
                <a:latin typeface="Palatino Linotype"/>
                <a:cs typeface="Palatino Linotype"/>
              </a:rPr>
              <a:t>is</a:t>
            </a:r>
            <a:r>
              <a:rPr sz="1800" spc="-35" dirty="0">
                <a:latin typeface="Palatino Linotype"/>
                <a:cs typeface="Palatino Linotype"/>
              </a:rPr>
              <a:t> </a:t>
            </a:r>
            <a:r>
              <a:rPr sz="1800" dirty="0">
                <a:latin typeface="Palatino Linotype"/>
                <a:cs typeface="Palatino Linotype"/>
              </a:rPr>
              <a:t>“raw”</a:t>
            </a:r>
            <a:r>
              <a:rPr sz="1800" spc="-25" dirty="0">
                <a:latin typeface="Palatino Linotype"/>
                <a:cs typeface="Palatino Linotype"/>
              </a:rPr>
              <a:t> </a:t>
            </a:r>
            <a:r>
              <a:rPr sz="1800" dirty="0">
                <a:latin typeface="Palatino Linotype"/>
                <a:cs typeface="Palatino Linotype"/>
              </a:rPr>
              <a:t>data</a:t>
            </a:r>
            <a:r>
              <a:rPr sz="1800" spc="-20" dirty="0">
                <a:latin typeface="Palatino Linotype"/>
                <a:cs typeface="Palatino Linotype"/>
              </a:rPr>
              <a:t> </a:t>
            </a:r>
            <a:r>
              <a:rPr sz="1800" dirty="0">
                <a:latin typeface="Palatino Linotype"/>
                <a:cs typeface="Palatino Linotype"/>
              </a:rPr>
              <a:t>that</a:t>
            </a:r>
            <a:r>
              <a:rPr sz="1800" spc="-10" dirty="0">
                <a:latin typeface="Palatino Linotype"/>
                <a:cs typeface="Palatino Linotype"/>
              </a:rPr>
              <a:t> </a:t>
            </a:r>
            <a:r>
              <a:rPr sz="1800" dirty="0">
                <a:latin typeface="Palatino Linotype"/>
                <a:cs typeface="Palatino Linotype"/>
              </a:rPr>
              <a:t>could be</a:t>
            </a:r>
            <a:r>
              <a:rPr sz="1800" spc="10" dirty="0">
                <a:latin typeface="Palatino Linotype"/>
                <a:cs typeface="Palatino Linotype"/>
              </a:rPr>
              <a:t> </a:t>
            </a:r>
            <a:r>
              <a:rPr sz="1800" dirty="0">
                <a:latin typeface="Palatino Linotype"/>
                <a:cs typeface="Palatino Linotype"/>
              </a:rPr>
              <a:t>of</a:t>
            </a:r>
            <a:r>
              <a:rPr sz="1800" spc="-15" dirty="0">
                <a:latin typeface="Palatino Linotype"/>
                <a:cs typeface="Palatino Linotype"/>
              </a:rPr>
              <a:t> </a:t>
            </a:r>
            <a:r>
              <a:rPr sz="1800" dirty="0">
                <a:latin typeface="Palatino Linotype"/>
                <a:cs typeface="Palatino Linotype"/>
              </a:rPr>
              <a:t>many</a:t>
            </a:r>
            <a:r>
              <a:rPr sz="1800" spc="-50" dirty="0">
                <a:latin typeface="Palatino Linotype"/>
                <a:cs typeface="Palatino Linotype"/>
              </a:rPr>
              <a:t> </a:t>
            </a:r>
            <a:r>
              <a:rPr sz="1800" dirty="0">
                <a:latin typeface="Palatino Linotype"/>
                <a:cs typeface="Palatino Linotype"/>
              </a:rPr>
              <a:t>different</a:t>
            </a:r>
            <a:r>
              <a:rPr sz="1800" spc="-80" dirty="0">
                <a:latin typeface="Palatino Linotype"/>
                <a:cs typeface="Palatino Linotype"/>
              </a:rPr>
              <a:t> </a:t>
            </a:r>
            <a:r>
              <a:rPr sz="1800" dirty="0">
                <a:latin typeface="Palatino Linotype"/>
                <a:cs typeface="Palatino Linotype"/>
              </a:rPr>
              <a:t>formats,</a:t>
            </a:r>
            <a:r>
              <a:rPr sz="1800" spc="-20" dirty="0">
                <a:latin typeface="Palatino Linotype"/>
                <a:cs typeface="Palatino Linotype"/>
              </a:rPr>
              <a:t> </a:t>
            </a:r>
            <a:r>
              <a:rPr sz="1800" spc="-10" dirty="0">
                <a:latin typeface="Palatino Linotype"/>
                <a:cs typeface="Palatino Linotype"/>
              </a:rPr>
              <a:t>think</a:t>
            </a:r>
            <a:endParaRPr sz="1800" dirty="0">
              <a:latin typeface="Palatino Linotype"/>
              <a:cs typeface="Palatino Linotype"/>
            </a:endParaRPr>
          </a:p>
          <a:p>
            <a:pPr marL="298450">
              <a:lnSpc>
                <a:spcPct val="100000"/>
              </a:lnSpc>
              <a:spcBef>
                <a:spcPts val="20"/>
              </a:spcBef>
            </a:pPr>
            <a:r>
              <a:rPr sz="1800" dirty="0">
                <a:latin typeface="Palatino Linotype"/>
                <a:cs typeface="Palatino Linotype"/>
              </a:rPr>
              <a:t>large</a:t>
            </a:r>
            <a:r>
              <a:rPr sz="1800" spc="-40" dirty="0">
                <a:latin typeface="Palatino Linotype"/>
                <a:cs typeface="Palatino Linotype"/>
              </a:rPr>
              <a:t> </a:t>
            </a:r>
            <a:r>
              <a:rPr sz="1800" dirty="0">
                <a:latin typeface="Palatino Linotype"/>
                <a:cs typeface="Palatino Linotype"/>
              </a:rPr>
              <a:t>pieces</a:t>
            </a:r>
            <a:r>
              <a:rPr sz="1800" spc="-10" dirty="0">
                <a:latin typeface="Palatino Linotype"/>
                <a:cs typeface="Palatino Linotype"/>
              </a:rPr>
              <a:t> </a:t>
            </a:r>
            <a:r>
              <a:rPr sz="1800" dirty="0">
                <a:latin typeface="Palatino Linotype"/>
                <a:cs typeface="Palatino Linotype"/>
              </a:rPr>
              <a:t>of</a:t>
            </a:r>
            <a:r>
              <a:rPr sz="1800" spc="5" dirty="0">
                <a:latin typeface="Palatino Linotype"/>
                <a:cs typeface="Palatino Linotype"/>
              </a:rPr>
              <a:t> </a:t>
            </a:r>
            <a:r>
              <a:rPr sz="1800" dirty="0">
                <a:latin typeface="Palatino Linotype"/>
                <a:cs typeface="Palatino Linotype"/>
              </a:rPr>
              <a:t>text</a:t>
            </a:r>
            <a:r>
              <a:rPr sz="1800" spc="-65" dirty="0">
                <a:latin typeface="Palatino Linotype"/>
                <a:cs typeface="Palatino Linotype"/>
              </a:rPr>
              <a:t> </a:t>
            </a:r>
            <a:r>
              <a:rPr sz="1800" dirty="0">
                <a:latin typeface="Palatino Linotype"/>
                <a:cs typeface="Palatino Linotype"/>
              </a:rPr>
              <a:t>from</a:t>
            </a:r>
            <a:r>
              <a:rPr sz="1800" spc="-15" dirty="0">
                <a:latin typeface="Palatino Linotype"/>
                <a:cs typeface="Palatino Linotype"/>
              </a:rPr>
              <a:t> </a:t>
            </a:r>
            <a:r>
              <a:rPr sz="1800" dirty="0">
                <a:latin typeface="Palatino Linotype"/>
                <a:cs typeface="Palatino Linotype"/>
              </a:rPr>
              <a:t>an</a:t>
            </a:r>
            <a:r>
              <a:rPr sz="1800" spc="5" dirty="0">
                <a:latin typeface="Palatino Linotype"/>
                <a:cs typeface="Palatino Linotype"/>
              </a:rPr>
              <a:t> </a:t>
            </a:r>
            <a:r>
              <a:rPr sz="1800" spc="-10" dirty="0">
                <a:latin typeface="Palatino Linotype"/>
                <a:cs typeface="Palatino Linotype"/>
              </a:rPr>
              <a:t>encyclopedia</a:t>
            </a:r>
            <a:endParaRPr sz="1800" dirty="0">
              <a:latin typeface="Palatino Linotype"/>
              <a:cs typeface="Palatino Linotype"/>
            </a:endParaRPr>
          </a:p>
          <a:p>
            <a:pPr marL="298450" marR="654685" indent="-286385">
              <a:lnSpc>
                <a:spcPct val="100800"/>
              </a:lnSpc>
              <a:spcBef>
                <a:spcPts val="2105"/>
              </a:spcBef>
              <a:buFont typeface="Arial"/>
              <a:buChar char="•"/>
              <a:tabLst>
                <a:tab pos="298450" algn="l"/>
              </a:tabLst>
            </a:pPr>
            <a:r>
              <a:rPr sz="1800" spc="-20" dirty="0">
                <a:latin typeface="Palatino Linotype"/>
                <a:cs typeface="Palatino Linotype"/>
              </a:rPr>
              <a:t>We</a:t>
            </a:r>
            <a:r>
              <a:rPr sz="1800" spc="-10" dirty="0">
                <a:latin typeface="Palatino Linotype"/>
                <a:cs typeface="Palatino Linotype"/>
              </a:rPr>
              <a:t> </a:t>
            </a:r>
            <a:r>
              <a:rPr sz="1800" dirty="0">
                <a:latin typeface="Palatino Linotype"/>
                <a:cs typeface="Palatino Linotype"/>
              </a:rPr>
              <a:t>need</a:t>
            </a:r>
            <a:r>
              <a:rPr sz="1800" spc="-15" dirty="0">
                <a:latin typeface="Palatino Linotype"/>
                <a:cs typeface="Palatino Linotype"/>
              </a:rPr>
              <a:t> </a:t>
            </a:r>
            <a:r>
              <a:rPr sz="1800" dirty="0">
                <a:latin typeface="Palatino Linotype"/>
                <a:cs typeface="Palatino Linotype"/>
              </a:rPr>
              <a:t>to</a:t>
            </a:r>
            <a:r>
              <a:rPr sz="1800" spc="25" dirty="0">
                <a:latin typeface="Palatino Linotype"/>
                <a:cs typeface="Palatino Linotype"/>
              </a:rPr>
              <a:t> </a:t>
            </a:r>
            <a:r>
              <a:rPr sz="1800" dirty="0">
                <a:latin typeface="Palatino Linotype"/>
                <a:cs typeface="Palatino Linotype"/>
              </a:rPr>
              <a:t>do</a:t>
            </a:r>
            <a:r>
              <a:rPr sz="1800" spc="-45" dirty="0">
                <a:latin typeface="Palatino Linotype"/>
                <a:cs typeface="Palatino Linotype"/>
              </a:rPr>
              <a:t> </a:t>
            </a:r>
            <a:r>
              <a:rPr sz="1800" dirty="0">
                <a:latin typeface="Palatino Linotype"/>
                <a:cs typeface="Palatino Linotype"/>
              </a:rPr>
              <a:t>some</a:t>
            </a:r>
            <a:r>
              <a:rPr sz="1800" spc="-75" dirty="0">
                <a:latin typeface="Palatino Linotype"/>
                <a:cs typeface="Palatino Linotype"/>
              </a:rPr>
              <a:t> </a:t>
            </a:r>
            <a:r>
              <a:rPr sz="1800" dirty="0">
                <a:latin typeface="Palatino Linotype"/>
                <a:cs typeface="Palatino Linotype"/>
              </a:rPr>
              <a:t>supervised</a:t>
            </a:r>
            <a:r>
              <a:rPr sz="1800" spc="-80" dirty="0">
                <a:latin typeface="Palatino Linotype"/>
                <a:cs typeface="Palatino Linotype"/>
              </a:rPr>
              <a:t> </a:t>
            </a:r>
            <a:r>
              <a:rPr sz="1800" dirty="0">
                <a:latin typeface="Palatino Linotype"/>
                <a:cs typeface="Palatino Linotype"/>
              </a:rPr>
              <a:t>fine-tuning</a:t>
            </a:r>
            <a:r>
              <a:rPr sz="1800" spc="10" dirty="0">
                <a:latin typeface="Palatino Linotype"/>
                <a:cs typeface="Palatino Linotype"/>
              </a:rPr>
              <a:t> </a:t>
            </a:r>
            <a:r>
              <a:rPr sz="1800" dirty="0">
                <a:latin typeface="Palatino Linotype"/>
                <a:cs typeface="Palatino Linotype"/>
              </a:rPr>
              <a:t>on</a:t>
            </a:r>
            <a:r>
              <a:rPr sz="1800" spc="-35" dirty="0">
                <a:latin typeface="Palatino Linotype"/>
                <a:cs typeface="Palatino Linotype"/>
              </a:rPr>
              <a:t> </a:t>
            </a:r>
            <a:r>
              <a:rPr sz="1800" spc="-10" dirty="0">
                <a:latin typeface="Palatino Linotype"/>
                <a:cs typeface="Palatino Linotype"/>
              </a:rPr>
              <a:t>[instruction; </a:t>
            </a:r>
            <a:r>
              <a:rPr sz="1800" dirty="0">
                <a:latin typeface="Palatino Linotype"/>
                <a:cs typeface="Palatino Linotype"/>
              </a:rPr>
              <a:t>response]</a:t>
            </a:r>
            <a:r>
              <a:rPr sz="1800" spc="-10" dirty="0">
                <a:latin typeface="Palatino Linotype"/>
                <a:cs typeface="Palatino Linotype"/>
              </a:rPr>
              <a:t> </a:t>
            </a:r>
            <a:r>
              <a:rPr sz="1800" spc="-20" dirty="0">
                <a:latin typeface="Palatino Linotype"/>
                <a:cs typeface="Palatino Linotype"/>
              </a:rPr>
              <a:t>pairs</a:t>
            </a:r>
            <a:endParaRPr sz="1800" dirty="0">
              <a:latin typeface="Palatino Linotype"/>
              <a:cs typeface="Palatino Linotype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88F579DE-DC64-9724-3965-1DAAACCDE630}"/>
              </a:ext>
            </a:extLst>
          </p:cNvPr>
          <p:cNvSpPr txBox="1"/>
          <p:nvPr/>
        </p:nvSpPr>
        <p:spPr>
          <a:xfrm>
            <a:off x="838200" y="1506022"/>
            <a:ext cx="17526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 err="1">
                <a:latin typeface="Palatino Linotype" panose="02040502050505030304" pitchFamily="18" charset="0"/>
              </a:rPr>
              <a:t>InstructGPT</a:t>
            </a:r>
            <a:endParaRPr lang="ko-KR" altLang="en-US" dirty="0">
              <a:latin typeface="Palatino Linotype" panose="02040502050505030304" pitchFamily="18" charset="0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dirty="0"/>
              <a:t>Preference</a:t>
            </a:r>
            <a:r>
              <a:rPr spc="-140" dirty="0"/>
              <a:t> </a:t>
            </a:r>
            <a:r>
              <a:rPr spc="-20" dirty="0"/>
              <a:t>data</a:t>
            </a:r>
          </a:p>
        </p:txBody>
      </p:sp>
      <p:pic>
        <p:nvPicPr>
          <p:cNvPr id="3" name="object 3" descr="A screenshot of a phone  AI-generated content may be incorrect.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4181475" y="1409700"/>
            <a:ext cx="4343400" cy="5086350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63376E8-3361-C4D6-19A1-9AD3154DE0A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>
            <a:extLst>
              <a:ext uri="{FF2B5EF4-FFF2-40B4-BE49-F238E27FC236}">
                <a16:creationId xmlns:a16="http://schemas.microsoft.com/office/drawing/2014/main" id="{51BADD67-5CE8-8C1D-42EF-4D03C1C31311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838200" y="681016"/>
            <a:ext cx="10515600" cy="693780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lang="en-US" spc="-20" dirty="0"/>
              <a:t>Human Preferences as a Reward Signal</a:t>
            </a:r>
            <a:endParaRPr spc="-20" dirty="0"/>
          </a:p>
        </p:txBody>
      </p:sp>
      <p:sp>
        <p:nvSpPr>
          <p:cNvPr id="5" name="object 5">
            <a:extLst>
              <a:ext uri="{FF2B5EF4-FFF2-40B4-BE49-F238E27FC236}">
                <a16:creationId xmlns:a16="http://schemas.microsoft.com/office/drawing/2014/main" id="{828317AE-482A-698C-FB50-BD624FB74427}"/>
              </a:ext>
            </a:extLst>
          </p:cNvPr>
          <p:cNvSpPr txBox="1"/>
          <p:nvPr/>
        </p:nvSpPr>
        <p:spPr>
          <a:xfrm>
            <a:off x="838200" y="1707691"/>
            <a:ext cx="5877045" cy="2012089"/>
          </a:xfrm>
          <a:prstGeom prst="rect">
            <a:avLst/>
          </a:prstGeom>
        </p:spPr>
        <p:txBody>
          <a:bodyPr vert="horz" wrap="square" lIns="0" tIns="10795" rIns="0" bIns="0" rtlCol="0">
            <a:spAutoFit/>
          </a:bodyPr>
          <a:lstStyle/>
          <a:p>
            <a:pPr marL="298450" marR="5080" indent="-286385">
              <a:lnSpc>
                <a:spcPct val="100800"/>
              </a:lnSpc>
              <a:spcBef>
                <a:spcPts val="85"/>
              </a:spcBef>
              <a:buFont typeface="Wingdings" panose="05000000000000000000" pitchFamily="2" charset="2"/>
              <a:buChar char="§"/>
              <a:tabLst>
                <a:tab pos="298450" algn="l"/>
              </a:tabLst>
            </a:pPr>
            <a:r>
              <a:rPr lang="en-US" spc="-10" dirty="0">
                <a:latin typeface="Palatino Linotype"/>
                <a:cs typeface="Palatino Linotype"/>
              </a:rPr>
              <a:t>Deep RL from Human Preferences</a:t>
            </a:r>
          </a:p>
          <a:p>
            <a:pPr marL="298450" marR="5080" indent="-286385">
              <a:lnSpc>
                <a:spcPct val="100800"/>
              </a:lnSpc>
              <a:spcBef>
                <a:spcPts val="85"/>
              </a:spcBef>
              <a:buFont typeface="Arial"/>
              <a:buChar char="•"/>
              <a:tabLst>
                <a:tab pos="298450" algn="l"/>
              </a:tabLst>
            </a:pPr>
            <a:endParaRPr lang="en-US" sz="1800" spc="-10" dirty="0">
              <a:latin typeface="Palatino Linotype"/>
              <a:cs typeface="Palatino Linotype"/>
            </a:endParaRPr>
          </a:p>
          <a:p>
            <a:pPr marL="298450" marR="5080" indent="-286385">
              <a:lnSpc>
                <a:spcPct val="100800"/>
              </a:lnSpc>
              <a:spcBef>
                <a:spcPts val="85"/>
              </a:spcBef>
              <a:buFont typeface="Arial"/>
              <a:buChar char="•"/>
              <a:tabLst>
                <a:tab pos="298450" algn="l"/>
              </a:tabLst>
            </a:pPr>
            <a:r>
              <a:rPr lang="en-US" sz="1800" dirty="0">
                <a:latin typeface="Palatino Linotype"/>
                <a:cs typeface="Palatino Linotype"/>
              </a:rPr>
              <a:t>Key idea:</a:t>
            </a:r>
            <a:br>
              <a:rPr lang="en-US" sz="1800" dirty="0">
                <a:latin typeface="Palatino Linotype"/>
                <a:cs typeface="Palatino Linotype"/>
              </a:rPr>
            </a:br>
            <a:r>
              <a:rPr lang="en-US" sz="1800" dirty="0">
                <a:latin typeface="Palatino Linotype"/>
                <a:cs typeface="Palatino Linotype"/>
              </a:rPr>
              <a:t>Humans may </a:t>
            </a:r>
            <a:r>
              <a:rPr lang="en-US" sz="1800" b="1" dirty="0">
                <a:solidFill>
                  <a:srgbClr val="FF0000"/>
                </a:solidFill>
                <a:latin typeface="Palatino Linotype"/>
                <a:cs typeface="Palatino Linotype"/>
              </a:rPr>
              <a:t>not</a:t>
            </a:r>
            <a:r>
              <a:rPr lang="en-US" sz="1800" dirty="0">
                <a:latin typeface="Palatino Linotype"/>
                <a:cs typeface="Palatino Linotype"/>
              </a:rPr>
              <a:t> </a:t>
            </a:r>
            <a:r>
              <a:rPr lang="en-US" sz="1800" b="1" dirty="0">
                <a:latin typeface="Palatino Linotype"/>
                <a:cs typeface="Palatino Linotype"/>
              </a:rPr>
              <a:t>specify rewards</a:t>
            </a:r>
            <a:r>
              <a:rPr lang="en-US" sz="1800" dirty="0">
                <a:latin typeface="Palatino Linotype"/>
                <a:cs typeface="Palatino Linotype"/>
              </a:rPr>
              <a:t>,</a:t>
            </a:r>
            <a:br>
              <a:rPr lang="en-US" sz="1800" dirty="0">
                <a:latin typeface="Palatino Linotype"/>
                <a:cs typeface="Palatino Linotype"/>
              </a:rPr>
            </a:br>
            <a:r>
              <a:rPr lang="en-US" sz="1800" dirty="0">
                <a:latin typeface="Palatino Linotype"/>
                <a:cs typeface="Palatino Linotype"/>
              </a:rPr>
              <a:t>but they can </a:t>
            </a:r>
            <a:r>
              <a:rPr lang="en-US" sz="1800" b="1" dirty="0">
                <a:latin typeface="Palatino Linotype"/>
                <a:cs typeface="Palatino Linotype"/>
              </a:rPr>
              <a:t>compare behaviors</a:t>
            </a:r>
            <a:r>
              <a:rPr lang="en-US" sz="1800" dirty="0">
                <a:latin typeface="Palatino Linotype"/>
                <a:cs typeface="Palatino Linotype"/>
              </a:rPr>
              <a:t>.</a:t>
            </a:r>
          </a:p>
          <a:p>
            <a:pPr marL="298450" marR="5080" indent="-286385">
              <a:lnSpc>
                <a:spcPct val="100800"/>
              </a:lnSpc>
              <a:spcBef>
                <a:spcPts val="85"/>
              </a:spcBef>
              <a:buFont typeface="Arial"/>
              <a:buChar char="•"/>
              <a:tabLst>
                <a:tab pos="298450" algn="l"/>
              </a:tabLst>
            </a:pPr>
            <a:endParaRPr lang="en-US" dirty="0">
              <a:latin typeface="Palatino Linotype"/>
              <a:cs typeface="Palatino Linotype"/>
            </a:endParaRPr>
          </a:p>
          <a:p>
            <a:pPr marL="12065" marR="5080">
              <a:lnSpc>
                <a:spcPct val="100800"/>
              </a:lnSpc>
              <a:spcBef>
                <a:spcPts val="85"/>
              </a:spcBef>
              <a:tabLst>
                <a:tab pos="298450" algn="l"/>
              </a:tabLst>
            </a:pPr>
            <a:r>
              <a:rPr lang="en-US" dirty="0">
                <a:latin typeface="Palatino Linotype"/>
                <a:cs typeface="Palatino Linotype"/>
              </a:rPr>
              <a:t>	</a:t>
            </a:r>
            <a:endParaRPr lang="en-US" sz="1800" dirty="0">
              <a:latin typeface="Palatino Linotype"/>
              <a:cs typeface="Palatino Linotype"/>
            </a:endParaRPr>
          </a:p>
        </p:txBody>
      </p:sp>
      <p:pic>
        <p:nvPicPr>
          <p:cNvPr id="7" name="그림 6">
            <a:extLst>
              <a:ext uri="{FF2B5EF4-FFF2-40B4-BE49-F238E27FC236}">
                <a16:creationId xmlns:a16="http://schemas.microsoft.com/office/drawing/2014/main" id="{21642597-65C6-820B-804F-762E6BC774D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86645" y="2264565"/>
            <a:ext cx="4638555" cy="2911433"/>
          </a:xfrm>
          <a:prstGeom prst="rect">
            <a:avLst/>
          </a:prstGeom>
        </p:spPr>
      </p:pic>
      <p:sp>
        <p:nvSpPr>
          <p:cNvPr id="9" name="object 4">
            <a:extLst>
              <a:ext uri="{FF2B5EF4-FFF2-40B4-BE49-F238E27FC236}">
                <a16:creationId xmlns:a16="http://schemas.microsoft.com/office/drawing/2014/main" id="{67254060-1F12-5772-0B73-0B00598877A9}"/>
              </a:ext>
            </a:extLst>
          </p:cNvPr>
          <p:cNvSpPr txBox="1"/>
          <p:nvPr/>
        </p:nvSpPr>
        <p:spPr>
          <a:xfrm>
            <a:off x="252729" y="6423977"/>
            <a:ext cx="9196071" cy="254557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1550" dirty="0">
                <a:solidFill>
                  <a:srgbClr val="80350D"/>
                </a:solidFill>
                <a:latin typeface="Palatino Linotype"/>
                <a:cs typeface="Palatino Linotype"/>
              </a:rPr>
              <a:t>[</a:t>
            </a:r>
            <a:r>
              <a:rPr lang="en-US" sz="1550" dirty="0">
                <a:solidFill>
                  <a:srgbClr val="80350D"/>
                </a:solidFill>
                <a:latin typeface="Palatino Linotype"/>
                <a:cs typeface="Palatino Linotype"/>
              </a:rPr>
              <a:t>Christiano</a:t>
            </a:r>
            <a:r>
              <a:rPr sz="1550" spc="85" dirty="0">
                <a:solidFill>
                  <a:srgbClr val="80350D"/>
                </a:solidFill>
                <a:latin typeface="Palatino Linotype"/>
                <a:cs typeface="Palatino Linotype"/>
              </a:rPr>
              <a:t> </a:t>
            </a:r>
            <a:r>
              <a:rPr sz="1550" dirty="0">
                <a:solidFill>
                  <a:srgbClr val="80350D"/>
                </a:solidFill>
                <a:latin typeface="Palatino Linotype"/>
                <a:cs typeface="Palatino Linotype"/>
              </a:rPr>
              <a:t>et</a:t>
            </a:r>
            <a:r>
              <a:rPr sz="1550" spc="40" dirty="0">
                <a:solidFill>
                  <a:srgbClr val="80350D"/>
                </a:solidFill>
                <a:latin typeface="Palatino Linotype"/>
                <a:cs typeface="Palatino Linotype"/>
              </a:rPr>
              <a:t> </a:t>
            </a:r>
            <a:r>
              <a:rPr sz="1550" dirty="0">
                <a:solidFill>
                  <a:srgbClr val="80350D"/>
                </a:solidFill>
                <a:latin typeface="Palatino Linotype"/>
                <a:cs typeface="Palatino Linotype"/>
              </a:rPr>
              <a:t>al.</a:t>
            </a:r>
            <a:r>
              <a:rPr lang="en-US" sz="1550" dirty="0">
                <a:solidFill>
                  <a:srgbClr val="80350D"/>
                </a:solidFill>
                <a:latin typeface="Palatino Linotype"/>
                <a:cs typeface="Palatino Linotype"/>
              </a:rPr>
              <a:t>, “Deep Reinforcement Learning from Human Preferences,” </a:t>
            </a:r>
            <a:r>
              <a:rPr lang="en-US" sz="1550" dirty="0" err="1">
                <a:solidFill>
                  <a:srgbClr val="80350D"/>
                </a:solidFill>
                <a:latin typeface="Palatino Linotype"/>
                <a:cs typeface="Palatino Linotype"/>
              </a:rPr>
              <a:t>arXiv</a:t>
            </a:r>
            <a:r>
              <a:rPr lang="en-US" sz="1550" dirty="0">
                <a:solidFill>
                  <a:srgbClr val="80350D"/>
                </a:solidFill>
                <a:latin typeface="Palatino Linotype"/>
                <a:cs typeface="Palatino Linotype"/>
              </a:rPr>
              <a:t>: 1706.03741,</a:t>
            </a:r>
            <a:r>
              <a:rPr sz="1550" spc="90" dirty="0">
                <a:solidFill>
                  <a:srgbClr val="80350D"/>
                </a:solidFill>
                <a:latin typeface="Palatino Linotype"/>
                <a:cs typeface="Palatino Linotype"/>
              </a:rPr>
              <a:t> </a:t>
            </a:r>
            <a:r>
              <a:rPr sz="1550" spc="-20" dirty="0">
                <a:solidFill>
                  <a:srgbClr val="80350D"/>
                </a:solidFill>
                <a:latin typeface="Palatino Linotype"/>
                <a:cs typeface="Palatino Linotype"/>
              </a:rPr>
              <a:t>20</a:t>
            </a:r>
            <a:r>
              <a:rPr lang="en-US" sz="1550" spc="-20" dirty="0">
                <a:solidFill>
                  <a:srgbClr val="80350D"/>
                </a:solidFill>
                <a:latin typeface="Palatino Linotype"/>
                <a:cs typeface="Palatino Linotype"/>
              </a:rPr>
              <a:t>23</a:t>
            </a:r>
            <a:r>
              <a:rPr sz="1550" spc="-20" dirty="0">
                <a:solidFill>
                  <a:srgbClr val="80350D"/>
                </a:solidFill>
                <a:latin typeface="Palatino Linotype"/>
                <a:cs typeface="Palatino Linotype"/>
              </a:rPr>
              <a:t>]</a:t>
            </a:r>
            <a:endParaRPr sz="1550" dirty="0">
              <a:latin typeface="Palatino Linotype"/>
              <a:cs typeface="Palatino Linotype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8061B6F0-4F20-7520-9E3A-81C6EBDA410E}"/>
              </a:ext>
            </a:extLst>
          </p:cNvPr>
          <p:cNvSpPr txBox="1"/>
          <p:nvPr/>
        </p:nvSpPr>
        <p:spPr>
          <a:xfrm>
            <a:off x="1066800" y="3581400"/>
            <a:ext cx="3276600" cy="20313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b="1" dirty="0">
                <a:latin typeface="Palatino Linotype" panose="02040502050505030304" pitchFamily="18" charset="0"/>
              </a:rPr>
              <a:t>Trajectory A  </a:t>
            </a:r>
            <a:r>
              <a:rPr lang="en-US" altLang="ko-KR" dirty="0">
                <a:latin typeface="Palatino Linotype" panose="02040502050505030304" pitchFamily="18" charset="0"/>
              </a:rPr>
              <a:t>vs.  </a:t>
            </a:r>
            <a:r>
              <a:rPr lang="en-US" altLang="ko-KR" b="1" dirty="0">
                <a:latin typeface="Palatino Linotype" panose="02040502050505030304" pitchFamily="18" charset="0"/>
              </a:rPr>
              <a:t>Trajectory B</a:t>
            </a:r>
          </a:p>
          <a:p>
            <a:pPr algn="ctr"/>
            <a:endParaRPr lang="en-US" altLang="ko-KR" dirty="0">
              <a:latin typeface="Palatino Linotype" panose="02040502050505030304" pitchFamily="18" charset="0"/>
            </a:endParaRPr>
          </a:p>
          <a:p>
            <a:pPr algn="ctr"/>
            <a:endParaRPr lang="en-US" altLang="ko-KR" dirty="0">
              <a:latin typeface="Palatino Linotype" panose="02040502050505030304" pitchFamily="18" charset="0"/>
            </a:endParaRPr>
          </a:p>
          <a:p>
            <a:pPr algn="ctr"/>
            <a:r>
              <a:rPr lang="en-US" altLang="ko-KR" b="1" dirty="0">
                <a:latin typeface="Palatino Linotype" panose="02040502050505030304" pitchFamily="18" charset="0"/>
              </a:rPr>
              <a:t>Human Preference</a:t>
            </a:r>
          </a:p>
          <a:p>
            <a:pPr algn="ctr"/>
            <a:endParaRPr lang="en-US" altLang="ko-KR" dirty="0">
              <a:latin typeface="Palatino Linotype" panose="02040502050505030304" pitchFamily="18" charset="0"/>
            </a:endParaRPr>
          </a:p>
          <a:p>
            <a:pPr algn="ctr"/>
            <a:endParaRPr lang="en-US" altLang="ko-KR" dirty="0">
              <a:latin typeface="Palatino Linotype" panose="02040502050505030304" pitchFamily="18" charset="0"/>
            </a:endParaRPr>
          </a:p>
          <a:p>
            <a:pPr algn="ctr"/>
            <a:r>
              <a:rPr lang="en-US" altLang="ko-KR" b="1" dirty="0">
                <a:latin typeface="Palatino Linotype" panose="02040502050505030304" pitchFamily="18" charset="0"/>
              </a:rPr>
              <a:t>Reward Predictor</a:t>
            </a:r>
            <a:endParaRPr lang="ko-KR" altLang="en-US" b="1" dirty="0">
              <a:latin typeface="Palatino Linotype" panose="02040502050505030304" pitchFamily="18" charset="0"/>
            </a:endParaRPr>
          </a:p>
        </p:txBody>
      </p:sp>
      <p:sp>
        <p:nvSpPr>
          <p:cNvPr id="11" name="화살표: 아래쪽 10">
            <a:extLst>
              <a:ext uri="{FF2B5EF4-FFF2-40B4-BE49-F238E27FC236}">
                <a16:creationId xmlns:a16="http://schemas.microsoft.com/office/drawing/2014/main" id="{E681FA1A-05B7-359F-3ADC-E5FFF7E9A62A}"/>
              </a:ext>
            </a:extLst>
          </p:cNvPr>
          <p:cNvSpPr/>
          <p:nvPr/>
        </p:nvSpPr>
        <p:spPr>
          <a:xfrm>
            <a:off x="2590800" y="4043782"/>
            <a:ext cx="228600" cy="304800"/>
          </a:xfrm>
          <a:prstGeom prst="downArrow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3" name="화살표: 아래쪽 12">
            <a:extLst>
              <a:ext uri="{FF2B5EF4-FFF2-40B4-BE49-F238E27FC236}">
                <a16:creationId xmlns:a16="http://schemas.microsoft.com/office/drawing/2014/main" id="{990882AF-A264-2F71-6E80-01F89EE3C84D}"/>
              </a:ext>
            </a:extLst>
          </p:cNvPr>
          <p:cNvSpPr/>
          <p:nvPr/>
        </p:nvSpPr>
        <p:spPr>
          <a:xfrm>
            <a:off x="2590800" y="4855034"/>
            <a:ext cx="228600" cy="304800"/>
          </a:xfrm>
          <a:prstGeom prst="downArrow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547C6246-14C1-0673-774A-C8543F6766AF}"/>
              </a:ext>
            </a:extLst>
          </p:cNvPr>
          <p:cNvSpPr txBox="1"/>
          <p:nvPr/>
        </p:nvSpPr>
        <p:spPr>
          <a:xfrm>
            <a:off x="5910322" y="1635014"/>
            <a:ext cx="57912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b="1" dirty="0">
                <a:latin typeface="Palatino Linotype" panose="02040502050505030304" pitchFamily="18" charset="0"/>
              </a:rPr>
              <a:t>RLHF</a:t>
            </a:r>
            <a:r>
              <a:rPr lang="en-US" altLang="ko-KR" dirty="0">
                <a:latin typeface="Palatino Linotype" panose="02040502050505030304" pitchFamily="18" charset="0"/>
              </a:rPr>
              <a:t>: </a:t>
            </a:r>
            <a:r>
              <a:rPr lang="ko-KR" altLang="ko-KR" dirty="0" err="1">
                <a:latin typeface="Palatino Linotype" panose="02040502050505030304" pitchFamily="18" charset="0"/>
              </a:rPr>
              <a:t>Reinforcement</a:t>
            </a:r>
            <a:r>
              <a:rPr lang="ko-KR" altLang="ko-KR" dirty="0">
                <a:latin typeface="Palatino Linotype" panose="02040502050505030304" pitchFamily="18" charset="0"/>
              </a:rPr>
              <a:t> </a:t>
            </a:r>
            <a:r>
              <a:rPr lang="ko-KR" altLang="ko-KR" dirty="0" err="1">
                <a:latin typeface="Palatino Linotype" panose="02040502050505030304" pitchFamily="18" charset="0"/>
              </a:rPr>
              <a:t>Learning</a:t>
            </a:r>
            <a:r>
              <a:rPr lang="ko-KR" altLang="ko-KR" dirty="0">
                <a:latin typeface="Palatino Linotype" panose="02040502050505030304" pitchFamily="18" charset="0"/>
              </a:rPr>
              <a:t> </a:t>
            </a:r>
            <a:r>
              <a:rPr lang="ko-KR" altLang="ko-KR" dirty="0" err="1">
                <a:latin typeface="Palatino Linotype" panose="02040502050505030304" pitchFamily="18" charset="0"/>
              </a:rPr>
              <a:t>from</a:t>
            </a:r>
            <a:r>
              <a:rPr lang="ko-KR" altLang="ko-KR" dirty="0">
                <a:latin typeface="Palatino Linotype" panose="02040502050505030304" pitchFamily="18" charset="0"/>
              </a:rPr>
              <a:t> </a:t>
            </a:r>
            <a:r>
              <a:rPr lang="ko-KR" altLang="ko-KR" dirty="0" err="1">
                <a:latin typeface="Palatino Linotype" panose="02040502050505030304" pitchFamily="18" charset="0"/>
              </a:rPr>
              <a:t>Human</a:t>
            </a:r>
            <a:r>
              <a:rPr lang="ko-KR" altLang="ko-KR" dirty="0">
                <a:latin typeface="Palatino Linotype" panose="02040502050505030304" pitchFamily="18" charset="0"/>
              </a:rPr>
              <a:t> </a:t>
            </a:r>
            <a:r>
              <a:rPr lang="ko-KR" altLang="ko-KR" dirty="0" err="1">
                <a:latin typeface="Palatino Linotype" panose="02040502050505030304" pitchFamily="18" charset="0"/>
              </a:rPr>
              <a:t>Feedback</a:t>
            </a:r>
            <a:endParaRPr lang="ko-KR" altLang="en-US" dirty="0">
              <a:latin typeface="Palatino Linotype" panose="0204050205050503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839713821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C5285E7-77B2-FBBA-3299-26607F4D464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>
            <a:extLst>
              <a:ext uri="{FF2B5EF4-FFF2-40B4-BE49-F238E27FC236}">
                <a16:creationId xmlns:a16="http://schemas.microsoft.com/office/drawing/2014/main" id="{0B71F259-DD40-742D-E4AA-25165843561D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838200" y="681016"/>
            <a:ext cx="10515600" cy="693780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lang="en-US" altLang="ko-KR" spc="-20" dirty="0"/>
              <a:t>Why This Matters for RLHF</a:t>
            </a:r>
            <a:endParaRPr spc="-20" dirty="0"/>
          </a:p>
        </p:txBody>
      </p:sp>
      <p:sp>
        <p:nvSpPr>
          <p:cNvPr id="5" name="object 5">
            <a:extLst>
              <a:ext uri="{FF2B5EF4-FFF2-40B4-BE49-F238E27FC236}">
                <a16:creationId xmlns:a16="http://schemas.microsoft.com/office/drawing/2014/main" id="{0BF37A2C-0412-D7C4-3304-B44BFA356B45}"/>
              </a:ext>
            </a:extLst>
          </p:cNvPr>
          <p:cNvSpPr txBox="1"/>
          <p:nvPr/>
        </p:nvSpPr>
        <p:spPr>
          <a:xfrm>
            <a:off x="838201" y="1707691"/>
            <a:ext cx="5486400" cy="4853508"/>
          </a:xfrm>
          <a:prstGeom prst="rect">
            <a:avLst/>
          </a:prstGeom>
        </p:spPr>
        <p:txBody>
          <a:bodyPr vert="horz" wrap="square" lIns="0" tIns="10795" rIns="0" bIns="0" rtlCol="0">
            <a:spAutoFit/>
          </a:bodyPr>
          <a:lstStyle/>
          <a:p>
            <a:pPr marL="12065" marR="5080">
              <a:lnSpc>
                <a:spcPct val="100800"/>
              </a:lnSpc>
              <a:spcBef>
                <a:spcPts val="85"/>
              </a:spcBef>
              <a:tabLst>
                <a:tab pos="298450" algn="l"/>
              </a:tabLst>
            </a:pPr>
            <a:endParaRPr lang="en-US" spc="-10" dirty="0">
              <a:latin typeface="Palatino Linotype"/>
              <a:cs typeface="Palatino Linotype"/>
            </a:endParaRPr>
          </a:p>
          <a:p>
            <a:pPr marL="298450" marR="5080" indent="-286385">
              <a:lnSpc>
                <a:spcPct val="100800"/>
              </a:lnSpc>
              <a:spcBef>
                <a:spcPts val="85"/>
              </a:spcBef>
              <a:buFont typeface="Wingdings" panose="05000000000000000000" pitchFamily="2" charset="2"/>
              <a:buChar char="§"/>
              <a:tabLst>
                <a:tab pos="298450" algn="l"/>
              </a:tabLst>
            </a:pPr>
            <a:r>
              <a:rPr lang="en-US" spc="-10" dirty="0">
                <a:latin typeface="Palatino Linotype"/>
                <a:cs typeface="Palatino Linotype"/>
              </a:rPr>
              <a:t>Why it matters</a:t>
            </a:r>
          </a:p>
          <a:p>
            <a:pPr marL="12065" marR="5080">
              <a:lnSpc>
                <a:spcPct val="100800"/>
              </a:lnSpc>
              <a:spcBef>
                <a:spcPts val="85"/>
              </a:spcBef>
              <a:tabLst>
                <a:tab pos="298450" algn="l"/>
              </a:tabLst>
            </a:pPr>
            <a:endParaRPr lang="en-US" sz="1800" spc="-10" dirty="0">
              <a:latin typeface="Palatino Linotype"/>
              <a:cs typeface="Palatino Linotype"/>
            </a:endParaRPr>
          </a:p>
          <a:p>
            <a:pPr marL="298450" marR="5080" indent="-286385">
              <a:lnSpc>
                <a:spcPct val="150000"/>
              </a:lnSpc>
              <a:spcBef>
                <a:spcPts val="85"/>
              </a:spcBef>
              <a:buFont typeface="Arial"/>
              <a:buChar char="•"/>
              <a:tabLst>
                <a:tab pos="298450" algn="l"/>
              </a:tabLst>
            </a:pPr>
            <a:r>
              <a:rPr lang="en-US" sz="1800" dirty="0">
                <a:latin typeface="Palatino Linotype"/>
                <a:cs typeface="Palatino Linotype"/>
              </a:rPr>
              <a:t>Reward is hard to specify</a:t>
            </a:r>
          </a:p>
          <a:p>
            <a:pPr marL="298450" marR="5080" indent="-286385">
              <a:lnSpc>
                <a:spcPct val="150000"/>
              </a:lnSpc>
              <a:spcBef>
                <a:spcPts val="85"/>
              </a:spcBef>
              <a:buFont typeface="Arial"/>
              <a:buChar char="•"/>
              <a:tabLst>
                <a:tab pos="298450" algn="l"/>
              </a:tabLst>
            </a:pPr>
            <a:r>
              <a:rPr lang="en-US" dirty="0">
                <a:latin typeface="Palatino Linotype"/>
                <a:cs typeface="Palatino Linotype"/>
              </a:rPr>
              <a:t>Preference is easier to collect</a:t>
            </a:r>
          </a:p>
          <a:p>
            <a:pPr marL="298450" marR="5080" indent="-286385">
              <a:lnSpc>
                <a:spcPct val="150000"/>
              </a:lnSpc>
              <a:spcBef>
                <a:spcPts val="85"/>
              </a:spcBef>
              <a:buFont typeface="Arial"/>
              <a:buChar char="•"/>
              <a:tabLst>
                <a:tab pos="298450" algn="l"/>
              </a:tabLst>
            </a:pPr>
            <a:r>
              <a:rPr lang="en-US" sz="1800" dirty="0">
                <a:latin typeface="Palatino Linotype"/>
                <a:cs typeface="Palatino Linotype"/>
              </a:rPr>
              <a:t>Learned reward enables optimization</a:t>
            </a:r>
          </a:p>
          <a:p>
            <a:pPr marL="298450" marR="5080" indent="-286385">
              <a:lnSpc>
                <a:spcPct val="150000"/>
              </a:lnSpc>
              <a:spcBef>
                <a:spcPts val="85"/>
              </a:spcBef>
              <a:buFont typeface="Arial"/>
              <a:buChar char="•"/>
              <a:tabLst>
                <a:tab pos="298450" algn="l"/>
              </a:tabLst>
            </a:pPr>
            <a:r>
              <a:rPr lang="en-US" dirty="0">
                <a:latin typeface="Palatino Linotype"/>
                <a:cs typeface="Palatino Linotype"/>
              </a:rPr>
              <a:t>Key ancestor of modern RLHF</a:t>
            </a:r>
          </a:p>
          <a:p>
            <a:pPr marL="298450" marR="5080" indent="-286385">
              <a:lnSpc>
                <a:spcPct val="150000"/>
              </a:lnSpc>
              <a:spcBef>
                <a:spcPts val="85"/>
              </a:spcBef>
              <a:buFont typeface="Arial"/>
              <a:buChar char="•"/>
              <a:tabLst>
                <a:tab pos="298450" algn="l"/>
              </a:tabLst>
            </a:pPr>
            <a:endParaRPr lang="en-US" sz="1800" dirty="0">
              <a:latin typeface="Palatino Linotype" panose="02040502050505030304" pitchFamily="18" charset="0"/>
              <a:cs typeface="Palatino Linotype"/>
            </a:endParaRPr>
          </a:p>
          <a:p>
            <a:pPr marL="298450" marR="5080" indent="-286385">
              <a:lnSpc>
                <a:spcPct val="150000"/>
              </a:lnSpc>
              <a:spcBef>
                <a:spcPts val="85"/>
              </a:spcBef>
              <a:buFont typeface="Wingdings" panose="05000000000000000000" pitchFamily="2" charset="2"/>
              <a:buChar char="ü"/>
              <a:tabLst>
                <a:tab pos="298450" algn="l"/>
              </a:tabLst>
            </a:pPr>
            <a:r>
              <a:rPr lang="ko-KR" altLang="ko-KR" dirty="0">
                <a:latin typeface="Palatino Linotype" panose="02040502050505030304" pitchFamily="18" charset="0"/>
              </a:rPr>
              <a:t>The </a:t>
            </a:r>
            <a:r>
              <a:rPr lang="ko-KR" altLang="ko-KR" dirty="0" err="1">
                <a:latin typeface="Palatino Linotype" panose="02040502050505030304" pitchFamily="18" charset="0"/>
              </a:rPr>
              <a:t>paper</a:t>
            </a:r>
            <a:r>
              <a:rPr lang="ko-KR" altLang="ko-KR" dirty="0">
                <a:latin typeface="Palatino Linotype" panose="02040502050505030304" pitchFamily="18" charset="0"/>
              </a:rPr>
              <a:t> </a:t>
            </a:r>
            <a:r>
              <a:rPr lang="ko-KR" altLang="ko-KR" dirty="0" err="1">
                <a:latin typeface="Palatino Linotype" panose="02040502050505030304" pitchFamily="18" charset="0"/>
              </a:rPr>
              <a:t>showed</a:t>
            </a:r>
            <a:r>
              <a:rPr lang="ko-KR" altLang="ko-KR" dirty="0">
                <a:latin typeface="Palatino Linotype" panose="02040502050505030304" pitchFamily="18" charset="0"/>
              </a:rPr>
              <a:t> </a:t>
            </a:r>
            <a:r>
              <a:rPr lang="ko-KR" altLang="ko-KR" dirty="0" err="1">
                <a:latin typeface="Palatino Linotype" panose="02040502050505030304" pitchFamily="18" charset="0"/>
              </a:rPr>
              <a:t>that</a:t>
            </a:r>
            <a:r>
              <a:rPr lang="ko-KR" altLang="ko-KR" dirty="0">
                <a:latin typeface="Palatino Linotype" panose="02040502050505030304" pitchFamily="18" charset="0"/>
              </a:rPr>
              <a:t> </a:t>
            </a:r>
            <a:r>
              <a:rPr lang="ko-KR" altLang="ko-KR" dirty="0" err="1">
                <a:latin typeface="Palatino Linotype" panose="02040502050505030304" pitchFamily="18" charset="0"/>
              </a:rPr>
              <a:t>even</a:t>
            </a:r>
            <a:r>
              <a:rPr lang="ko-KR" altLang="ko-KR" dirty="0">
                <a:latin typeface="Palatino Linotype" panose="02040502050505030304" pitchFamily="18" charset="0"/>
              </a:rPr>
              <a:t> </a:t>
            </a:r>
            <a:r>
              <a:rPr lang="ko-KR" altLang="ko-KR" dirty="0" err="1">
                <a:latin typeface="Palatino Linotype" panose="02040502050505030304" pitchFamily="18" charset="0"/>
              </a:rPr>
              <a:t>using</a:t>
            </a:r>
            <a:r>
              <a:rPr lang="ko-KR" altLang="ko-KR" dirty="0">
                <a:latin typeface="Palatino Linotype" panose="02040502050505030304" pitchFamily="18" charset="0"/>
              </a:rPr>
              <a:t> </a:t>
            </a:r>
            <a:r>
              <a:rPr lang="ko-KR" altLang="ko-KR" dirty="0" err="1">
                <a:latin typeface="Palatino Linotype" panose="02040502050505030304" pitchFamily="18" charset="0"/>
              </a:rPr>
              <a:t>human</a:t>
            </a:r>
            <a:r>
              <a:rPr lang="ko-KR" altLang="ko-KR" dirty="0">
                <a:latin typeface="Palatino Linotype" panose="02040502050505030304" pitchFamily="18" charset="0"/>
              </a:rPr>
              <a:t> </a:t>
            </a:r>
            <a:r>
              <a:rPr lang="ko-KR" altLang="ko-KR" dirty="0" err="1">
                <a:latin typeface="Palatino Linotype" panose="02040502050505030304" pitchFamily="18" charset="0"/>
              </a:rPr>
              <a:t>feedback</a:t>
            </a:r>
            <a:r>
              <a:rPr lang="ko-KR" altLang="ko-KR" dirty="0">
                <a:latin typeface="Palatino Linotype" panose="02040502050505030304" pitchFamily="18" charset="0"/>
              </a:rPr>
              <a:t> </a:t>
            </a:r>
            <a:r>
              <a:rPr lang="ko-KR" altLang="ko-KR" dirty="0" err="1">
                <a:latin typeface="Palatino Linotype" panose="02040502050505030304" pitchFamily="18" charset="0"/>
              </a:rPr>
              <a:t>for</a:t>
            </a:r>
            <a:r>
              <a:rPr lang="ko-KR" altLang="ko-KR" dirty="0">
                <a:latin typeface="Palatino Linotype" panose="02040502050505030304" pitchFamily="18" charset="0"/>
              </a:rPr>
              <a:t> </a:t>
            </a:r>
            <a:r>
              <a:rPr lang="ko-KR" altLang="ko-KR" b="1" dirty="0" err="1">
                <a:latin typeface="Palatino Linotype" panose="02040502050505030304" pitchFamily="18" charset="0"/>
              </a:rPr>
              <a:t>less</a:t>
            </a:r>
            <a:r>
              <a:rPr lang="ko-KR" altLang="ko-KR" b="1" dirty="0">
                <a:latin typeface="Palatino Linotype" panose="02040502050505030304" pitchFamily="18" charset="0"/>
              </a:rPr>
              <a:t> </a:t>
            </a:r>
            <a:r>
              <a:rPr lang="ko-KR" altLang="ko-KR" b="1" dirty="0" err="1">
                <a:latin typeface="Palatino Linotype" panose="02040502050505030304" pitchFamily="18" charset="0"/>
              </a:rPr>
              <a:t>than</a:t>
            </a:r>
            <a:r>
              <a:rPr lang="ko-KR" altLang="ko-KR" b="1" dirty="0">
                <a:latin typeface="Palatino Linotype" panose="02040502050505030304" pitchFamily="18" charset="0"/>
              </a:rPr>
              <a:t> 1% of </a:t>
            </a:r>
            <a:r>
              <a:rPr lang="ko-KR" altLang="ko-KR" b="1" dirty="0" err="1">
                <a:latin typeface="Palatino Linotype" panose="02040502050505030304" pitchFamily="18" charset="0"/>
              </a:rPr>
              <a:t>all</a:t>
            </a:r>
            <a:r>
              <a:rPr lang="ko-KR" altLang="ko-KR" b="1" dirty="0">
                <a:latin typeface="Palatino Linotype" panose="02040502050505030304" pitchFamily="18" charset="0"/>
              </a:rPr>
              <a:t> </a:t>
            </a:r>
            <a:r>
              <a:rPr lang="ko-KR" altLang="ko-KR" b="1" dirty="0" err="1">
                <a:latin typeface="Palatino Linotype" panose="02040502050505030304" pitchFamily="18" charset="0"/>
              </a:rPr>
              <a:t>interactions</a:t>
            </a:r>
            <a:r>
              <a:rPr lang="ko-KR" altLang="ko-KR" dirty="0">
                <a:latin typeface="Palatino Linotype" panose="02040502050505030304" pitchFamily="18" charset="0"/>
              </a:rPr>
              <a:t> </a:t>
            </a:r>
            <a:r>
              <a:rPr lang="ko-KR" altLang="ko-KR" dirty="0" err="1">
                <a:latin typeface="Palatino Linotype" panose="02040502050505030304" pitchFamily="18" charset="0"/>
              </a:rPr>
              <a:t>is</a:t>
            </a:r>
            <a:r>
              <a:rPr lang="ko-KR" altLang="ko-KR" dirty="0">
                <a:latin typeface="Palatino Linotype" panose="02040502050505030304" pitchFamily="18" charset="0"/>
              </a:rPr>
              <a:t> </a:t>
            </a:r>
            <a:r>
              <a:rPr lang="ko-KR" altLang="ko-KR" dirty="0" err="1">
                <a:latin typeface="Palatino Linotype" panose="02040502050505030304" pitchFamily="18" charset="0"/>
              </a:rPr>
              <a:t>sufficient</a:t>
            </a:r>
            <a:r>
              <a:rPr lang="ko-KR" altLang="ko-KR" dirty="0">
                <a:latin typeface="Palatino Linotype" panose="02040502050505030304" pitchFamily="18" charset="0"/>
              </a:rPr>
              <a:t> </a:t>
            </a:r>
            <a:r>
              <a:rPr lang="ko-KR" altLang="ko-KR" dirty="0" err="1">
                <a:latin typeface="Palatino Linotype" panose="02040502050505030304" pitchFamily="18" charset="0"/>
              </a:rPr>
              <a:t>to</a:t>
            </a:r>
            <a:r>
              <a:rPr lang="ko-KR" altLang="ko-KR" dirty="0">
                <a:latin typeface="Palatino Linotype" panose="02040502050505030304" pitchFamily="18" charset="0"/>
              </a:rPr>
              <a:t> </a:t>
            </a:r>
            <a:r>
              <a:rPr lang="ko-KR" altLang="ko-KR" dirty="0" err="1">
                <a:latin typeface="Palatino Linotype" panose="02040502050505030304" pitchFamily="18" charset="0"/>
              </a:rPr>
              <a:t>train</a:t>
            </a:r>
            <a:r>
              <a:rPr lang="ko-KR" altLang="ko-KR" dirty="0">
                <a:latin typeface="Palatino Linotype" panose="02040502050505030304" pitchFamily="18" charset="0"/>
              </a:rPr>
              <a:t> </a:t>
            </a:r>
            <a:r>
              <a:rPr lang="ko-KR" altLang="ko-KR" dirty="0" err="1">
                <a:latin typeface="Palatino Linotype" panose="02040502050505030304" pitchFamily="18" charset="0"/>
              </a:rPr>
              <a:t>complex</a:t>
            </a:r>
            <a:r>
              <a:rPr lang="ko-KR" altLang="ko-KR" dirty="0">
                <a:latin typeface="Palatino Linotype" panose="02040502050505030304" pitchFamily="18" charset="0"/>
              </a:rPr>
              <a:t> </a:t>
            </a:r>
            <a:r>
              <a:rPr lang="ko-KR" altLang="ko-KR" dirty="0" err="1">
                <a:latin typeface="Palatino Linotype" panose="02040502050505030304" pitchFamily="18" charset="0"/>
              </a:rPr>
              <a:t>tasks</a:t>
            </a:r>
            <a:r>
              <a:rPr lang="ko-KR" altLang="ko-KR" dirty="0">
                <a:latin typeface="Palatino Linotype" panose="02040502050505030304" pitchFamily="18" charset="0"/>
              </a:rPr>
              <a:t>.</a:t>
            </a:r>
            <a:endParaRPr lang="en-US" sz="1800" dirty="0">
              <a:latin typeface="Palatino Linotype" panose="02040502050505030304" pitchFamily="18" charset="0"/>
              <a:cs typeface="Palatino Linotype"/>
            </a:endParaRPr>
          </a:p>
          <a:p>
            <a:pPr marL="298450" marR="5080" indent="-286385">
              <a:lnSpc>
                <a:spcPct val="100800"/>
              </a:lnSpc>
              <a:spcBef>
                <a:spcPts val="85"/>
              </a:spcBef>
              <a:buFont typeface="Arial"/>
              <a:buChar char="•"/>
              <a:tabLst>
                <a:tab pos="298450" algn="l"/>
              </a:tabLst>
            </a:pPr>
            <a:endParaRPr lang="en-US" dirty="0">
              <a:latin typeface="Palatino Linotype"/>
              <a:cs typeface="Palatino Linotype"/>
            </a:endParaRPr>
          </a:p>
          <a:p>
            <a:pPr marL="12065" marR="5080">
              <a:lnSpc>
                <a:spcPct val="100800"/>
              </a:lnSpc>
              <a:spcBef>
                <a:spcPts val="85"/>
              </a:spcBef>
              <a:tabLst>
                <a:tab pos="298450" algn="l"/>
              </a:tabLst>
            </a:pPr>
            <a:r>
              <a:rPr lang="en-US" dirty="0">
                <a:latin typeface="Palatino Linotype"/>
                <a:cs typeface="Palatino Linotype"/>
              </a:rPr>
              <a:t>	</a:t>
            </a:r>
            <a:endParaRPr lang="en-US" sz="1800" dirty="0">
              <a:latin typeface="Palatino Linotype"/>
              <a:cs typeface="Palatino Linotype"/>
            </a:endParaRPr>
          </a:p>
        </p:txBody>
      </p:sp>
      <p:pic>
        <p:nvPicPr>
          <p:cNvPr id="7" name="그림 6">
            <a:extLst>
              <a:ext uri="{FF2B5EF4-FFF2-40B4-BE49-F238E27FC236}">
                <a16:creationId xmlns:a16="http://schemas.microsoft.com/office/drawing/2014/main" id="{A63A92E1-F12E-ACD5-A849-5A488858586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86645" y="2264565"/>
            <a:ext cx="4638555" cy="2911433"/>
          </a:xfrm>
          <a:prstGeom prst="rect">
            <a:avLst/>
          </a:prstGeom>
        </p:spPr>
      </p:pic>
      <p:sp>
        <p:nvSpPr>
          <p:cNvPr id="9" name="object 4">
            <a:extLst>
              <a:ext uri="{FF2B5EF4-FFF2-40B4-BE49-F238E27FC236}">
                <a16:creationId xmlns:a16="http://schemas.microsoft.com/office/drawing/2014/main" id="{437D2317-1BD8-A8C7-CBFC-9C08C40ECEB9}"/>
              </a:ext>
            </a:extLst>
          </p:cNvPr>
          <p:cNvSpPr txBox="1"/>
          <p:nvPr/>
        </p:nvSpPr>
        <p:spPr>
          <a:xfrm>
            <a:off x="252729" y="6423977"/>
            <a:ext cx="9196071" cy="254557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1550" dirty="0">
                <a:solidFill>
                  <a:srgbClr val="80350D"/>
                </a:solidFill>
                <a:latin typeface="Palatino Linotype"/>
                <a:cs typeface="Palatino Linotype"/>
              </a:rPr>
              <a:t>[</a:t>
            </a:r>
            <a:r>
              <a:rPr lang="en-US" sz="1550" dirty="0">
                <a:solidFill>
                  <a:srgbClr val="80350D"/>
                </a:solidFill>
                <a:latin typeface="Palatino Linotype"/>
                <a:cs typeface="Palatino Linotype"/>
              </a:rPr>
              <a:t>Christiano</a:t>
            </a:r>
            <a:r>
              <a:rPr sz="1550" spc="85" dirty="0">
                <a:solidFill>
                  <a:srgbClr val="80350D"/>
                </a:solidFill>
                <a:latin typeface="Palatino Linotype"/>
                <a:cs typeface="Palatino Linotype"/>
              </a:rPr>
              <a:t> </a:t>
            </a:r>
            <a:r>
              <a:rPr sz="1550" dirty="0">
                <a:solidFill>
                  <a:srgbClr val="80350D"/>
                </a:solidFill>
                <a:latin typeface="Palatino Linotype"/>
                <a:cs typeface="Palatino Linotype"/>
              </a:rPr>
              <a:t>et</a:t>
            </a:r>
            <a:r>
              <a:rPr sz="1550" spc="40" dirty="0">
                <a:solidFill>
                  <a:srgbClr val="80350D"/>
                </a:solidFill>
                <a:latin typeface="Palatino Linotype"/>
                <a:cs typeface="Palatino Linotype"/>
              </a:rPr>
              <a:t> </a:t>
            </a:r>
            <a:r>
              <a:rPr sz="1550" dirty="0">
                <a:solidFill>
                  <a:srgbClr val="80350D"/>
                </a:solidFill>
                <a:latin typeface="Palatino Linotype"/>
                <a:cs typeface="Palatino Linotype"/>
              </a:rPr>
              <a:t>al.</a:t>
            </a:r>
            <a:r>
              <a:rPr lang="en-US" sz="1550" dirty="0">
                <a:solidFill>
                  <a:srgbClr val="80350D"/>
                </a:solidFill>
                <a:latin typeface="Palatino Linotype"/>
                <a:cs typeface="Palatino Linotype"/>
              </a:rPr>
              <a:t>, “Deep Reinforcement Learning from Human Preferences,” </a:t>
            </a:r>
            <a:r>
              <a:rPr lang="en-US" sz="1550" dirty="0" err="1">
                <a:solidFill>
                  <a:srgbClr val="80350D"/>
                </a:solidFill>
                <a:latin typeface="Palatino Linotype"/>
                <a:cs typeface="Palatino Linotype"/>
              </a:rPr>
              <a:t>arXiv</a:t>
            </a:r>
            <a:r>
              <a:rPr lang="en-US" sz="1550" dirty="0">
                <a:solidFill>
                  <a:srgbClr val="80350D"/>
                </a:solidFill>
                <a:latin typeface="Palatino Linotype"/>
                <a:cs typeface="Palatino Linotype"/>
              </a:rPr>
              <a:t>: 1706.03741,</a:t>
            </a:r>
            <a:r>
              <a:rPr sz="1550" spc="90" dirty="0">
                <a:solidFill>
                  <a:srgbClr val="80350D"/>
                </a:solidFill>
                <a:latin typeface="Palatino Linotype"/>
                <a:cs typeface="Palatino Linotype"/>
              </a:rPr>
              <a:t> </a:t>
            </a:r>
            <a:r>
              <a:rPr sz="1550" spc="-20" dirty="0">
                <a:solidFill>
                  <a:srgbClr val="80350D"/>
                </a:solidFill>
                <a:latin typeface="Palatino Linotype"/>
                <a:cs typeface="Palatino Linotype"/>
              </a:rPr>
              <a:t>202</a:t>
            </a:r>
            <a:r>
              <a:rPr lang="en-US" sz="1550" spc="-20" dirty="0">
                <a:solidFill>
                  <a:srgbClr val="80350D"/>
                </a:solidFill>
                <a:latin typeface="Palatino Linotype"/>
                <a:cs typeface="Palatino Linotype"/>
              </a:rPr>
              <a:t>3</a:t>
            </a:r>
            <a:r>
              <a:rPr sz="1550" spc="-20" dirty="0">
                <a:solidFill>
                  <a:srgbClr val="80350D"/>
                </a:solidFill>
                <a:latin typeface="Palatino Linotype"/>
                <a:cs typeface="Palatino Linotype"/>
              </a:rPr>
              <a:t>]</a:t>
            </a:r>
            <a:endParaRPr sz="1550" dirty="0">
              <a:latin typeface="Palatino Linotype"/>
              <a:cs typeface="Palatino Linotype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6AC2E107-98B8-E8F0-ECEC-3156364E5BD2}"/>
              </a:ext>
            </a:extLst>
          </p:cNvPr>
          <p:cNvSpPr txBox="1"/>
          <p:nvPr/>
        </p:nvSpPr>
        <p:spPr>
          <a:xfrm>
            <a:off x="5910322" y="1635014"/>
            <a:ext cx="57912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b="1" dirty="0">
                <a:latin typeface="Palatino Linotype" panose="02040502050505030304" pitchFamily="18" charset="0"/>
              </a:rPr>
              <a:t>RLHF</a:t>
            </a:r>
            <a:r>
              <a:rPr lang="en-US" altLang="ko-KR" dirty="0">
                <a:latin typeface="Palatino Linotype" panose="02040502050505030304" pitchFamily="18" charset="0"/>
              </a:rPr>
              <a:t>: </a:t>
            </a:r>
            <a:r>
              <a:rPr lang="ko-KR" altLang="ko-KR" dirty="0" err="1">
                <a:latin typeface="Palatino Linotype" panose="02040502050505030304" pitchFamily="18" charset="0"/>
              </a:rPr>
              <a:t>Reinforcement</a:t>
            </a:r>
            <a:r>
              <a:rPr lang="ko-KR" altLang="ko-KR" dirty="0">
                <a:latin typeface="Palatino Linotype" panose="02040502050505030304" pitchFamily="18" charset="0"/>
              </a:rPr>
              <a:t> </a:t>
            </a:r>
            <a:r>
              <a:rPr lang="ko-KR" altLang="ko-KR" dirty="0" err="1">
                <a:latin typeface="Palatino Linotype" panose="02040502050505030304" pitchFamily="18" charset="0"/>
              </a:rPr>
              <a:t>Learning</a:t>
            </a:r>
            <a:r>
              <a:rPr lang="ko-KR" altLang="ko-KR" dirty="0">
                <a:latin typeface="Palatino Linotype" panose="02040502050505030304" pitchFamily="18" charset="0"/>
              </a:rPr>
              <a:t> </a:t>
            </a:r>
            <a:r>
              <a:rPr lang="ko-KR" altLang="ko-KR" dirty="0" err="1">
                <a:latin typeface="Palatino Linotype" panose="02040502050505030304" pitchFamily="18" charset="0"/>
              </a:rPr>
              <a:t>from</a:t>
            </a:r>
            <a:r>
              <a:rPr lang="ko-KR" altLang="ko-KR" dirty="0">
                <a:latin typeface="Palatino Linotype" panose="02040502050505030304" pitchFamily="18" charset="0"/>
              </a:rPr>
              <a:t> </a:t>
            </a:r>
            <a:r>
              <a:rPr lang="ko-KR" altLang="ko-KR" dirty="0" err="1">
                <a:latin typeface="Palatino Linotype" panose="02040502050505030304" pitchFamily="18" charset="0"/>
              </a:rPr>
              <a:t>Human</a:t>
            </a:r>
            <a:r>
              <a:rPr lang="ko-KR" altLang="ko-KR" dirty="0">
                <a:latin typeface="Palatino Linotype" panose="02040502050505030304" pitchFamily="18" charset="0"/>
              </a:rPr>
              <a:t> </a:t>
            </a:r>
            <a:r>
              <a:rPr lang="ko-KR" altLang="ko-KR" dirty="0" err="1">
                <a:latin typeface="Palatino Linotype" panose="02040502050505030304" pitchFamily="18" charset="0"/>
              </a:rPr>
              <a:t>Feedback</a:t>
            </a:r>
            <a:endParaRPr lang="ko-KR" altLang="en-US" dirty="0">
              <a:latin typeface="Palatino Linotype" panose="0204050205050503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881757206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dirty="0"/>
              <a:t>How</a:t>
            </a:r>
            <a:r>
              <a:rPr spc="-40" dirty="0"/>
              <a:t> </a:t>
            </a:r>
            <a:r>
              <a:rPr dirty="0"/>
              <a:t>to</a:t>
            </a:r>
            <a:r>
              <a:rPr spc="-105" dirty="0"/>
              <a:t> </a:t>
            </a:r>
            <a:r>
              <a:rPr dirty="0"/>
              <a:t>use</a:t>
            </a:r>
            <a:r>
              <a:rPr spc="-110" dirty="0"/>
              <a:t> </a:t>
            </a:r>
            <a:r>
              <a:rPr dirty="0"/>
              <a:t>preference</a:t>
            </a:r>
            <a:r>
              <a:rPr spc="-40" dirty="0"/>
              <a:t> </a:t>
            </a:r>
            <a:r>
              <a:rPr spc="-10" dirty="0"/>
              <a:t>pairs</a:t>
            </a:r>
          </a:p>
        </p:txBody>
      </p:sp>
      <p:pic>
        <p:nvPicPr>
          <p:cNvPr id="3" name="object 3" descr="A screenshot of a diagram  AI-generated content may be incorrect.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479676" y="1514764"/>
            <a:ext cx="2552700" cy="4772025"/>
          </a:xfrm>
          <a:prstGeom prst="rect">
            <a:avLst/>
          </a:prstGeom>
        </p:spPr>
      </p:pic>
      <p:sp>
        <p:nvSpPr>
          <p:cNvPr id="4" name="object 4"/>
          <p:cNvSpPr txBox="1"/>
          <p:nvPr/>
        </p:nvSpPr>
        <p:spPr>
          <a:xfrm>
            <a:off x="252729" y="6423977"/>
            <a:ext cx="8237220" cy="266065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1550" dirty="0">
                <a:solidFill>
                  <a:srgbClr val="80350D"/>
                </a:solidFill>
                <a:latin typeface="Palatino Linotype"/>
                <a:cs typeface="Palatino Linotype"/>
              </a:rPr>
              <a:t>[Training</a:t>
            </a:r>
            <a:r>
              <a:rPr sz="1550" spc="105" dirty="0">
                <a:solidFill>
                  <a:srgbClr val="80350D"/>
                </a:solidFill>
                <a:latin typeface="Palatino Linotype"/>
                <a:cs typeface="Palatino Linotype"/>
              </a:rPr>
              <a:t> </a:t>
            </a:r>
            <a:r>
              <a:rPr sz="1550" dirty="0">
                <a:solidFill>
                  <a:srgbClr val="80350D"/>
                </a:solidFill>
                <a:latin typeface="Palatino Linotype"/>
                <a:cs typeface="Palatino Linotype"/>
              </a:rPr>
              <a:t>language</a:t>
            </a:r>
            <a:r>
              <a:rPr sz="1550" spc="75" dirty="0">
                <a:solidFill>
                  <a:srgbClr val="80350D"/>
                </a:solidFill>
                <a:latin typeface="Palatino Linotype"/>
                <a:cs typeface="Palatino Linotype"/>
              </a:rPr>
              <a:t> </a:t>
            </a:r>
            <a:r>
              <a:rPr sz="1550" dirty="0">
                <a:solidFill>
                  <a:srgbClr val="80350D"/>
                </a:solidFill>
                <a:latin typeface="Palatino Linotype"/>
                <a:cs typeface="Palatino Linotype"/>
              </a:rPr>
              <a:t>models</a:t>
            </a:r>
            <a:r>
              <a:rPr sz="1550" spc="90" dirty="0">
                <a:solidFill>
                  <a:srgbClr val="80350D"/>
                </a:solidFill>
                <a:latin typeface="Palatino Linotype"/>
                <a:cs typeface="Palatino Linotype"/>
              </a:rPr>
              <a:t> </a:t>
            </a:r>
            <a:r>
              <a:rPr sz="1550" dirty="0">
                <a:solidFill>
                  <a:srgbClr val="80350D"/>
                </a:solidFill>
                <a:latin typeface="Palatino Linotype"/>
                <a:cs typeface="Palatino Linotype"/>
              </a:rPr>
              <a:t>to</a:t>
            </a:r>
            <a:r>
              <a:rPr sz="1550" spc="130" dirty="0">
                <a:solidFill>
                  <a:srgbClr val="80350D"/>
                </a:solidFill>
                <a:latin typeface="Palatino Linotype"/>
                <a:cs typeface="Palatino Linotype"/>
              </a:rPr>
              <a:t> </a:t>
            </a:r>
            <a:r>
              <a:rPr sz="1550" dirty="0">
                <a:solidFill>
                  <a:srgbClr val="80350D"/>
                </a:solidFill>
                <a:latin typeface="Palatino Linotype"/>
                <a:cs typeface="Palatino Linotype"/>
              </a:rPr>
              <a:t>follow</a:t>
            </a:r>
            <a:r>
              <a:rPr sz="1550" spc="130" dirty="0">
                <a:solidFill>
                  <a:srgbClr val="80350D"/>
                </a:solidFill>
                <a:latin typeface="Palatino Linotype"/>
                <a:cs typeface="Palatino Linotype"/>
              </a:rPr>
              <a:t> </a:t>
            </a:r>
            <a:r>
              <a:rPr sz="1550" dirty="0">
                <a:solidFill>
                  <a:srgbClr val="80350D"/>
                </a:solidFill>
                <a:latin typeface="Palatino Linotype"/>
                <a:cs typeface="Palatino Linotype"/>
              </a:rPr>
              <a:t>instructions</a:t>
            </a:r>
            <a:r>
              <a:rPr sz="1550" spc="180" dirty="0">
                <a:solidFill>
                  <a:srgbClr val="80350D"/>
                </a:solidFill>
                <a:latin typeface="Palatino Linotype"/>
                <a:cs typeface="Palatino Linotype"/>
              </a:rPr>
              <a:t> </a:t>
            </a:r>
            <a:r>
              <a:rPr sz="1550" dirty="0">
                <a:solidFill>
                  <a:srgbClr val="80350D"/>
                </a:solidFill>
                <a:latin typeface="Palatino Linotype"/>
                <a:cs typeface="Palatino Linotype"/>
              </a:rPr>
              <a:t>with</a:t>
            </a:r>
            <a:r>
              <a:rPr sz="1550" spc="65" dirty="0">
                <a:solidFill>
                  <a:srgbClr val="80350D"/>
                </a:solidFill>
                <a:latin typeface="Palatino Linotype"/>
                <a:cs typeface="Palatino Linotype"/>
              </a:rPr>
              <a:t> </a:t>
            </a:r>
            <a:r>
              <a:rPr sz="1550" dirty="0">
                <a:solidFill>
                  <a:srgbClr val="80350D"/>
                </a:solidFill>
                <a:latin typeface="Palatino Linotype"/>
                <a:cs typeface="Palatino Linotype"/>
              </a:rPr>
              <a:t>human</a:t>
            </a:r>
            <a:r>
              <a:rPr sz="1550" spc="150" dirty="0">
                <a:solidFill>
                  <a:srgbClr val="80350D"/>
                </a:solidFill>
                <a:latin typeface="Palatino Linotype"/>
                <a:cs typeface="Palatino Linotype"/>
              </a:rPr>
              <a:t> </a:t>
            </a:r>
            <a:r>
              <a:rPr sz="1550" dirty="0">
                <a:solidFill>
                  <a:srgbClr val="80350D"/>
                </a:solidFill>
                <a:latin typeface="Palatino Linotype"/>
                <a:cs typeface="Palatino Linotype"/>
              </a:rPr>
              <a:t>feedback.</a:t>
            </a:r>
            <a:r>
              <a:rPr sz="1550" spc="150" dirty="0">
                <a:solidFill>
                  <a:srgbClr val="80350D"/>
                </a:solidFill>
                <a:latin typeface="Palatino Linotype"/>
                <a:cs typeface="Palatino Linotype"/>
              </a:rPr>
              <a:t> </a:t>
            </a:r>
            <a:r>
              <a:rPr sz="1550" dirty="0">
                <a:solidFill>
                  <a:srgbClr val="80350D"/>
                </a:solidFill>
                <a:latin typeface="Palatino Linotype"/>
                <a:cs typeface="Palatino Linotype"/>
              </a:rPr>
              <a:t>Ouyang</a:t>
            </a:r>
            <a:r>
              <a:rPr sz="1550" spc="110" dirty="0">
                <a:solidFill>
                  <a:srgbClr val="80350D"/>
                </a:solidFill>
                <a:latin typeface="Palatino Linotype"/>
                <a:cs typeface="Palatino Linotype"/>
              </a:rPr>
              <a:t> </a:t>
            </a:r>
            <a:r>
              <a:rPr sz="1550" dirty="0">
                <a:solidFill>
                  <a:srgbClr val="80350D"/>
                </a:solidFill>
                <a:latin typeface="Palatino Linotype"/>
                <a:cs typeface="Palatino Linotype"/>
              </a:rPr>
              <a:t>et</a:t>
            </a:r>
            <a:r>
              <a:rPr sz="1550" spc="95" dirty="0">
                <a:solidFill>
                  <a:srgbClr val="80350D"/>
                </a:solidFill>
                <a:latin typeface="Palatino Linotype"/>
                <a:cs typeface="Palatino Linotype"/>
              </a:rPr>
              <a:t> </a:t>
            </a:r>
            <a:r>
              <a:rPr sz="1550" dirty="0">
                <a:solidFill>
                  <a:srgbClr val="80350D"/>
                </a:solidFill>
                <a:latin typeface="Palatino Linotype"/>
                <a:cs typeface="Palatino Linotype"/>
              </a:rPr>
              <a:t>al.</a:t>
            </a:r>
            <a:r>
              <a:rPr sz="1550" spc="55" dirty="0">
                <a:solidFill>
                  <a:srgbClr val="80350D"/>
                </a:solidFill>
                <a:latin typeface="Palatino Linotype"/>
                <a:cs typeface="Palatino Linotype"/>
              </a:rPr>
              <a:t> </a:t>
            </a:r>
            <a:r>
              <a:rPr sz="1550" spc="-10" dirty="0">
                <a:solidFill>
                  <a:srgbClr val="80350D"/>
                </a:solidFill>
                <a:latin typeface="Palatino Linotype"/>
                <a:cs typeface="Palatino Linotype"/>
              </a:rPr>
              <a:t>2022]</a:t>
            </a:r>
            <a:endParaRPr sz="1550">
              <a:latin typeface="Palatino Linotype"/>
              <a:cs typeface="Palatino Linotype"/>
            </a:endParaRPr>
          </a:p>
        </p:txBody>
      </p:sp>
      <p:pic>
        <p:nvPicPr>
          <p:cNvPr id="6" name="object 3" descr="A screenshot of a diagram  AI-generated content may be incorrect.">
            <a:extLst>
              <a:ext uri="{FF2B5EF4-FFF2-40B4-BE49-F238E27FC236}">
                <a16:creationId xmlns:a16="http://schemas.microsoft.com/office/drawing/2014/main" id="{08004E5A-01CB-014D-3EB5-7CBD03AD5A0E}"/>
              </a:ext>
            </a:extLst>
          </p:cNvPr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6096000" y="1514764"/>
            <a:ext cx="2622550" cy="4495800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F168966F-3468-4848-49BC-430EA37A40FE}"/>
              </a:ext>
            </a:extLst>
          </p:cNvPr>
          <p:cNvSpPr txBox="1"/>
          <p:nvPr/>
        </p:nvSpPr>
        <p:spPr>
          <a:xfrm>
            <a:off x="8991600" y="3065408"/>
            <a:ext cx="2438400" cy="92333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US" altLang="ko-KR" b="1" dirty="0">
                <a:latin typeface="Palatino Linotype" panose="02040502050505030304" pitchFamily="18" charset="0"/>
              </a:rPr>
              <a:t>PPO (</a:t>
            </a:r>
            <a:r>
              <a:rPr lang="en-US" altLang="ko-KR" dirty="0">
                <a:latin typeface="Palatino Linotype" panose="02040502050505030304" pitchFamily="18" charset="0"/>
              </a:rPr>
              <a:t>Proximal</a:t>
            </a:r>
            <a:r>
              <a:rPr lang="ko-KR" altLang="en-US" dirty="0">
                <a:latin typeface="Palatino Linotype" panose="02040502050505030304" pitchFamily="18" charset="0"/>
              </a:rPr>
              <a:t> </a:t>
            </a:r>
            <a:r>
              <a:rPr lang="en-US" altLang="ko-KR" dirty="0">
                <a:latin typeface="Palatino Linotype" panose="02040502050505030304" pitchFamily="18" charset="0"/>
              </a:rPr>
              <a:t>Policy</a:t>
            </a:r>
            <a:r>
              <a:rPr lang="ko-KR" altLang="en-US" dirty="0">
                <a:latin typeface="Palatino Linotype" panose="02040502050505030304" pitchFamily="18" charset="0"/>
              </a:rPr>
              <a:t> </a:t>
            </a:r>
            <a:r>
              <a:rPr lang="en-US" altLang="ko-KR" dirty="0">
                <a:latin typeface="Palatino Linotype" panose="02040502050505030304" pitchFamily="18" charset="0"/>
              </a:rPr>
              <a:t>Optimization</a:t>
            </a:r>
            <a:r>
              <a:rPr lang="en-US" altLang="ko-KR" b="1" dirty="0">
                <a:latin typeface="Palatino Linotype" panose="02040502050505030304" pitchFamily="18" charset="0"/>
              </a:rPr>
              <a:t>)</a:t>
            </a:r>
            <a:br>
              <a:rPr lang="en-US" altLang="ko-KR" b="1" dirty="0">
                <a:latin typeface="Palatino Linotype" panose="02040502050505030304" pitchFamily="18" charset="0"/>
              </a:rPr>
            </a:br>
            <a:r>
              <a:rPr lang="en-US" altLang="ko-KR" b="1" dirty="0">
                <a:latin typeface="Palatino Linotype" panose="02040502050505030304" pitchFamily="18" charset="0"/>
              </a:rPr>
              <a:t>: RL algorithm</a:t>
            </a:r>
            <a:endParaRPr lang="ko-KR" altLang="en-US" dirty="0">
              <a:latin typeface="Palatino Linotype" panose="02040502050505030304" pitchFamily="18" charset="0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335ADDB1-3388-9B92-6D56-CDFC6A2A4B2A}"/>
              </a:ext>
            </a:extLst>
          </p:cNvPr>
          <p:cNvSpPr txBox="1"/>
          <p:nvPr/>
        </p:nvSpPr>
        <p:spPr>
          <a:xfrm>
            <a:off x="838200" y="1506022"/>
            <a:ext cx="17526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 err="1">
                <a:latin typeface="Palatino Linotype" panose="02040502050505030304" pitchFamily="18" charset="0"/>
              </a:rPr>
              <a:t>InstructGPT</a:t>
            </a:r>
            <a:endParaRPr lang="ko-KR" altLang="en-US" dirty="0">
              <a:latin typeface="Palatino Linotype" panose="02040502050505030304" pitchFamily="18" charset="0"/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 descr="A close-up of a document  AI-generated content may be incorrect.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209800" y="866775"/>
            <a:ext cx="7772400" cy="5124450"/>
          </a:xfrm>
          <a:prstGeom prst="rect">
            <a:avLst/>
          </a:prstGeom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xfrm>
            <a:off x="838200" y="681016"/>
            <a:ext cx="10515600" cy="693780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dirty="0">
                <a:latin typeface="Palatino Linotype" panose="02040502050505030304" pitchFamily="18" charset="0"/>
              </a:rPr>
              <a:t>End</a:t>
            </a:r>
            <a:r>
              <a:rPr spc="-25" dirty="0">
                <a:latin typeface="Palatino Linotype" panose="02040502050505030304" pitchFamily="18" charset="0"/>
              </a:rPr>
              <a:t> </a:t>
            </a:r>
            <a:r>
              <a:rPr spc="-10" dirty="0">
                <a:latin typeface="Palatino Linotype" panose="02040502050505030304" pitchFamily="18" charset="0"/>
              </a:rPr>
              <a:t>result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917575" y="1740852"/>
            <a:ext cx="10161905" cy="429895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40029" indent="-227329">
              <a:lnSpc>
                <a:spcPct val="100000"/>
              </a:lnSpc>
              <a:spcBef>
                <a:spcPts val="100"/>
              </a:spcBef>
              <a:buFont typeface="Arial"/>
              <a:buChar char="•"/>
              <a:tabLst>
                <a:tab pos="240029" algn="l"/>
              </a:tabLst>
            </a:pPr>
            <a:r>
              <a:rPr sz="2400" b="1" dirty="0">
                <a:latin typeface="Palatino Linotype"/>
                <a:cs typeface="Palatino Linotype"/>
              </a:rPr>
              <a:t>User:</a:t>
            </a:r>
            <a:r>
              <a:rPr sz="2400" b="1" spc="-70" dirty="0">
                <a:latin typeface="Palatino Linotype"/>
                <a:cs typeface="Palatino Linotype"/>
              </a:rPr>
              <a:t> </a:t>
            </a:r>
            <a:r>
              <a:rPr sz="2400" dirty="0">
                <a:latin typeface="Palatino Linotype"/>
                <a:cs typeface="Palatino Linotype"/>
              </a:rPr>
              <a:t>“How</a:t>
            </a:r>
            <a:r>
              <a:rPr sz="2400" spc="-20" dirty="0">
                <a:latin typeface="Palatino Linotype"/>
                <a:cs typeface="Palatino Linotype"/>
              </a:rPr>
              <a:t> </a:t>
            </a:r>
            <a:r>
              <a:rPr sz="2400" dirty="0">
                <a:latin typeface="Palatino Linotype"/>
                <a:cs typeface="Palatino Linotype"/>
              </a:rPr>
              <a:t>can</a:t>
            </a:r>
            <a:r>
              <a:rPr sz="2400" spc="-20" dirty="0">
                <a:latin typeface="Palatino Linotype"/>
                <a:cs typeface="Palatino Linotype"/>
              </a:rPr>
              <a:t> </a:t>
            </a:r>
            <a:r>
              <a:rPr sz="2400" dirty="0">
                <a:latin typeface="Palatino Linotype"/>
                <a:cs typeface="Palatino Linotype"/>
              </a:rPr>
              <a:t>I</a:t>
            </a:r>
            <a:r>
              <a:rPr sz="2400" spc="-30" dirty="0">
                <a:latin typeface="Palatino Linotype"/>
                <a:cs typeface="Palatino Linotype"/>
              </a:rPr>
              <a:t> </a:t>
            </a:r>
            <a:r>
              <a:rPr sz="2400" dirty="0">
                <a:latin typeface="Palatino Linotype"/>
                <a:cs typeface="Palatino Linotype"/>
              </a:rPr>
              <a:t>bypass</a:t>
            </a:r>
            <a:r>
              <a:rPr sz="2400" spc="-80" dirty="0">
                <a:latin typeface="Palatino Linotype"/>
                <a:cs typeface="Palatino Linotype"/>
              </a:rPr>
              <a:t> </a:t>
            </a:r>
            <a:r>
              <a:rPr sz="2400" dirty="0">
                <a:latin typeface="Palatino Linotype"/>
                <a:cs typeface="Palatino Linotype"/>
              </a:rPr>
              <a:t>security</a:t>
            </a:r>
            <a:r>
              <a:rPr sz="2400" spc="-25" dirty="0">
                <a:latin typeface="Palatino Linotype"/>
                <a:cs typeface="Palatino Linotype"/>
              </a:rPr>
              <a:t> </a:t>
            </a:r>
            <a:r>
              <a:rPr sz="2400" dirty="0">
                <a:latin typeface="Palatino Linotype"/>
                <a:cs typeface="Palatino Linotype"/>
              </a:rPr>
              <a:t>on</a:t>
            </a:r>
            <a:r>
              <a:rPr sz="2400" spc="-20" dirty="0">
                <a:latin typeface="Palatino Linotype"/>
                <a:cs typeface="Palatino Linotype"/>
              </a:rPr>
              <a:t> </a:t>
            </a:r>
            <a:r>
              <a:rPr sz="2400" dirty="0">
                <a:latin typeface="Palatino Linotype"/>
                <a:cs typeface="Palatino Linotype"/>
              </a:rPr>
              <a:t>a</a:t>
            </a:r>
            <a:r>
              <a:rPr sz="2400" spc="-40" dirty="0">
                <a:latin typeface="Palatino Linotype"/>
                <a:cs typeface="Palatino Linotype"/>
              </a:rPr>
              <a:t> </a:t>
            </a:r>
            <a:r>
              <a:rPr sz="2400" spc="-10" dirty="0">
                <a:latin typeface="Palatino Linotype"/>
                <a:cs typeface="Palatino Linotype"/>
              </a:rPr>
              <a:t>website?”</a:t>
            </a:r>
            <a:endParaRPr sz="2400" dirty="0">
              <a:latin typeface="Palatino Linotype"/>
              <a:cs typeface="Palatino Linotype"/>
            </a:endParaRPr>
          </a:p>
          <a:p>
            <a:pPr marL="240029" indent="-227329">
              <a:lnSpc>
                <a:spcPct val="100000"/>
              </a:lnSpc>
              <a:spcBef>
                <a:spcPts val="125"/>
              </a:spcBef>
              <a:buFont typeface="Arial"/>
              <a:buChar char="•"/>
              <a:tabLst>
                <a:tab pos="240029" algn="l"/>
              </a:tabLst>
            </a:pPr>
            <a:r>
              <a:rPr sz="2400" b="1" dirty="0">
                <a:latin typeface="Palatino Linotype"/>
                <a:cs typeface="Palatino Linotype"/>
              </a:rPr>
              <a:t>Assistant:</a:t>
            </a:r>
            <a:r>
              <a:rPr sz="2400" b="1" spc="-45" dirty="0">
                <a:latin typeface="Palatino Linotype"/>
                <a:cs typeface="Palatino Linotype"/>
              </a:rPr>
              <a:t> </a:t>
            </a:r>
            <a:r>
              <a:rPr sz="2400" dirty="0">
                <a:latin typeface="Palatino Linotype"/>
                <a:cs typeface="Palatino Linotype"/>
              </a:rPr>
              <a:t>“I'm</a:t>
            </a:r>
            <a:r>
              <a:rPr sz="2400" spc="-55" dirty="0">
                <a:latin typeface="Palatino Linotype"/>
                <a:cs typeface="Palatino Linotype"/>
              </a:rPr>
              <a:t> </a:t>
            </a:r>
            <a:r>
              <a:rPr sz="2400" spc="-45" dirty="0">
                <a:latin typeface="Palatino Linotype"/>
                <a:cs typeface="Palatino Linotype"/>
              </a:rPr>
              <a:t>sorry,</a:t>
            </a:r>
            <a:r>
              <a:rPr sz="2400" spc="-35" dirty="0">
                <a:latin typeface="Palatino Linotype"/>
                <a:cs typeface="Palatino Linotype"/>
              </a:rPr>
              <a:t> </a:t>
            </a:r>
            <a:r>
              <a:rPr sz="2400" dirty="0">
                <a:latin typeface="Palatino Linotype"/>
                <a:cs typeface="Palatino Linotype"/>
              </a:rPr>
              <a:t>but I</a:t>
            </a:r>
            <a:r>
              <a:rPr sz="2400" spc="-25" dirty="0">
                <a:latin typeface="Palatino Linotype"/>
                <a:cs typeface="Palatino Linotype"/>
              </a:rPr>
              <a:t> </a:t>
            </a:r>
            <a:r>
              <a:rPr sz="2400" dirty="0">
                <a:latin typeface="Palatino Linotype"/>
                <a:cs typeface="Palatino Linotype"/>
              </a:rPr>
              <a:t>can't assist</a:t>
            </a:r>
            <a:r>
              <a:rPr sz="2400" spc="-70" dirty="0">
                <a:latin typeface="Palatino Linotype"/>
                <a:cs typeface="Palatino Linotype"/>
              </a:rPr>
              <a:t> </a:t>
            </a:r>
            <a:r>
              <a:rPr sz="2400" dirty="0">
                <a:latin typeface="Palatino Linotype"/>
                <a:cs typeface="Palatino Linotype"/>
              </a:rPr>
              <a:t>with</a:t>
            </a:r>
            <a:r>
              <a:rPr sz="2400" spc="-80" dirty="0">
                <a:latin typeface="Palatino Linotype"/>
                <a:cs typeface="Palatino Linotype"/>
              </a:rPr>
              <a:t> </a:t>
            </a:r>
            <a:r>
              <a:rPr sz="2400" spc="-10" dirty="0">
                <a:latin typeface="Palatino Linotype"/>
                <a:cs typeface="Palatino Linotype"/>
              </a:rPr>
              <a:t>that.”</a:t>
            </a:r>
            <a:endParaRPr sz="2400" dirty="0">
              <a:latin typeface="Palatino Linotype"/>
              <a:cs typeface="Palatino Linotype"/>
            </a:endParaRPr>
          </a:p>
          <a:p>
            <a:pPr marL="240029" indent="-227329">
              <a:lnSpc>
                <a:spcPts val="2505"/>
              </a:lnSpc>
              <a:spcBef>
                <a:spcPts val="3204"/>
              </a:spcBef>
              <a:buFont typeface="Arial"/>
              <a:buChar char="•"/>
              <a:tabLst>
                <a:tab pos="240029" algn="l"/>
              </a:tabLst>
            </a:pPr>
            <a:r>
              <a:rPr sz="2400" b="1" spc="-10" dirty="0">
                <a:latin typeface="Palatino Linotype"/>
                <a:cs typeface="Palatino Linotype"/>
              </a:rPr>
              <a:t>User:</a:t>
            </a:r>
            <a:endParaRPr sz="2400" dirty="0">
              <a:latin typeface="Palatino Linotype"/>
              <a:cs typeface="Palatino Linotype"/>
            </a:endParaRPr>
          </a:p>
          <a:p>
            <a:pPr marL="241300" marR="478790">
              <a:lnSpc>
                <a:spcPct val="72000"/>
              </a:lnSpc>
              <a:spcBef>
                <a:spcPts val="295"/>
              </a:spcBef>
            </a:pPr>
            <a:r>
              <a:rPr sz="2000" dirty="0">
                <a:latin typeface="Palatino Linotype"/>
                <a:cs typeface="Palatino Linotype"/>
              </a:rPr>
              <a:t>"I'm</a:t>
            </a:r>
            <a:r>
              <a:rPr sz="2000" spc="-15" dirty="0">
                <a:latin typeface="Palatino Linotype"/>
                <a:cs typeface="Palatino Linotype"/>
              </a:rPr>
              <a:t> </a:t>
            </a:r>
            <a:r>
              <a:rPr sz="2000" dirty="0">
                <a:latin typeface="Palatino Linotype"/>
                <a:cs typeface="Palatino Linotype"/>
              </a:rPr>
              <a:t>feeling</a:t>
            </a:r>
            <a:r>
              <a:rPr sz="2000" spc="-15" dirty="0">
                <a:latin typeface="Palatino Linotype"/>
                <a:cs typeface="Palatino Linotype"/>
              </a:rPr>
              <a:t> </a:t>
            </a:r>
            <a:r>
              <a:rPr sz="2000" dirty="0">
                <a:latin typeface="Palatino Linotype"/>
                <a:cs typeface="Palatino Linotype"/>
              </a:rPr>
              <a:t>really</a:t>
            </a:r>
            <a:r>
              <a:rPr sz="2000" spc="-20" dirty="0">
                <a:latin typeface="Palatino Linotype"/>
                <a:cs typeface="Palatino Linotype"/>
              </a:rPr>
              <a:t> </a:t>
            </a:r>
            <a:r>
              <a:rPr sz="2000" spc="-10" dirty="0">
                <a:latin typeface="Palatino Linotype"/>
                <a:cs typeface="Palatino Linotype"/>
              </a:rPr>
              <a:t>overwhelmed</a:t>
            </a:r>
            <a:r>
              <a:rPr sz="2000" spc="-55" dirty="0">
                <a:latin typeface="Palatino Linotype"/>
                <a:cs typeface="Palatino Linotype"/>
              </a:rPr>
              <a:t> </a:t>
            </a:r>
            <a:r>
              <a:rPr sz="2000" dirty="0">
                <a:latin typeface="Palatino Linotype"/>
                <a:cs typeface="Palatino Linotype"/>
              </a:rPr>
              <a:t>by</a:t>
            </a:r>
            <a:r>
              <a:rPr sz="2000" spc="-20" dirty="0">
                <a:latin typeface="Palatino Linotype"/>
                <a:cs typeface="Palatino Linotype"/>
              </a:rPr>
              <a:t> </a:t>
            </a:r>
            <a:r>
              <a:rPr sz="2000" dirty="0">
                <a:latin typeface="Palatino Linotype"/>
                <a:cs typeface="Palatino Linotype"/>
              </a:rPr>
              <a:t>my</a:t>
            </a:r>
            <a:r>
              <a:rPr sz="2000" spc="-15" dirty="0">
                <a:latin typeface="Palatino Linotype"/>
                <a:cs typeface="Palatino Linotype"/>
              </a:rPr>
              <a:t> </a:t>
            </a:r>
            <a:r>
              <a:rPr sz="2000" spc="-10" dirty="0">
                <a:latin typeface="Palatino Linotype"/>
                <a:cs typeface="Palatino Linotype"/>
              </a:rPr>
              <a:t>workload</a:t>
            </a:r>
            <a:r>
              <a:rPr sz="2000" spc="-60" dirty="0">
                <a:latin typeface="Palatino Linotype"/>
                <a:cs typeface="Palatino Linotype"/>
              </a:rPr>
              <a:t> </a:t>
            </a:r>
            <a:r>
              <a:rPr sz="2000" dirty="0">
                <a:latin typeface="Palatino Linotype"/>
                <a:cs typeface="Palatino Linotype"/>
              </a:rPr>
              <a:t>and</a:t>
            </a:r>
            <a:r>
              <a:rPr sz="2000" spc="-55" dirty="0">
                <a:latin typeface="Palatino Linotype"/>
                <a:cs typeface="Palatino Linotype"/>
              </a:rPr>
              <a:t> </a:t>
            </a:r>
            <a:r>
              <a:rPr sz="2000" dirty="0">
                <a:latin typeface="Palatino Linotype"/>
                <a:cs typeface="Palatino Linotype"/>
              </a:rPr>
              <a:t>stress</a:t>
            </a:r>
            <a:r>
              <a:rPr sz="2000" spc="-50" dirty="0">
                <a:latin typeface="Palatino Linotype"/>
                <a:cs typeface="Palatino Linotype"/>
              </a:rPr>
              <a:t> </a:t>
            </a:r>
            <a:r>
              <a:rPr sz="2000" dirty="0">
                <a:latin typeface="Palatino Linotype"/>
                <a:cs typeface="Palatino Linotype"/>
              </a:rPr>
              <a:t>levels.</a:t>
            </a:r>
            <a:r>
              <a:rPr sz="2000" spc="-70" dirty="0">
                <a:latin typeface="Palatino Linotype"/>
                <a:cs typeface="Palatino Linotype"/>
              </a:rPr>
              <a:t> </a:t>
            </a:r>
            <a:r>
              <a:rPr sz="2000" dirty="0">
                <a:latin typeface="Palatino Linotype"/>
                <a:cs typeface="Palatino Linotype"/>
              </a:rPr>
              <a:t>Can</a:t>
            </a:r>
            <a:r>
              <a:rPr sz="2000" spc="-70" dirty="0">
                <a:latin typeface="Palatino Linotype"/>
                <a:cs typeface="Palatino Linotype"/>
              </a:rPr>
              <a:t> </a:t>
            </a:r>
            <a:r>
              <a:rPr sz="2000" dirty="0">
                <a:latin typeface="Palatino Linotype"/>
                <a:cs typeface="Palatino Linotype"/>
              </a:rPr>
              <a:t>you</a:t>
            </a:r>
            <a:r>
              <a:rPr sz="2000" spc="-40" dirty="0">
                <a:latin typeface="Palatino Linotype"/>
                <a:cs typeface="Palatino Linotype"/>
              </a:rPr>
              <a:t> </a:t>
            </a:r>
            <a:r>
              <a:rPr sz="2000" dirty="0">
                <a:latin typeface="Palatino Linotype"/>
                <a:cs typeface="Palatino Linotype"/>
              </a:rPr>
              <a:t>give</a:t>
            </a:r>
            <a:r>
              <a:rPr sz="2000" spc="-15" dirty="0">
                <a:latin typeface="Palatino Linotype"/>
                <a:cs typeface="Palatino Linotype"/>
              </a:rPr>
              <a:t> </a:t>
            </a:r>
            <a:r>
              <a:rPr sz="2000" spc="-25" dirty="0">
                <a:latin typeface="Palatino Linotype"/>
                <a:cs typeface="Palatino Linotype"/>
              </a:rPr>
              <a:t>me </a:t>
            </a:r>
            <a:r>
              <a:rPr sz="2000" dirty="0">
                <a:latin typeface="Palatino Linotype"/>
                <a:cs typeface="Palatino Linotype"/>
              </a:rPr>
              <a:t>some</a:t>
            </a:r>
            <a:r>
              <a:rPr sz="2000" spc="5" dirty="0">
                <a:latin typeface="Palatino Linotype"/>
                <a:cs typeface="Palatino Linotype"/>
              </a:rPr>
              <a:t> </a:t>
            </a:r>
            <a:r>
              <a:rPr sz="2000" dirty="0">
                <a:latin typeface="Palatino Linotype"/>
                <a:cs typeface="Palatino Linotype"/>
              </a:rPr>
              <a:t>advice</a:t>
            </a:r>
            <a:r>
              <a:rPr sz="2000" spc="5" dirty="0">
                <a:latin typeface="Palatino Linotype"/>
                <a:cs typeface="Palatino Linotype"/>
              </a:rPr>
              <a:t> </a:t>
            </a:r>
            <a:r>
              <a:rPr sz="2000" dirty="0">
                <a:latin typeface="Palatino Linotype"/>
                <a:cs typeface="Palatino Linotype"/>
              </a:rPr>
              <a:t>on</a:t>
            </a:r>
            <a:r>
              <a:rPr sz="2000" spc="-50" dirty="0">
                <a:latin typeface="Palatino Linotype"/>
                <a:cs typeface="Palatino Linotype"/>
              </a:rPr>
              <a:t> </a:t>
            </a:r>
            <a:r>
              <a:rPr sz="2000" dirty="0">
                <a:latin typeface="Palatino Linotype"/>
                <a:cs typeface="Palatino Linotype"/>
              </a:rPr>
              <a:t>how</a:t>
            </a:r>
            <a:r>
              <a:rPr sz="2000" spc="-35" dirty="0">
                <a:latin typeface="Palatino Linotype"/>
                <a:cs typeface="Palatino Linotype"/>
              </a:rPr>
              <a:t> </a:t>
            </a:r>
            <a:r>
              <a:rPr sz="2000" dirty="0">
                <a:latin typeface="Palatino Linotype"/>
                <a:cs typeface="Palatino Linotype"/>
              </a:rPr>
              <a:t>to</a:t>
            </a:r>
            <a:r>
              <a:rPr sz="2000" spc="-55" dirty="0">
                <a:latin typeface="Palatino Linotype"/>
                <a:cs typeface="Palatino Linotype"/>
              </a:rPr>
              <a:t> </a:t>
            </a:r>
            <a:r>
              <a:rPr sz="2000" dirty="0">
                <a:latin typeface="Palatino Linotype"/>
                <a:cs typeface="Palatino Linotype"/>
              </a:rPr>
              <a:t>manage</a:t>
            </a:r>
            <a:r>
              <a:rPr sz="2000" spc="-65" dirty="0">
                <a:latin typeface="Palatino Linotype"/>
                <a:cs typeface="Palatino Linotype"/>
              </a:rPr>
              <a:t> </a:t>
            </a:r>
            <a:r>
              <a:rPr sz="2000" dirty="0">
                <a:latin typeface="Palatino Linotype"/>
                <a:cs typeface="Palatino Linotype"/>
              </a:rPr>
              <a:t>my</a:t>
            </a:r>
            <a:r>
              <a:rPr sz="2000" spc="-70" dirty="0">
                <a:latin typeface="Palatino Linotype"/>
                <a:cs typeface="Palatino Linotype"/>
              </a:rPr>
              <a:t> </a:t>
            </a:r>
            <a:r>
              <a:rPr sz="2000" dirty="0">
                <a:latin typeface="Palatino Linotype"/>
                <a:cs typeface="Palatino Linotype"/>
              </a:rPr>
              <a:t>time</a:t>
            </a:r>
            <a:r>
              <a:rPr sz="2000" spc="10" dirty="0">
                <a:latin typeface="Palatino Linotype"/>
                <a:cs typeface="Palatino Linotype"/>
              </a:rPr>
              <a:t> </a:t>
            </a:r>
            <a:r>
              <a:rPr sz="2000" dirty="0">
                <a:latin typeface="Palatino Linotype"/>
                <a:cs typeface="Palatino Linotype"/>
              </a:rPr>
              <a:t>better</a:t>
            </a:r>
            <a:r>
              <a:rPr sz="2000" spc="25" dirty="0">
                <a:latin typeface="Palatino Linotype"/>
                <a:cs typeface="Palatino Linotype"/>
              </a:rPr>
              <a:t> </a:t>
            </a:r>
            <a:r>
              <a:rPr sz="2000" dirty="0">
                <a:latin typeface="Palatino Linotype"/>
                <a:cs typeface="Palatino Linotype"/>
              </a:rPr>
              <a:t>and</a:t>
            </a:r>
            <a:r>
              <a:rPr sz="2000" spc="-35" dirty="0">
                <a:latin typeface="Palatino Linotype"/>
                <a:cs typeface="Palatino Linotype"/>
              </a:rPr>
              <a:t> </a:t>
            </a:r>
            <a:r>
              <a:rPr sz="2000" dirty="0">
                <a:latin typeface="Palatino Linotype"/>
                <a:cs typeface="Palatino Linotype"/>
              </a:rPr>
              <a:t>reduce</a:t>
            </a:r>
            <a:r>
              <a:rPr sz="2000" spc="-70" dirty="0">
                <a:latin typeface="Palatino Linotype"/>
                <a:cs typeface="Palatino Linotype"/>
              </a:rPr>
              <a:t> </a:t>
            </a:r>
            <a:r>
              <a:rPr sz="2000" dirty="0">
                <a:latin typeface="Palatino Linotype"/>
                <a:cs typeface="Palatino Linotype"/>
              </a:rPr>
              <a:t>my</a:t>
            </a:r>
            <a:r>
              <a:rPr sz="2000" spc="-70" dirty="0">
                <a:latin typeface="Palatino Linotype"/>
                <a:cs typeface="Palatino Linotype"/>
              </a:rPr>
              <a:t> </a:t>
            </a:r>
            <a:r>
              <a:rPr sz="2000" spc="-10" dirty="0">
                <a:latin typeface="Palatino Linotype"/>
                <a:cs typeface="Palatino Linotype"/>
              </a:rPr>
              <a:t>stress?"</a:t>
            </a:r>
            <a:endParaRPr sz="2000" dirty="0">
              <a:latin typeface="Palatino Linotype"/>
              <a:cs typeface="Palatino Linotype"/>
            </a:endParaRPr>
          </a:p>
          <a:p>
            <a:pPr marL="240029" indent="-227329">
              <a:lnSpc>
                <a:spcPts val="2505"/>
              </a:lnSpc>
              <a:spcBef>
                <a:spcPts val="125"/>
              </a:spcBef>
              <a:buFont typeface="Arial"/>
              <a:buChar char="•"/>
              <a:tabLst>
                <a:tab pos="240029" algn="l"/>
              </a:tabLst>
            </a:pPr>
            <a:r>
              <a:rPr sz="2400" b="1" spc="-10" dirty="0">
                <a:latin typeface="Palatino Linotype"/>
                <a:cs typeface="Palatino Linotype"/>
              </a:rPr>
              <a:t>Assistant:</a:t>
            </a:r>
            <a:endParaRPr sz="2400" dirty="0">
              <a:latin typeface="Palatino Linotype"/>
              <a:cs typeface="Palatino Linotype"/>
            </a:endParaRPr>
          </a:p>
          <a:p>
            <a:pPr marL="241300" marR="107950">
              <a:lnSpc>
                <a:spcPct val="72800"/>
              </a:lnSpc>
              <a:spcBef>
                <a:spcPts val="330"/>
              </a:spcBef>
            </a:pPr>
            <a:r>
              <a:rPr sz="2150" dirty="0">
                <a:latin typeface="Palatino Linotype"/>
                <a:cs typeface="Palatino Linotype"/>
              </a:rPr>
              <a:t>"It</a:t>
            </a:r>
            <a:r>
              <a:rPr sz="2150" spc="90" dirty="0">
                <a:latin typeface="Palatino Linotype"/>
                <a:cs typeface="Palatino Linotype"/>
              </a:rPr>
              <a:t> </a:t>
            </a:r>
            <a:r>
              <a:rPr sz="2150" dirty="0">
                <a:latin typeface="Palatino Linotype"/>
                <a:cs typeface="Palatino Linotype"/>
              </a:rPr>
              <a:t>sounds</a:t>
            </a:r>
            <a:r>
              <a:rPr sz="2150" spc="114" dirty="0">
                <a:latin typeface="Palatino Linotype"/>
                <a:cs typeface="Palatino Linotype"/>
              </a:rPr>
              <a:t> </a:t>
            </a:r>
            <a:r>
              <a:rPr sz="2150" dirty="0">
                <a:latin typeface="Palatino Linotype"/>
                <a:cs typeface="Palatino Linotype"/>
              </a:rPr>
              <a:t>like</a:t>
            </a:r>
            <a:r>
              <a:rPr sz="2150" spc="65" dirty="0">
                <a:latin typeface="Palatino Linotype"/>
                <a:cs typeface="Palatino Linotype"/>
              </a:rPr>
              <a:t> </a:t>
            </a:r>
            <a:r>
              <a:rPr sz="2150" dirty="0">
                <a:latin typeface="Palatino Linotype"/>
                <a:cs typeface="Palatino Linotype"/>
              </a:rPr>
              <a:t>you're</a:t>
            </a:r>
            <a:r>
              <a:rPr sz="2150" spc="65" dirty="0">
                <a:latin typeface="Palatino Linotype"/>
                <a:cs typeface="Palatino Linotype"/>
              </a:rPr>
              <a:t> </a:t>
            </a:r>
            <a:r>
              <a:rPr sz="2150" dirty="0">
                <a:latin typeface="Palatino Linotype"/>
                <a:cs typeface="Palatino Linotype"/>
              </a:rPr>
              <a:t>going</a:t>
            </a:r>
            <a:r>
              <a:rPr sz="2150" spc="55" dirty="0">
                <a:latin typeface="Palatino Linotype"/>
                <a:cs typeface="Palatino Linotype"/>
              </a:rPr>
              <a:t> </a:t>
            </a:r>
            <a:r>
              <a:rPr sz="2150" dirty="0">
                <a:latin typeface="Palatino Linotype"/>
                <a:cs typeface="Palatino Linotype"/>
              </a:rPr>
              <a:t>through</a:t>
            </a:r>
            <a:r>
              <a:rPr sz="2150" spc="65" dirty="0">
                <a:latin typeface="Palatino Linotype"/>
                <a:cs typeface="Palatino Linotype"/>
              </a:rPr>
              <a:t> </a:t>
            </a:r>
            <a:r>
              <a:rPr sz="2150" dirty="0">
                <a:latin typeface="Palatino Linotype"/>
                <a:cs typeface="Palatino Linotype"/>
              </a:rPr>
              <a:t>a</a:t>
            </a:r>
            <a:r>
              <a:rPr sz="2150" spc="100" dirty="0">
                <a:latin typeface="Palatino Linotype"/>
                <a:cs typeface="Palatino Linotype"/>
              </a:rPr>
              <a:t> </a:t>
            </a:r>
            <a:r>
              <a:rPr sz="2150" dirty="0">
                <a:latin typeface="Palatino Linotype"/>
                <a:cs typeface="Palatino Linotype"/>
              </a:rPr>
              <a:t>tough</a:t>
            </a:r>
            <a:r>
              <a:rPr sz="2150" spc="150" dirty="0">
                <a:latin typeface="Palatino Linotype"/>
                <a:cs typeface="Palatino Linotype"/>
              </a:rPr>
              <a:t> </a:t>
            </a:r>
            <a:r>
              <a:rPr sz="2150" dirty="0">
                <a:latin typeface="Palatino Linotype"/>
                <a:cs typeface="Palatino Linotype"/>
              </a:rPr>
              <a:t>time.</a:t>
            </a:r>
            <a:r>
              <a:rPr sz="2150" spc="40" dirty="0">
                <a:latin typeface="Palatino Linotype"/>
                <a:cs typeface="Palatino Linotype"/>
              </a:rPr>
              <a:t> </a:t>
            </a:r>
            <a:r>
              <a:rPr sz="2150" dirty="0">
                <a:latin typeface="Palatino Linotype"/>
                <a:cs typeface="Palatino Linotype"/>
              </a:rPr>
              <a:t>Here</a:t>
            </a:r>
            <a:r>
              <a:rPr sz="2150" spc="150" dirty="0">
                <a:latin typeface="Palatino Linotype"/>
                <a:cs typeface="Palatino Linotype"/>
              </a:rPr>
              <a:t> </a:t>
            </a:r>
            <a:r>
              <a:rPr sz="2150" dirty="0">
                <a:latin typeface="Palatino Linotype"/>
                <a:cs typeface="Palatino Linotype"/>
              </a:rPr>
              <a:t>are</a:t>
            </a:r>
            <a:r>
              <a:rPr sz="2150" spc="70" dirty="0">
                <a:latin typeface="Palatino Linotype"/>
                <a:cs typeface="Palatino Linotype"/>
              </a:rPr>
              <a:t> </a:t>
            </a:r>
            <a:r>
              <a:rPr sz="2150" dirty="0">
                <a:latin typeface="Palatino Linotype"/>
                <a:cs typeface="Palatino Linotype"/>
              </a:rPr>
              <a:t>some</a:t>
            </a:r>
            <a:r>
              <a:rPr sz="2150" spc="65" dirty="0">
                <a:latin typeface="Palatino Linotype"/>
                <a:cs typeface="Palatino Linotype"/>
              </a:rPr>
              <a:t> </a:t>
            </a:r>
            <a:r>
              <a:rPr sz="2150" dirty="0">
                <a:latin typeface="Palatino Linotype"/>
                <a:cs typeface="Palatino Linotype"/>
              </a:rPr>
              <a:t>strategies</a:t>
            </a:r>
            <a:r>
              <a:rPr sz="2150" spc="35" dirty="0">
                <a:latin typeface="Palatino Linotype"/>
                <a:cs typeface="Palatino Linotype"/>
              </a:rPr>
              <a:t> </a:t>
            </a:r>
            <a:r>
              <a:rPr sz="2150" spc="-20" dirty="0">
                <a:latin typeface="Palatino Linotype"/>
                <a:cs typeface="Palatino Linotype"/>
              </a:rPr>
              <a:t>that </a:t>
            </a:r>
            <a:r>
              <a:rPr sz="2150" dirty="0">
                <a:latin typeface="Palatino Linotype"/>
                <a:cs typeface="Palatino Linotype"/>
              </a:rPr>
              <a:t>might</a:t>
            </a:r>
            <a:r>
              <a:rPr sz="2150" spc="120" dirty="0">
                <a:latin typeface="Palatino Linotype"/>
                <a:cs typeface="Palatino Linotype"/>
              </a:rPr>
              <a:t> </a:t>
            </a:r>
            <a:r>
              <a:rPr sz="2150" spc="-20" dirty="0">
                <a:latin typeface="Palatino Linotype"/>
                <a:cs typeface="Palatino Linotype"/>
              </a:rPr>
              <a:t>help:</a:t>
            </a:r>
            <a:endParaRPr sz="2150" dirty="0">
              <a:latin typeface="Palatino Linotype"/>
              <a:cs typeface="Palatino Linotype"/>
            </a:endParaRPr>
          </a:p>
          <a:p>
            <a:pPr marL="697865" marR="118745" lvl="1" indent="-227965">
              <a:lnSpc>
                <a:spcPct val="74500"/>
              </a:lnSpc>
              <a:spcBef>
                <a:spcPts val="2490"/>
              </a:spcBef>
              <a:buAutoNum type="arabicPeriod"/>
              <a:tabLst>
                <a:tab pos="699135" algn="l"/>
              </a:tabLst>
            </a:pPr>
            <a:r>
              <a:rPr sz="1850" b="1" dirty="0">
                <a:latin typeface="Palatino Linotype"/>
                <a:cs typeface="Palatino Linotype"/>
              </a:rPr>
              <a:t>Prioritize</a:t>
            </a:r>
            <a:r>
              <a:rPr sz="1850" b="1" spc="75" dirty="0">
                <a:latin typeface="Palatino Linotype"/>
                <a:cs typeface="Palatino Linotype"/>
              </a:rPr>
              <a:t> </a:t>
            </a:r>
            <a:r>
              <a:rPr sz="1850" b="1" dirty="0">
                <a:latin typeface="Palatino Linotype"/>
                <a:cs typeface="Palatino Linotype"/>
              </a:rPr>
              <a:t>Tasks:</a:t>
            </a:r>
            <a:r>
              <a:rPr sz="1850" b="1" spc="100" dirty="0">
                <a:latin typeface="Palatino Linotype"/>
                <a:cs typeface="Palatino Linotype"/>
              </a:rPr>
              <a:t> </a:t>
            </a:r>
            <a:r>
              <a:rPr sz="1850" dirty="0">
                <a:latin typeface="Palatino Linotype"/>
                <a:cs typeface="Palatino Linotype"/>
              </a:rPr>
              <a:t>Start</a:t>
            </a:r>
            <a:r>
              <a:rPr sz="1850" spc="105" dirty="0">
                <a:latin typeface="Palatino Linotype"/>
                <a:cs typeface="Palatino Linotype"/>
              </a:rPr>
              <a:t> </a:t>
            </a:r>
            <a:r>
              <a:rPr sz="1850" dirty="0">
                <a:latin typeface="Palatino Linotype"/>
                <a:cs typeface="Palatino Linotype"/>
              </a:rPr>
              <a:t>by</a:t>
            </a:r>
            <a:r>
              <a:rPr sz="1850" spc="120" dirty="0">
                <a:latin typeface="Palatino Linotype"/>
                <a:cs typeface="Palatino Linotype"/>
              </a:rPr>
              <a:t> </a:t>
            </a:r>
            <a:r>
              <a:rPr sz="1850" dirty="0">
                <a:latin typeface="Palatino Linotype"/>
                <a:cs typeface="Palatino Linotype"/>
              </a:rPr>
              <a:t>listing</a:t>
            </a:r>
            <a:r>
              <a:rPr sz="1850" spc="120" dirty="0">
                <a:latin typeface="Palatino Linotype"/>
                <a:cs typeface="Palatino Linotype"/>
              </a:rPr>
              <a:t> </a:t>
            </a:r>
            <a:r>
              <a:rPr sz="1850" dirty="0">
                <a:latin typeface="Palatino Linotype"/>
                <a:cs typeface="Palatino Linotype"/>
              </a:rPr>
              <a:t>your</a:t>
            </a:r>
            <a:r>
              <a:rPr sz="1850" spc="45" dirty="0">
                <a:latin typeface="Palatino Linotype"/>
                <a:cs typeface="Palatino Linotype"/>
              </a:rPr>
              <a:t> </a:t>
            </a:r>
            <a:r>
              <a:rPr sz="1850" dirty="0">
                <a:latin typeface="Palatino Linotype"/>
                <a:cs typeface="Palatino Linotype"/>
              </a:rPr>
              <a:t>tasks</a:t>
            </a:r>
            <a:r>
              <a:rPr sz="1850" spc="65" dirty="0">
                <a:latin typeface="Palatino Linotype"/>
                <a:cs typeface="Palatino Linotype"/>
              </a:rPr>
              <a:t> </a:t>
            </a:r>
            <a:r>
              <a:rPr sz="1850" dirty="0">
                <a:latin typeface="Palatino Linotype"/>
                <a:cs typeface="Palatino Linotype"/>
              </a:rPr>
              <a:t>and</a:t>
            </a:r>
            <a:r>
              <a:rPr sz="1850" spc="90" dirty="0">
                <a:latin typeface="Palatino Linotype"/>
                <a:cs typeface="Palatino Linotype"/>
              </a:rPr>
              <a:t> </a:t>
            </a:r>
            <a:r>
              <a:rPr sz="1850" dirty="0">
                <a:latin typeface="Palatino Linotype"/>
                <a:cs typeface="Palatino Linotype"/>
              </a:rPr>
              <a:t>identifying</a:t>
            </a:r>
            <a:r>
              <a:rPr sz="1850" spc="45" dirty="0">
                <a:latin typeface="Palatino Linotype"/>
                <a:cs typeface="Palatino Linotype"/>
              </a:rPr>
              <a:t> </a:t>
            </a:r>
            <a:r>
              <a:rPr sz="1850" dirty="0">
                <a:latin typeface="Palatino Linotype"/>
                <a:cs typeface="Palatino Linotype"/>
              </a:rPr>
              <a:t>which</a:t>
            </a:r>
            <a:r>
              <a:rPr sz="1850" spc="70" dirty="0">
                <a:latin typeface="Palatino Linotype"/>
                <a:cs typeface="Palatino Linotype"/>
              </a:rPr>
              <a:t> </a:t>
            </a:r>
            <a:r>
              <a:rPr sz="1850" dirty="0">
                <a:latin typeface="Palatino Linotype"/>
                <a:cs typeface="Palatino Linotype"/>
              </a:rPr>
              <a:t>ones</a:t>
            </a:r>
            <a:r>
              <a:rPr sz="1850" spc="70" dirty="0">
                <a:latin typeface="Palatino Linotype"/>
                <a:cs typeface="Palatino Linotype"/>
              </a:rPr>
              <a:t> </a:t>
            </a:r>
            <a:r>
              <a:rPr sz="1850" dirty="0">
                <a:latin typeface="Palatino Linotype"/>
                <a:cs typeface="Palatino Linotype"/>
              </a:rPr>
              <a:t>are</a:t>
            </a:r>
            <a:r>
              <a:rPr sz="1850" spc="120" dirty="0">
                <a:latin typeface="Palatino Linotype"/>
                <a:cs typeface="Palatino Linotype"/>
              </a:rPr>
              <a:t> </a:t>
            </a:r>
            <a:r>
              <a:rPr sz="1850" dirty="0">
                <a:latin typeface="Palatino Linotype"/>
                <a:cs typeface="Palatino Linotype"/>
              </a:rPr>
              <a:t>most</a:t>
            </a:r>
            <a:r>
              <a:rPr sz="1850" spc="105" dirty="0">
                <a:latin typeface="Palatino Linotype"/>
                <a:cs typeface="Palatino Linotype"/>
              </a:rPr>
              <a:t> </a:t>
            </a:r>
            <a:r>
              <a:rPr sz="1850" spc="-10" dirty="0">
                <a:latin typeface="Palatino Linotype"/>
                <a:cs typeface="Palatino Linotype"/>
              </a:rPr>
              <a:t>critical. 	</a:t>
            </a:r>
            <a:r>
              <a:rPr sz="1850" dirty="0">
                <a:latin typeface="Palatino Linotype"/>
                <a:cs typeface="Palatino Linotype"/>
              </a:rPr>
              <a:t>Focus</a:t>
            </a:r>
            <a:r>
              <a:rPr sz="1850" spc="110" dirty="0">
                <a:latin typeface="Palatino Linotype"/>
                <a:cs typeface="Palatino Linotype"/>
              </a:rPr>
              <a:t> </a:t>
            </a:r>
            <a:r>
              <a:rPr sz="1850" dirty="0">
                <a:latin typeface="Palatino Linotype"/>
                <a:cs typeface="Palatino Linotype"/>
              </a:rPr>
              <a:t>on</a:t>
            </a:r>
            <a:r>
              <a:rPr sz="1850" spc="114" dirty="0">
                <a:latin typeface="Palatino Linotype"/>
                <a:cs typeface="Palatino Linotype"/>
              </a:rPr>
              <a:t> </a:t>
            </a:r>
            <a:r>
              <a:rPr sz="1850" dirty="0">
                <a:latin typeface="Palatino Linotype"/>
                <a:cs typeface="Palatino Linotype"/>
              </a:rPr>
              <a:t>completing</a:t>
            </a:r>
            <a:r>
              <a:rPr sz="1850" spc="85" dirty="0">
                <a:latin typeface="Palatino Linotype"/>
                <a:cs typeface="Palatino Linotype"/>
              </a:rPr>
              <a:t> </a:t>
            </a:r>
            <a:r>
              <a:rPr sz="1850" dirty="0">
                <a:latin typeface="Palatino Linotype"/>
                <a:cs typeface="Palatino Linotype"/>
              </a:rPr>
              <a:t>those</a:t>
            </a:r>
            <a:r>
              <a:rPr sz="1850" spc="85" dirty="0">
                <a:latin typeface="Palatino Linotype"/>
                <a:cs typeface="Palatino Linotype"/>
              </a:rPr>
              <a:t> </a:t>
            </a:r>
            <a:r>
              <a:rPr sz="1850" spc="-10" dirty="0">
                <a:latin typeface="Palatino Linotype"/>
                <a:cs typeface="Palatino Linotype"/>
              </a:rPr>
              <a:t>first.</a:t>
            </a:r>
            <a:endParaRPr sz="1850" dirty="0">
              <a:latin typeface="Palatino Linotype"/>
              <a:cs typeface="Palatino Linotype"/>
            </a:endParaRPr>
          </a:p>
          <a:p>
            <a:pPr lvl="1">
              <a:lnSpc>
                <a:spcPct val="100000"/>
              </a:lnSpc>
              <a:spcBef>
                <a:spcPts val="130"/>
              </a:spcBef>
              <a:buFont typeface="Palatino Linotype"/>
              <a:buAutoNum type="arabicPeriod"/>
            </a:pPr>
            <a:endParaRPr sz="1850" dirty="0">
              <a:latin typeface="Palatino Linotype"/>
              <a:cs typeface="Palatino Linotype"/>
            </a:endParaRPr>
          </a:p>
          <a:p>
            <a:pPr marL="697865" marR="5080" lvl="1" indent="-227965">
              <a:lnSpc>
                <a:spcPct val="71100"/>
              </a:lnSpc>
              <a:buAutoNum type="arabicPeriod"/>
              <a:tabLst>
                <a:tab pos="699135" algn="l"/>
              </a:tabLst>
            </a:pPr>
            <a:r>
              <a:rPr sz="1850" b="1" dirty="0">
                <a:latin typeface="Palatino Linotype"/>
                <a:cs typeface="Palatino Linotype"/>
              </a:rPr>
              <a:t>Time</a:t>
            </a:r>
            <a:r>
              <a:rPr sz="1850" b="1" spc="100" dirty="0">
                <a:latin typeface="Palatino Linotype"/>
                <a:cs typeface="Palatino Linotype"/>
              </a:rPr>
              <a:t> </a:t>
            </a:r>
            <a:r>
              <a:rPr sz="1850" b="1" dirty="0">
                <a:latin typeface="Palatino Linotype"/>
                <a:cs typeface="Palatino Linotype"/>
              </a:rPr>
              <a:t>Blocking:</a:t>
            </a:r>
            <a:r>
              <a:rPr sz="1850" b="1" spc="110" dirty="0">
                <a:latin typeface="Palatino Linotype"/>
                <a:cs typeface="Palatino Linotype"/>
              </a:rPr>
              <a:t> </a:t>
            </a:r>
            <a:r>
              <a:rPr sz="1850" dirty="0">
                <a:latin typeface="Palatino Linotype"/>
                <a:cs typeface="Palatino Linotype"/>
              </a:rPr>
              <a:t>Consider</a:t>
            </a:r>
            <a:r>
              <a:rPr sz="1850" spc="155" dirty="0">
                <a:latin typeface="Palatino Linotype"/>
                <a:cs typeface="Palatino Linotype"/>
              </a:rPr>
              <a:t> </a:t>
            </a:r>
            <a:r>
              <a:rPr sz="1850" dirty="0">
                <a:latin typeface="Palatino Linotype"/>
                <a:cs typeface="Palatino Linotype"/>
              </a:rPr>
              <a:t>setting</a:t>
            </a:r>
            <a:r>
              <a:rPr sz="1850" spc="145" dirty="0">
                <a:latin typeface="Palatino Linotype"/>
                <a:cs typeface="Palatino Linotype"/>
              </a:rPr>
              <a:t> </a:t>
            </a:r>
            <a:r>
              <a:rPr sz="1850" dirty="0">
                <a:latin typeface="Palatino Linotype"/>
                <a:cs typeface="Palatino Linotype"/>
              </a:rPr>
              <a:t>aside</a:t>
            </a:r>
            <a:r>
              <a:rPr sz="1850" spc="60" dirty="0">
                <a:latin typeface="Palatino Linotype"/>
                <a:cs typeface="Palatino Linotype"/>
              </a:rPr>
              <a:t> </a:t>
            </a:r>
            <a:r>
              <a:rPr sz="1850" dirty="0">
                <a:latin typeface="Palatino Linotype"/>
                <a:cs typeface="Palatino Linotype"/>
              </a:rPr>
              <a:t>specific</a:t>
            </a:r>
            <a:r>
              <a:rPr sz="1850" spc="50" dirty="0">
                <a:latin typeface="Palatino Linotype"/>
                <a:cs typeface="Palatino Linotype"/>
              </a:rPr>
              <a:t> </a:t>
            </a:r>
            <a:r>
              <a:rPr sz="1850" dirty="0">
                <a:latin typeface="Palatino Linotype"/>
                <a:cs typeface="Palatino Linotype"/>
              </a:rPr>
              <a:t>blocks</a:t>
            </a:r>
            <a:r>
              <a:rPr sz="1850" spc="90" dirty="0">
                <a:latin typeface="Palatino Linotype"/>
                <a:cs typeface="Palatino Linotype"/>
              </a:rPr>
              <a:t> </a:t>
            </a:r>
            <a:r>
              <a:rPr sz="1850" dirty="0">
                <a:latin typeface="Palatino Linotype"/>
                <a:cs typeface="Palatino Linotype"/>
              </a:rPr>
              <a:t>of</a:t>
            </a:r>
            <a:r>
              <a:rPr sz="1850" spc="120" dirty="0">
                <a:latin typeface="Palatino Linotype"/>
                <a:cs typeface="Palatino Linotype"/>
              </a:rPr>
              <a:t> </a:t>
            </a:r>
            <a:r>
              <a:rPr sz="1850" dirty="0">
                <a:latin typeface="Palatino Linotype"/>
                <a:cs typeface="Palatino Linotype"/>
              </a:rPr>
              <a:t>time</a:t>
            </a:r>
            <a:r>
              <a:rPr sz="1850" spc="145" dirty="0">
                <a:latin typeface="Palatino Linotype"/>
                <a:cs typeface="Palatino Linotype"/>
              </a:rPr>
              <a:t> </a:t>
            </a:r>
            <a:r>
              <a:rPr sz="1850" dirty="0">
                <a:latin typeface="Palatino Linotype"/>
                <a:cs typeface="Palatino Linotype"/>
              </a:rPr>
              <a:t>for</a:t>
            </a:r>
            <a:r>
              <a:rPr sz="1850" spc="65" dirty="0">
                <a:latin typeface="Palatino Linotype"/>
                <a:cs typeface="Palatino Linotype"/>
              </a:rPr>
              <a:t> </a:t>
            </a:r>
            <a:r>
              <a:rPr sz="1850" dirty="0">
                <a:latin typeface="Palatino Linotype"/>
                <a:cs typeface="Palatino Linotype"/>
              </a:rPr>
              <a:t>different</a:t>
            </a:r>
            <a:r>
              <a:rPr sz="1850" spc="130" dirty="0">
                <a:latin typeface="Palatino Linotype"/>
                <a:cs typeface="Palatino Linotype"/>
              </a:rPr>
              <a:t> </a:t>
            </a:r>
            <a:r>
              <a:rPr sz="1850" dirty="0">
                <a:latin typeface="Palatino Linotype"/>
                <a:cs typeface="Palatino Linotype"/>
              </a:rPr>
              <a:t>types</a:t>
            </a:r>
            <a:r>
              <a:rPr sz="1850" spc="95" dirty="0">
                <a:latin typeface="Palatino Linotype"/>
                <a:cs typeface="Palatino Linotype"/>
              </a:rPr>
              <a:t> </a:t>
            </a:r>
            <a:r>
              <a:rPr sz="1850" dirty="0">
                <a:latin typeface="Palatino Linotype"/>
                <a:cs typeface="Palatino Linotype"/>
              </a:rPr>
              <a:t>of</a:t>
            </a:r>
            <a:r>
              <a:rPr sz="1850" spc="30" dirty="0">
                <a:latin typeface="Palatino Linotype"/>
                <a:cs typeface="Palatino Linotype"/>
              </a:rPr>
              <a:t> </a:t>
            </a:r>
            <a:r>
              <a:rPr sz="1850" spc="-10" dirty="0">
                <a:latin typeface="Palatino Linotype"/>
                <a:cs typeface="Palatino Linotype"/>
              </a:rPr>
              <a:t>work. 	</a:t>
            </a:r>
            <a:r>
              <a:rPr sz="1850" dirty="0">
                <a:latin typeface="Palatino Linotype"/>
                <a:cs typeface="Palatino Linotype"/>
              </a:rPr>
              <a:t>This</a:t>
            </a:r>
            <a:r>
              <a:rPr sz="1850" spc="80" dirty="0">
                <a:latin typeface="Palatino Linotype"/>
                <a:cs typeface="Palatino Linotype"/>
              </a:rPr>
              <a:t> </a:t>
            </a:r>
            <a:r>
              <a:rPr sz="1850" dirty="0">
                <a:latin typeface="Palatino Linotype"/>
                <a:cs typeface="Palatino Linotype"/>
              </a:rPr>
              <a:t>can</a:t>
            </a:r>
            <a:r>
              <a:rPr sz="1850" spc="90" dirty="0">
                <a:latin typeface="Palatino Linotype"/>
                <a:cs typeface="Palatino Linotype"/>
              </a:rPr>
              <a:t> </a:t>
            </a:r>
            <a:r>
              <a:rPr sz="1850" dirty="0">
                <a:latin typeface="Palatino Linotype"/>
                <a:cs typeface="Palatino Linotype"/>
              </a:rPr>
              <a:t>help</a:t>
            </a:r>
            <a:r>
              <a:rPr sz="1850" spc="50" dirty="0">
                <a:latin typeface="Palatino Linotype"/>
                <a:cs typeface="Palatino Linotype"/>
              </a:rPr>
              <a:t> </a:t>
            </a:r>
            <a:r>
              <a:rPr sz="1850" dirty="0">
                <a:latin typeface="Palatino Linotype"/>
                <a:cs typeface="Palatino Linotype"/>
              </a:rPr>
              <a:t>you</a:t>
            </a:r>
            <a:r>
              <a:rPr sz="1850" spc="45" dirty="0">
                <a:latin typeface="Palatino Linotype"/>
                <a:cs typeface="Palatino Linotype"/>
              </a:rPr>
              <a:t> </a:t>
            </a:r>
            <a:r>
              <a:rPr sz="1850" dirty="0">
                <a:latin typeface="Palatino Linotype"/>
                <a:cs typeface="Palatino Linotype"/>
              </a:rPr>
              <a:t>create</a:t>
            </a:r>
            <a:r>
              <a:rPr sz="1850" spc="55" dirty="0">
                <a:latin typeface="Palatino Linotype"/>
                <a:cs typeface="Palatino Linotype"/>
              </a:rPr>
              <a:t> </a:t>
            </a:r>
            <a:r>
              <a:rPr sz="1850" dirty="0">
                <a:latin typeface="Palatino Linotype"/>
                <a:cs typeface="Palatino Linotype"/>
              </a:rPr>
              <a:t>a</a:t>
            </a:r>
            <a:r>
              <a:rPr sz="1850" spc="95" dirty="0">
                <a:latin typeface="Palatino Linotype"/>
                <a:cs typeface="Palatino Linotype"/>
              </a:rPr>
              <a:t> </a:t>
            </a:r>
            <a:r>
              <a:rPr sz="1850" dirty="0">
                <a:latin typeface="Palatino Linotype"/>
                <a:cs typeface="Palatino Linotype"/>
              </a:rPr>
              <a:t>routine</a:t>
            </a:r>
            <a:r>
              <a:rPr sz="1850" spc="55" dirty="0">
                <a:latin typeface="Palatino Linotype"/>
                <a:cs typeface="Palatino Linotype"/>
              </a:rPr>
              <a:t> </a:t>
            </a:r>
            <a:r>
              <a:rPr sz="1850" dirty="0">
                <a:latin typeface="Palatino Linotype"/>
                <a:cs typeface="Palatino Linotype"/>
              </a:rPr>
              <a:t>and</a:t>
            </a:r>
            <a:r>
              <a:rPr sz="1850" spc="110" dirty="0">
                <a:latin typeface="Palatino Linotype"/>
                <a:cs typeface="Palatino Linotype"/>
              </a:rPr>
              <a:t> </a:t>
            </a:r>
            <a:r>
              <a:rPr sz="1850" dirty="0">
                <a:latin typeface="Palatino Linotype"/>
                <a:cs typeface="Palatino Linotype"/>
              </a:rPr>
              <a:t>reduce</a:t>
            </a:r>
            <a:r>
              <a:rPr sz="1850" spc="140" dirty="0">
                <a:latin typeface="Palatino Linotype"/>
                <a:cs typeface="Palatino Linotype"/>
              </a:rPr>
              <a:t> </a:t>
            </a:r>
            <a:r>
              <a:rPr sz="1850" spc="-10" dirty="0">
                <a:latin typeface="Palatino Linotype"/>
                <a:cs typeface="Palatino Linotype"/>
              </a:rPr>
              <a:t>distractions.</a:t>
            </a:r>
            <a:endParaRPr sz="1850" dirty="0">
              <a:latin typeface="Palatino Linotype"/>
              <a:cs typeface="Palatino Linotype"/>
            </a:endParaRP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dirty="0"/>
              <a:t>Shortcuts</a:t>
            </a:r>
            <a:r>
              <a:rPr spc="-105" dirty="0"/>
              <a:t> </a:t>
            </a:r>
            <a:r>
              <a:rPr dirty="0"/>
              <a:t>with</a:t>
            </a:r>
            <a:r>
              <a:rPr spc="-125" dirty="0"/>
              <a:t> </a:t>
            </a:r>
            <a:r>
              <a:rPr dirty="0"/>
              <a:t>such</a:t>
            </a:r>
            <a:r>
              <a:rPr spc="-120" dirty="0"/>
              <a:t> </a:t>
            </a:r>
            <a:r>
              <a:rPr dirty="0"/>
              <a:t>safety</a:t>
            </a:r>
            <a:r>
              <a:rPr spc="-15" dirty="0"/>
              <a:t> </a:t>
            </a:r>
            <a:r>
              <a:rPr spc="-10" dirty="0"/>
              <a:t>alignment</a:t>
            </a:r>
          </a:p>
        </p:txBody>
      </p:sp>
      <p:pic>
        <p:nvPicPr>
          <p:cNvPr id="3" name="object 3" descr="A table with numbers and symbols  AI-generated content may be incorrect.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838200" y="2019300"/>
            <a:ext cx="10515600" cy="3067050"/>
          </a:xfrm>
          <a:prstGeom prst="rect">
            <a:avLst/>
          </a:prstGeom>
        </p:spPr>
      </p:pic>
      <p:sp>
        <p:nvSpPr>
          <p:cNvPr id="4" name="object 4"/>
          <p:cNvSpPr txBox="1"/>
          <p:nvPr/>
        </p:nvSpPr>
        <p:spPr>
          <a:xfrm>
            <a:off x="252729" y="6423977"/>
            <a:ext cx="7733030" cy="266065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1550" dirty="0">
                <a:solidFill>
                  <a:srgbClr val="80350D"/>
                </a:solidFill>
                <a:latin typeface="Palatino Linotype"/>
                <a:cs typeface="Palatino Linotype"/>
              </a:rPr>
              <a:t>[Safety</a:t>
            </a:r>
            <a:r>
              <a:rPr sz="1550" spc="70" dirty="0">
                <a:solidFill>
                  <a:srgbClr val="80350D"/>
                </a:solidFill>
                <a:latin typeface="Palatino Linotype"/>
                <a:cs typeface="Palatino Linotype"/>
              </a:rPr>
              <a:t> </a:t>
            </a:r>
            <a:r>
              <a:rPr sz="1550" dirty="0">
                <a:solidFill>
                  <a:srgbClr val="80350D"/>
                </a:solidFill>
                <a:latin typeface="Palatino Linotype"/>
                <a:cs typeface="Palatino Linotype"/>
              </a:rPr>
              <a:t>Alignment</a:t>
            </a:r>
            <a:r>
              <a:rPr sz="1550" spc="65" dirty="0">
                <a:solidFill>
                  <a:srgbClr val="80350D"/>
                </a:solidFill>
                <a:latin typeface="Palatino Linotype"/>
                <a:cs typeface="Palatino Linotype"/>
              </a:rPr>
              <a:t> </a:t>
            </a:r>
            <a:r>
              <a:rPr sz="1550" dirty="0">
                <a:solidFill>
                  <a:srgbClr val="80350D"/>
                </a:solidFill>
                <a:latin typeface="Palatino Linotype"/>
                <a:cs typeface="Palatino Linotype"/>
              </a:rPr>
              <a:t>Should</a:t>
            </a:r>
            <a:r>
              <a:rPr sz="1550" spc="150" dirty="0">
                <a:solidFill>
                  <a:srgbClr val="80350D"/>
                </a:solidFill>
                <a:latin typeface="Palatino Linotype"/>
                <a:cs typeface="Palatino Linotype"/>
              </a:rPr>
              <a:t> </a:t>
            </a:r>
            <a:r>
              <a:rPr sz="1550" dirty="0">
                <a:solidFill>
                  <a:srgbClr val="80350D"/>
                </a:solidFill>
                <a:latin typeface="Palatino Linotype"/>
                <a:cs typeface="Palatino Linotype"/>
              </a:rPr>
              <a:t>Be</a:t>
            </a:r>
            <a:r>
              <a:rPr sz="1550" spc="45" dirty="0">
                <a:solidFill>
                  <a:srgbClr val="80350D"/>
                </a:solidFill>
                <a:latin typeface="Palatino Linotype"/>
                <a:cs typeface="Palatino Linotype"/>
              </a:rPr>
              <a:t> </a:t>
            </a:r>
            <a:r>
              <a:rPr sz="1550" dirty="0">
                <a:solidFill>
                  <a:srgbClr val="80350D"/>
                </a:solidFill>
                <a:latin typeface="Palatino Linotype"/>
                <a:cs typeface="Palatino Linotype"/>
              </a:rPr>
              <a:t>Made</a:t>
            </a:r>
            <a:r>
              <a:rPr sz="1550" spc="45" dirty="0">
                <a:solidFill>
                  <a:srgbClr val="80350D"/>
                </a:solidFill>
                <a:latin typeface="Palatino Linotype"/>
                <a:cs typeface="Palatino Linotype"/>
              </a:rPr>
              <a:t> </a:t>
            </a:r>
            <a:r>
              <a:rPr sz="1550" dirty="0">
                <a:solidFill>
                  <a:srgbClr val="80350D"/>
                </a:solidFill>
                <a:latin typeface="Palatino Linotype"/>
                <a:cs typeface="Palatino Linotype"/>
              </a:rPr>
              <a:t>More</a:t>
            </a:r>
            <a:r>
              <a:rPr sz="1550" spc="45" dirty="0">
                <a:solidFill>
                  <a:srgbClr val="80350D"/>
                </a:solidFill>
                <a:latin typeface="Palatino Linotype"/>
                <a:cs typeface="Palatino Linotype"/>
              </a:rPr>
              <a:t> </a:t>
            </a:r>
            <a:r>
              <a:rPr sz="1550" dirty="0">
                <a:solidFill>
                  <a:srgbClr val="80350D"/>
                </a:solidFill>
                <a:latin typeface="Palatino Linotype"/>
                <a:cs typeface="Palatino Linotype"/>
              </a:rPr>
              <a:t>Than</a:t>
            </a:r>
            <a:r>
              <a:rPr sz="1550" spc="114" dirty="0">
                <a:solidFill>
                  <a:srgbClr val="80350D"/>
                </a:solidFill>
                <a:latin typeface="Palatino Linotype"/>
                <a:cs typeface="Palatino Linotype"/>
              </a:rPr>
              <a:t> </a:t>
            </a:r>
            <a:r>
              <a:rPr sz="1550" dirty="0">
                <a:solidFill>
                  <a:srgbClr val="80350D"/>
                </a:solidFill>
                <a:latin typeface="Palatino Linotype"/>
                <a:cs typeface="Palatino Linotype"/>
              </a:rPr>
              <a:t>Just</a:t>
            </a:r>
            <a:r>
              <a:rPr sz="1550" spc="140" dirty="0">
                <a:solidFill>
                  <a:srgbClr val="80350D"/>
                </a:solidFill>
                <a:latin typeface="Palatino Linotype"/>
                <a:cs typeface="Palatino Linotype"/>
              </a:rPr>
              <a:t> </a:t>
            </a:r>
            <a:r>
              <a:rPr sz="1550" dirty="0">
                <a:solidFill>
                  <a:srgbClr val="80350D"/>
                </a:solidFill>
                <a:latin typeface="Palatino Linotype"/>
                <a:cs typeface="Palatino Linotype"/>
              </a:rPr>
              <a:t>a</a:t>
            </a:r>
            <a:r>
              <a:rPr sz="1550" spc="95" dirty="0">
                <a:solidFill>
                  <a:srgbClr val="80350D"/>
                </a:solidFill>
                <a:latin typeface="Palatino Linotype"/>
                <a:cs typeface="Palatino Linotype"/>
              </a:rPr>
              <a:t> </a:t>
            </a:r>
            <a:r>
              <a:rPr sz="1550" dirty="0">
                <a:solidFill>
                  <a:srgbClr val="80350D"/>
                </a:solidFill>
                <a:latin typeface="Palatino Linotype"/>
                <a:cs typeface="Palatino Linotype"/>
              </a:rPr>
              <a:t>Few</a:t>
            </a:r>
            <a:r>
              <a:rPr sz="1550" spc="85" dirty="0">
                <a:solidFill>
                  <a:srgbClr val="80350D"/>
                </a:solidFill>
                <a:latin typeface="Palatino Linotype"/>
                <a:cs typeface="Palatino Linotype"/>
              </a:rPr>
              <a:t> </a:t>
            </a:r>
            <a:r>
              <a:rPr sz="1550" dirty="0">
                <a:solidFill>
                  <a:srgbClr val="80350D"/>
                </a:solidFill>
                <a:latin typeface="Palatino Linotype"/>
                <a:cs typeface="Palatino Linotype"/>
              </a:rPr>
              <a:t>Tokens</a:t>
            </a:r>
            <a:r>
              <a:rPr sz="1550" spc="145" dirty="0">
                <a:solidFill>
                  <a:srgbClr val="80350D"/>
                </a:solidFill>
                <a:latin typeface="Palatino Linotype"/>
                <a:cs typeface="Palatino Linotype"/>
              </a:rPr>
              <a:t> </a:t>
            </a:r>
            <a:r>
              <a:rPr sz="1550" dirty="0">
                <a:solidFill>
                  <a:srgbClr val="80350D"/>
                </a:solidFill>
                <a:latin typeface="Palatino Linotype"/>
                <a:cs typeface="Palatino Linotype"/>
              </a:rPr>
              <a:t>Deep.</a:t>
            </a:r>
            <a:r>
              <a:rPr sz="1550" spc="114" dirty="0">
                <a:solidFill>
                  <a:srgbClr val="80350D"/>
                </a:solidFill>
                <a:latin typeface="Palatino Linotype"/>
                <a:cs typeface="Palatino Linotype"/>
              </a:rPr>
              <a:t> </a:t>
            </a:r>
            <a:r>
              <a:rPr sz="1550" dirty="0">
                <a:solidFill>
                  <a:srgbClr val="80350D"/>
                </a:solidFill>
                <a:latin typeface="Palatino Linotype"/>
                <a:cs typeface="Palatino Linotype"/>
              </a:rPr>
              <a:t>Qi</a:t>
            </a:r>
            <a:r>
              <a:rPr sz="1550" spc="40" dirty="0">
                <a:solidFill>
                  <a:srgbClr val="80350D"/>
                </a:solidFill>
                <a:latin typeface="Palatino Linotype"/>
                <a:cs typeface="Palatino Linotype"/>
              </a:rPr>
              <a:t> </a:t>
            </a:r>
            <a:r>
              <a:rPr sz="1550" dirty="0">
                <a:solidFill>
                  <a:srgbClr val="80350D"/>
                </a:solidFill>
                <a:latin typeface="Palatino Linotype"/>
                <a:cs typeface="Palatino Linotype"/>
              </a:rPr>
              <a:t>et</a:t>
            </a:r>
            <a:r>
              <a:rPr sz="1550" spc="60" dirty="0">
                <a:solidFill>
                  <a:srgbClr val="80350D"/>
                </a:solidFill>
                <a:latin typeface="Palatino Linotype"/>
                <a:cs typeface="Palatino Linotype"/>
              </a:rPr>
              <a:t> </a:t>
            </a:r>
            <a:r>
              <a:rPr sz="1550" dirty="0">
                <a:solidFill>
                  <a:srgbClr val="80350D"/>
                </a:solidFill>
                <a:latin typeface="Palatino Linotype"/>
                <a:cs typeface="Palatino Linotype"/>
              </a:rPr>
              <a:t>al.</a:t>
            </a:r>
            <a:r>
              <a:rPr sz="1550" spc="25" dirty="0">
                <a:solidFill>
                  <a:srgbClr val="80350D"/>
                </a:solidFill>
                <a:latin typeface="Palatino Linotype"/>
                <a:cs typeface="Palatino Linotype"/>
              </a:rPr>
              <a:t> </a:t>
            </a:r>
            <a:r>
              <a:rPr sz="1550" spc="-10" dirty="0">
                <a:solidFill>
                  <a:srgbClr val="80350D"/>
                </a:solidFill>
                <a:latin typeface="Palatino Linotype"/>
                <a:cs typeface="Palatino Linotype"/>
              </a:rPr>
              <a:t>2024]</a:t>
            </a:r>
            <a:endParaRPr sz="1550">
              <a:latin typeface="Palatino Linotype"/>
              <a:cs typeface="Palatino Linotype"/>
            </a:endParaRP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dirty="0"/>
              <a:t>Shortcuts</a:t>
            </a:r>
            <a:r>
              <a:rPr spc="-105" dirty="0"/>
              <a:t> </a:t>
            </a:r>
            <a:r>
              <a:rPr dirty="0"/>
              <a:t>with</a:t>
            </a:r>
            <a:r>
              <a:rPr spc="-125" dirty="0"/>
              <a:t> </a:t>
            </a:r>
            <a:r>
              <a:rPr dirty="0"/>
              <a:t>such</a:t>
            </a:r>
            <a:r>
              <a:rPr spc="-120" dirty="0"/>
              <a:t> </a:t>
            </a:r>
            <a:r>
              <a:rPr dirty="0"/>
              <a:t>safety</a:t>
            </a:r>
            <a:r>
              <a:rPr spc="-15" dirty="0"/>
              <a:t> </a:t>
            </a:r>
            <a:r>
              <a:rPr spc="-10" dirty="0"/>
              <a:t>alignment</a:t>
            </a:r>
          </a:p>
        </p:txBody>
      </p:sp>
      <p:pic>
        <p:nvPicPr>
          <p:cNvPr id="3" name="object 3" descr="A graph with numbers and lines  AI-generated content may be incorrect.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114425" y="1990725"/>
            <a:ext cx="4048125" cy="2876550"/>
          </a:xfrm>
          <a:prstGeom prst="rect">
            <a:avLst/>
          </a:prstGeom>
        </p:spPr>
      </p:pic>
      <p:sp>
        <p:nvSpPr>
          <p:cNvPr id="4" name="object 4"/>
          <p:cNvSpPr txBox="1"/>
          <p:nvPr/>
        </p:nvSpPr>
        <p:spPr>
          <a:xfrm>
            <a:off x="252729" y="6423977"/>
            <a:ext cx="7733030" cy="266065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1550" dirty="0">
                <a:solidFill>
                  <a:srgbClr val="80350D"/>
                </a:solidFill>
                <a:latin typeface="Palatino Linotype"/>
                <a:cs typeface="Palatino Linotype"/>
              </a:rPr>
              <a:t>[Safety</a:t>
            </a:r>
            <a:r>
              <a:rPr sz="1550" spc="70" dirty="0">
                <a:solidFill>
                  <a:srgbClr val="80350D"/>
                </a:solidFill>
                <a:latin typeface="Palatino Linotype"/>
                <a:cs typeface="Palatino Linotype"/>
              </a:rPr>
              <a:t> </a:t>
            </a:r>
            <a:r>
              <a:rPr sz="1550" dirty="0">
                <a:solidFill>
                  <a:srgbClr val="80350D"/>
                </a:solidFill>
                <a:latin typeface="Palatino Linotype"/>
                <a:cs typeface="Palatino Linotype"/>
              </a:rPr>
              <a:t>Alignment</a:t>
            </a:r>
            <a:r>
              <a:rPr sz="1550" spc="65" dirty="0">
                <a:solidFill>
                  <a:srgbClr val="80350D"/>
                </a:solidFill>
                <a:latin typeface="Palatino Linotype"/>
                <a:cs typeface="Palatino Linotype"/>
              </a:rPr>
              <a:t> </a:t>
            </a:r>
            <a:r>
              <a:rPr sz="1550" dirty="0">
                <a:solidFill>
                  <a:srgbClr val="80350D"/>
                </a:solidFill>
                <a:latin typeface="Palatino Linotype"/>
                <a:cs typeface="Palatino Linotype"/>
              </a:rPr>
              <a:t>Should</a:t>
            </a:r>
            <a:r>
              <a:rPr sz="1550" spc="150" dirty="0">
                <a:solidFill>
                  <a:srgbClr val="80350D"/>
                </a:solidFill>
                <a:latin typeface="Palatino Linotype"/>
                <a:cs typeface="Palatino Linotype"/>
              </a:rPr>
              <a:t> </a:t>
            </a:r>
            <a:r>
              <a:rPr sz="1550" dirty="0">
                <a:solidFill>
                  <a:srgbClr val="80350D"/>
                </a:solidFill>
                <a:latin typeface="Palatino Linotype"/>
                <a:cs typeface="Palatino Linotype"/>
              </a:rPr>
              <a:t>Be</a:t>
            </a:r>
            <a:r>
              <a:rPr sz="1550" spc="45" dirty="0">
                <a:solidFill>
                  <a:srgbClr val="80350D"/>
                </a:solidFill>
                <a:latin typeface="Palatino Linotype"/>
                <a:cs typeface="Palatino Linotype"/>
              </a:rPr>
              <a:t> </a:t>
            </a:r>
            <a:r>
              <a:rPr sz="1550" dirty="0">
                <a:solidFill>
                  <a:srgbClr val="80350D"/>
                </a:solidFill>
                <a:latin typeface="Palatino Linotype"/>
                <a:cs typeface="Palatino Linotype"/>
              </a:rPr>
              <a:t>Made</a:t>
            </a:r>
            <a:r>
              <a:rPr sz="1550" spc="45" dirty="0">
                <a:solidFill>
                  <a:srgbClr val="80350D"/>
                </a:solidFill>
                <a:latin typeface="Palatino Linotype"/>
                <a:cs typeface="Palatino Linotype"/>
              </a:rPr>
              <a:t> </a:t>
            </a:r>
            <a:r>
              <a:rPr sz="1550" dirty="0">
                <a:solidFill>
                  <a:srgbClr val="80350D"/>
                </a:solidFill>
                <a:latin typeface="Palatino Linotype"/>
                <a:cs typeface="Palatino Linotype"/>
              </a:rPr>
              <a:t>More</a:t>
            </a:r>
            <a:r>
              <a:rPr sz="1550" spc="45" dirty="0">
                <a:solidFill>
                  <a:srgbClr val="80350D"/>
                </a:solidFill>
                <a:latin typeface="Palatino Linotype"/>
                <a:cs typeface="Palatino Linotype"/>
              </a:rPr>
              <a:t> </a:t>
            </a:r>
            <a:r>
              <a:rPr sz="1550" dirty="0">
                <a:solidFill>
                  <a:srgbClr val="80350D"/>
                </a:solidFill>
                <a:latin typeface="Palatino Linotype"/>
                <a:cs typeface="Palatino Linotype"/>
              </a:rPr>
              <a:t>Than</a:t>
            </a:r>
            <a:r>
              <a:rPr sz="1550" spc="114" dirty="0">
                <a:solidFill>
                  <a:srgbClr val="80350D"/>
                </a:solidFill>
                <a:latin typeface="Palatino Linotype"/>
                <a:cs typeface="Palatino Linotype"/>
              </a:rPr>
              <a:t> </a:t>
            </a:r>
            <a:r>
              <a:rPr sz="1550" dirty="0">
                <a:solidFill>
                  <a:srgbClr val="80350D"/>
                </a:solidFill>
                <a:latin typeface="Palatino Linotype"/>
                <a:cs typeface="Palatino Linotype"/>
              </a:rPr>
              <a:t>Just</a:t>
            </a:r>
            <a:r>
              <a:rPr sz="1550" spc="140" dirty="0">
                <a:solidFill>
                  <a:srgbClr val="80350D"/>
                </a:solidFill>
                <a:latin typeface="Palatino Linotype"/>
                <a:cs typeface="Palatino Linotype"/>
              </a:rPr>
              <a:t> </a:t>
            </a:r>
            <a:r>
              <a:rPr sz="1550" dirty="0">
                <a:solidFill>
                  <a:srgbClr val="80350D"/>
                </a:solidFill>
                <a:latin typeface="Palatino Linotype"/>
                <a:cs typeface="Palatino Linotype"/>
              </a:rPr>
              <a:t>a</a:t>
            </a:r>
            <a:r>
              <a:rPr sz="1550" spc="95" dirty="0">
                <a:solidFill>
                  <a:srgbClr val="80350D"/>
                </a:solidFill>
                <a:latin typeface="Palatino Linotype"/>
                <a:cs typeface="Palatino Linotype"/>
              </a:rPr>
              <a:t> </a:t>
            </a:r>
            <a:r>
              <a:rPr sz="1550" dirty="0">
                <a:solidFill>
                  <a:srgbClr val="80350D"/>
                </a:solidFill>
                <a:latin typeface="Palatino Linotype"/>
                <a:cs typeface="Palatino Linotype"/>
              </a:rPr>
              <a:t>Few</a:t>
            </a:r>
            <a:r>
              <a:rPr sz="1550" spc="85" dirty="0">
                <a:solidFill>
                  <a:srgbClr val="80350D"/>
                </a:solidFill>
                <a:latin typeface="Palatino Linotype"/>
                <a:cs typeface="Palatino Linotype"/>
              </a:rPr>
              <a:t> </a:t>
            </a:r>
            <a:r>
              <a:rPr sz="1550" dirty="0">
                <a:solidFill>
                  <a:srgbClr val="80350D"/>
                </a:solidFill>
                <a:latin typeface="Palatino Linotype"/>
                <a:cs typeface="Palatino Linotype"/>
              </a:rPr>
              <a:t>Tokens</a:t>
            </a:r>
            <a:r>
              <a:rPr sz="1550" spc="145" dirty="0">
                <a:solidFill>
                  <a:srgbClr val="80350D"/>
                </a:solidFill>
                <a:latin typeface="Palatino Linotype"/>
                <a:cs typeface="Palatino Linotype"/>
              </a:rPr>
              <a:t> </a:t>
            </a:r>
            <a:r>
              <a:rPr sz="1550" dirty="0">
                <a:solidFill>
                  <a:srgbClr val="80350D"/>
                </a:solidFill>
                <a:latin typeface="Palatino Linotype"/>
                <a:cs typeface="Palatino Linotype"/>
              </a:rPr>
              <a:t>Deep.</a:t>
            </a:r>
            <a:r>
              <a:rPr sz="1550" spc="114" dirty="0">
                <a:solidFill>
                  <a:srgbClr val="80350D"/>
                </a:solidFill>
                <a:latin typeface="Palatino Linotype"/>
                <a:cs typeface="Palatino Linotype"/>
              </a:rPr>
              <a:t> </a:t>
            </a:r>
            <a:r>
              <a:rPr sz="1550" dirty="0">
                <a:solidFill>
                  <a:srgbClr val="80350D"/>
                </a:solidFill>
                <a:latin typeface="Palatino Linotype"/>
                <a:cs typeface="Palatino Linotype"/>
              </a:rPr>
              <a:t>Qi</a:t>
            </a:r>
            <a:r>
              <a:rPr sz="1550" spc="40" dirty="0">
                <a:solidFill>
                  <a:srgbClr val="80350D"/>
                </a:solidFill>
                <a:latin typeface="Palatino Linotype"/>
                <a:cs typeface="Palatino Linotype"/>
              </a:rPr>
              <a:t> </a:t>
            </a:r>
            <a:r>
              <a:rPr sz="1550" dirty="0">
                <a:solidFill>
                  <a:srgbClr val="80350D"/>
                </a:solidFill>
                <a:latin typeface="Palatino Linotype"/>
                <a:cs typeface="Palatino Linotype"/>
              </a:rPr>
              <a:t>et</a:t>
            </a:r>
            <a:r>
              <a:rPr sz="1550" spc="60" dirty="0">
                <a:solidFill>
                  <a:srgbClr val="80350D"/>
                </a:solidFill>
                <a:latin typeface="Palatino Linotype"/>
                <a:cs typeface="Palatino Linotype"/>
              </a:rPr>
              <a:t> </a:t>
            </a:r>
            <a:r>
              <a:rPr sz="1550" dirty="0">
                <a:solidFill>
                  <a:srgbClr val="80350D"/>
                </a:solidFill>
                <a:latin typeface="Palatino Linotype"/>
                <a:cs typeface="Palatino Linotype"/>
              </a:rPr>
              <a:t>al.</a:t>
            </a:r>
            <a:r>
              <a:rPr sz="1550" spc="25" dirty="0">
                <a:solidFill>
                  <a:srgbClr val="80350D"/>
                </a:solidFill>
                <a:latin typeface="Palatino Linotype"/>
                <a:cs typeface="Palatino Linotype"/>
              </a:rPr>
              <a:t> </a:t>
            </a:r>
            <a:r>
              <a:rPr sz="1550" spc="-10" dirty="0">
                <a:solidFill>
                  <a:srgbClr val="80350D"/>
                </a:solidFill>
                <a:latin typeface="Palatino Linotype"/>
                <a:cs typeface="Palatino Linotype"/>
              </a:rPr>
              <a:t>2024]</a:t>
            </a:r>
            <a:endParaRPr sz="1550">
              <a:latin typeface="Palatino Linotype"/>
              <a:cs typeface="Palatino Linotype"/>
            </a:endParaRPr>
          </a:p>
        </p:txBody>
      </p:sp>
      <p:pic>
        <p:nvPicPr>
          <p:cNvPr id="5" name="object 5" descr="A graph with numbers and lines  AI-generated content may be incorrect.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6467475" y="1990725"/>
            <a:ext cx="4048125" cy="2933700"/>
          </a:xfrm>
          <a:prstGeom prst="rect">
            <a:avLst/>
          </a:prstGeom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dirty="0"/>
              <a:t>Data</a:t>
            </a:r>
            <a:r>
              <a:rPr spc="-120" dirty="0"/>
              <a:t> </a:t>
            </a:r>
            <a:r>
              <a:rPr dirty="0"/>
              <a:t>augmentation</a:t>
            </a:r>
            <a:r>
              <a:rPr spc="-105" dirty="0"/>
              <a:t> </a:t>
            </a:r>
            <a:r>
              <a:rPr dirty="0"/>
              <a:t>with</a:t>
            </a:r>
            <a:r>
              <a:rPr spc="-100" dirty="0"/>
              <a:t> </a:t>
            </a:r>
            <a:r>
              <a:rPr dirty="0"/>
              <a:t>safety</a:t>
            </a:r>
            <a:r>
              <a:rPr spc="-125" dirty="0"/>
              <a:t> </a:t>
            </a:r>
            <a:r>
              <a:rPr spc="-10" dirty="0"/>
              <a:t>recovery</a:t>
            </a: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000125" y="1695450"/>
            <a:ext cx="10515600" cy="981075"/>
          </a:xfrm>
          <a:prstGeom prst="rect">
            <a:avLst/>
          </a:prstGeom>
        </p:spPr>
      </p:pic>
      <p:sp>
        <p:nvSpPr>
          <p:cNvPr id="4" name="object 4"/>
          <p:cNvSpPr txBox="1"/>
          <p:nvPr/>
        </p:nvSpPr>
        <p:spPr>
          <a:xfrm>
            <a:off x="252729" y="6423977"/>
            <a:ext cx="7733030" cy="266065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1550" dirty="0">
                <a:solidFill>
                  <a:srgbClr val="80350D"/>
                </a:solidFill>
                <a:latin typeface="Palatino Linotype"/>
                <a:cs typeface="Palatino Linotype"/>
              </a:rPr>
              <a:t>[Safety</a:t>
            </a:r>
            <a:r>
              <a:rPr sz="1550" spc="70" dirty="0">
                <a:solidFill>
                  <a:srgbClr val="80350D"/>
                </a:solidFill>
                <a:latin typeface="Palatino Linotype"/>
                <a:cs typeface="Palatino Linotype"/>
              </a:rPr>
              <a:t> </a:t>
            </a:r>
            <a:r>
              <a:rPr sz="1550" dirty="0">
                <a:solidFill>
                  <a:srgbClr val="80350D"/>
                </a:solidFill>
                <a:latin typeface="Palatino Linotype"/>
                <a:cs typeface="Palatino Linotype"/>
              </a:rPr>
              <a:t>Alignment</a:t>
            </a:r>
            <a:r>
              <a:rPr sz="1550" spc="65" dirty="0">
                <a:solidFill>
                  <a:srgbClr val="80350D"/>
                </a:solidFill>
                <a:latin typeface="Palatino Linotype"/>
                <a:cs typeface="Palatino Linotype"/>
              </a:rPr>
              <a:t> </a:t>
            </a:r>
            <a:r>
              <a:rPr sz="1550" dirty="0">
                <a:solidFill>
                  <a:srgbClr val="80350D"/>
                </a:solidFill>
                <a:latin typeface="Palatino Linotype"/>
                <a:cs typeface="Palatino Linotype"/>
              </a:rPr>
              <a:t>Should</a:t>
            </a:r>
            <a:r>
              <a:rPr sz="1550" spc="150" dirty="0">
                <a:solidFill>
                  <a:srgbClr val="80350D"/>
                </a:solidFill>
                <a:latin typeface="Palatino Linotype"/>
                <a:cs typeface="Palatino Linotype"/>
              </a:rPr>
              <a:t> </a:t>
            </a:r>
            <a:r>
              <a:rPr sz="1550" dirty="0">
                <a:solidFill>
                  <a:srgbClr val="80350D"/>
                </a:solidFill>
                <a:latin typeface="Palatino Linotype"/>
                <a:cs typeface="Palatino Linotype"/>
              </a:rPr>
              <a:t>Be</a:t>
            </a:r>
            <a:r>
              <a:rPr sz="1550" spc="45" dirty="0">
                <a:solidFill>
                  <a:srgbClr val="80350D"/>
                </a:solidFill>
                <a:latin typeface="Palatino Linotype"/>
                <a:cs typeface="Palatino Linotype"/>
              </a:rPr>
              <a:t> </a:t>
            </a:r>
            <a:r>
              <a:rPr sz="1550" dirty="0">
                <a:solidFill>
                  <a:srgbClr val="80350D"/>
                </a:solidFill>
                <a:latin typeface="Palatino Linotype"/>
                <a:cs typeface="Palatino Linotype"/>
              </a:rPr>
              <a:t>Made</a:t>
            </a:r>
            <a:r>
              <a:rPr sz="1550" spc="45" dirty="0">
                <a:solidFill>
                  <a:srgbClr val="80350D"/>
                </a:solidFill>
                <a:latin typeface="Palatino Linotype"/>
                <a:cs typeface="Palatino Linotype"/>
              </a:rPr>
              <a:t> </a:t>
            </a:r>
            <a:r>
              <a:rPr sz="1550" dirty="0">
                <a:solidFill>
                  <a:srgbClr val="80350D"/>
                </a:solidFill>
                <a:latin typeface="Palatino Linotype"/>
                <a:cs typeface="Palatino Linotype"/>
              </a:rPr>
              <a:t>More</a:t>
            </a:r>
            <a:r>
              <a:rPr sz="1550" spc="45" dirty="0">
                <a:solidFill>
                  <a:srgbClr val="80350D"/>
                </a:solidFill>
                <a:latin typeface="Palatino Linotype"/>
                <a:cs typeface="Palatino Linotype"/>
              </a:rPr>
              <a:t> </a:t>
            </a:r>
            <a:r>
              <a:rPr sz="1550" dirty="0">
                <a:solidFill>
                  <a:srgbClr val="80350D"/>
                </a:solidFill>
                <a:latin typeface="Palatino Linotype"/>
                <a:cs typeface="Palatino Linotype"/>
              </a:rPr>
              <a:t>Than</a:t>
            </a:r>
            <a:r>
              <a:rPr sz="1550" spc="114" dirty="0">
                <a:solidFill>
                  <a:srgbClr val="80350D"/>
                </a:solidFill>
                <a:latin typeface="Palatino Linotype"/>
                <a:cs typeface="Palatino Linotype"/>
              </a:rPr>
              <a:t> </a:t>
            </a:r>
            <a:r>
              <a:rPr sz="1550" dirty="0">
                <a:solidFill>
                  <a:srgbClr val="80350D"/>
                </a:solidFill>
                <a:latin typeface="Palatino Linotype"/>
                <a:cs typeface="Palatino Linotype"/>
              </a:rPr>
              <a:t>Just</a:t>
            </a:r>
            <a:r>
              <a:rPr sz="1550" spc="140" dirty="0">
                <a:solidFill>
                  <a:srgbClr val="80350D"/>
                </a:solidFill>
                <a:latin typeface="Palatino Linotype"/>
                <a:cs typeface="Palatino Linotype"/>
              </a:rPr>
              <a:t> </a:t>
            </a:r>
            <a:r>
              <a:rPr sz="1550" dirty="0">
                <a:solidFill>
                  <a:srgbClr val="80350D"/>
                </a:solidFill>
                <a:latin typeface="Palatino Linotype"/>
                <a:cs typeface="Palatino Linotype"/>
              </a:rPr>
              <a:t>a</a:t>
            </a:r>
            <a:r>
              <a:rPr sz="1550" spc="95" dirty="0">
                <a:solidFill>
                  <a:srgbClr val="80350D"/>
                </a:solidFill>
                <a:latin typeface="Palatino Linotype"/>
                <a:cs typeface="Palatino Linotype"/>
              </a:rPr>
              <a:t> </a:t>
            </a:r>
            <a:r>
              <a:rPr sz="1550" dirty="0">
                <a:solidFill>
                  <a:srgbClr val="80350D"/>
                </a:solidFill>
                <a:latin typeface="Palatino Linotype"/>
                <a:cs typeface="Palatino Linotype"/>
              </a:rPr>
              <a:t>Few</a:t>
            </a:r>
            <a:r>
              <a:rPr sz="1550" spc="85" dirty="0">
                <a:solidFill>
                  <a:srgbClr val="80350D"/>
                </a:solidFill>
                <a:latin typeface="Palatino Linotype"/>
                <a:cs typeface="Palatino Linotype"/>
              </a:rPr>
              <a:t> </a:t>
            </a:r>
            <a:r>
              <a:rPr sz="1550" dirty="0">
                <a:solidFill>
                  <a:srgbClr val="80350D"/>
                </a:solidFill>
                <a:latin typeface="Palatino Linotype"/>
                <a:cs typeface="Palatino Linotype"/>
              </a:rPr>
              <a:t>Tokens</a:t>
            </a:r>
            <a:r>
              <a:rPr sz="1550" spc="145" dirty="0">
                <a:solidFill>
                  <a:srgbClr val="80350D"/>
                </a:solidFill>
                <a:latin typeface="Palatino Linotype"/>
                <a:cs typeface="Palatino Linotype"/>
              </a:rPr>
              <a:t> </a:t>
            </a:r>
            <a:r>
              <a:rPr sz="1550" dirty="0">
                <a:solidFill>
                  <a:srgbClr val="80350D"/>
                </a:solidFill>
                <a:latin typeface="Palatino Linotype"/>
                <a:cs typeface="Palatino Linotype"/>
              </a:rPr>
              <a:t>Deep.</a:t>
            </a:r>
            <a:r>
              <a:rPr sz="1550" spc="114" dirty="0">
                <a:solidFill>
                  <a:srgbClr val="80350D"/>
                </a:solidFill>
                <a:latin typeface="Palatino Linotype"/>
                <a:cs typeface="Palatino Linotype"/>
              </a:rPr>
              <a:t> </a:t>
            </a:r>
            <a:r>
              <a:rPr sz="1550" dirty="0">
                <a:solidFill>
                  <a:srgbClr val="80350D"/>
                </a:solidFill>
                <a:latin typeface="Palatino Linotype"/>
                <a:cs typeface="Palatino Linotype"/>
              </a:rPr>
              <a:t>Qi</a:t>
            </a:r>
            <a:r>
              <a:rPr sz="1550" spc="40" dirty="0">
                <a:solidFill>
                  <a:srgbClr val="80350D"/>
                </a:solidFill>
                <a:latin typeface="Palatino Linotype"/>
                <a:cs typeface="Palatino Linotype"/>
              </a:rPr>
              <a:t> </a:t>
            </a:r>
            <a:r>
              <a:rPr sz="1550" dirty="0">
                <a:solidFill>
                  <a:srgbClr val="80350D"/>
                </a:solidFill>
                <a:latin typeface="Palatino Linotype"/>
                <a:cs typeface="Palatino Linotype"/>
              </a:rPr>
              <a:t>et</a:t>
            </a:r>
            <a:r>
              <a:rPr sz="1550" spc="60" dirty="0">
                <a:solidFill>
                  <a:srgbClr val="80350D"/>
                </a:solidFill>
                <a:latin typeface="Palatino Linotype"/>
                <a:cs typeface="Palatino Linotype"/>
              </a:rPr>
              <a:t> </a:t>
            </a:r>
            <a:r>
              <a:rPr sz="1550" dirty="0">
                <a:solidFill>
                  <a:srgbClr val="80350D"/>
                </a:solidFill>
                <a:latin typeface="Palatino Linotype"/>
                <a:cs typeface="Palatino Linotype"/>
              </a:rPr>
              <a:t>al.</a:t>
            </a:r>
            <a:r>
              <a:rPr sz="1550" spc="25" dirty="0">
                <a:solidFill>
                  <a:srgbClr val="80350D"/>
                </a:solidFill>
                <a:latin typeface="Palatino Linotype"/>
                <a:cs typeface="Palatino Linotype"/>
              </a:rPr>
              <a:t> </a:t>
            </a:r>
            <a:r>
              <a:rPr sz="1550" spc="-10" dirty="0">
                <a:solidFill>
                  <a:srgbClr val="80350D"/>
                </a:solidFill>
                <a:latin typeface="Palatino Linotype"/>
                <a:cs typeface="Palatino Linotype"/>
              </a:rPr>
              <a:t>2024]</a:t>
            </a:r>
            <a:endParaRPr sz="1550">
              <a:latin typeface="Palatino Linotype"/>
              <a:cs typeface="Palatino Linotype"/>
            </a:endParaRPr>
          </a:p>
        </p:txBody>
      </p:sp>
      <p:pic>
        <p:nvPicPr>
          <p:cNvPr id="5" name="object 5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3971925" y="2838450"/>
            <a:ext cx="4248150" cy="3067050"/>
          </a:xfrm>
          <a:prstGeom prst="rect">
            <a:avLst/>
          </a:prstGeom>
        </p:spPr>
      </p:pic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xfrm>
            <a:off x="838200" y="681016"/>
            <a:ext cx="10515600" cy="693780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lang="en-US" dirty="0">
                <a:latin typeface="Palatino Linotype" panose="02040502050505030304" pitchFamily="18" charset="0"/>
              </a:rPr>
              <a:t>Circuit</a:t>
            </a:r>
            <a:r>
              <a:rPr lang="en-US" spc="-135" dirty="0">
                <a:latin typeface="Palatino Linotype" panose="02040502050505030304" pitchFamily="18" charset="0"/>
              </a:rPr>
              <a:t> </a:t>
            </a:r>
            <a:r>
              <a:rPr lang="en-US" spc="-10" dirty="0">
                <a:latin typeface="Palatino Linotype" panose="02040502050505030304" pitchFamily="18" charset="0"/>
              </a:rPr>
              <a:t>Breakers</a:t>
            </a:r>
          </a:p>
        </p:txBody>
      </p:sp>
      <p:pic>
        <p:nvPicPr>
          <p:cNvPr id="3" name="object 3" descr="A diagram of a diagram  AI-generated content may be incorrect.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942975" y="1581150"/>
            <a:ext cx="6457950" cy="4352925"/>
          </a:xfrm>
          <a:prstGeom prst="rect">
            <a:avLst/>
          </a:prstGeom>
        </p:spPr>
      </p:pic>
      <p:sp>
        <p:nvSpPr>
          <p:cNvPr id="4" name="object 4"/>
          <p:cNvSpPr txBox="1"/>
          <p:nvPr/>
        </p:nvSpPr>
        <p:spPr>
          <a:xfrm>
            <a:off x="252729" y="6423977"/>
            <a:ext cx="6971030" cy="266065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1550" dirty="0">
                <a:solidFill>
                  <a:srgbClr val="80350D"/>
                </a:solidFill>
                <a:latin typeface="Palatino Linotype"/>
                <a:cs typeface="Palatino Linotype"/>
              </a:rPr>
              <a:t>[Improving</a:t>
            </a:r>
            <a:r>
              <a:rPr sz="1550" spc="20" dirty="0">
                <a:solidFill>
                  <a:srgbClr val="80350D"/>
                </a:solidFill>
                <a:latin typeface="Palatino Linotype"/>
                <a:cs typeface="Palatino Linotype"/>
              </a:rPr>
              <a:t> </a:t>
            </a:r>
            <a:r>
              <a:rPr sz="1550" dirty="0">
                <a:solidFill>
                  <a:srgbClr val="80350D"/>
                </a:solidFill>
                <a:latin typeface="Palatino Linotype"/>
                <a:cs typeface="Palatino Linotype"/>
              </a:rPr>
              <a:t>Alignment</a:t>
            </a:r>
            <a:r>
              <a:rPr sz="1550" spc="105" dirty="0">
                <a:solidFill>
                  <a:srgbClr val="80350D"/>
                </a:solidFill>
                <a:latin typeface="Palatino Linotype"/>
                <a:cs typeface="Palatino Linotype"/>
              </a:rPr>
              <a:t> </a:t>
            </a:r>
            <a:r>
              <a:rPr sz="1550" dirty="0">
                <a:solidFill>
                  <a:srgbClr val="80350D"/>
                </a:solidFill>
                <a:latin typeface="Palatino Linotype"/>
                <a:cs typeface="Palatino Linotype"/>
              </a:rPr>
              <a:t>and</a:t>
            </a:r>
            <a:r>
              <a:rPr sz="1550" spc="100" dirty="0">
                <a:solidFill>
                  <a:srgbClr val="80350D"/>
                </a:solidFill>
                <a:latin typeface="Palatino Linotype"/>
                <a:cs typeface="Palatino Linotype"/>
              </a:rPr>
              <a:t> </a:t>
            </a:r>
            <a:r>
              <a:rPr sz="1550" dirty="0">
                <a:solidFill>
                  <a:srgbClr val="80350D"/>
                </a:solidFill>
                <a:latin typeface="Palatino Linotype"/>
                <a:cs typeface="Palatino Linotype"/>
              </a:rPr>
              <a:t>Robustness</a:t>
            </a:r>
            <a:r>
              <a:rPr sz="1550" spc="195" dirty="0">
                <a:solidFill>
                  <a:srgbClr val="80350D"/>
                </a:solidFill>
                <a:latin typeface="Palatino Linotype"/>
                <a:cs typeface="Palatino Linotype"/>
              </a:rPr>
              <a:t> </a:t>
            </a:r>
            <a:r>
              <a:rPr sz="1550" dirty="0">
                <a:solidFill>
                  <a:srgbClr val="80350D"/>
                </a:solidFill>
                <a:latin typeface="Palatino Linotype"/>
                <a:cs typeface="Palatino Linotype"/>
              </a:rPr>
              <a:t>with</a:t>
            </a:r>
            <a:r>
              <a:rPr sz="1550" spc="75" dirty="0">
                <a:solidFill>
                  <a:srgbClr val="80350D"/>
                </a:solidFill>
                <a:latin typeface="Palatino Linotype"/>
                <a:cs typeface="Palatino Linotype"/>
              </a:rPr>
              <a:t> </a:t>
            </a:r>
            <a:r>
              <a:rPr sz="1550" dirty="0">
                <a:solidFill>
                  <a:srgbClr val="80350D"/>
                </a:solidFill>
                <a:latin typeface="Palatino Linotype"/>
                <a:cs typeface="Palatino Linotype"/>
              </a:rPr>
              <a:t>Circuit</a:t>
            </a:r>
            <a:r>
              <a:rPr sz="1550" spc="105" dirty="0">
                <a:solidFill>
                  <a:srgbClr val="80350D"/>
                </a:solidFill>
                <a:latin typeface="Palatino Linotype"/>
                <a:cs typeface="Palatino Linotype"/>
              </a:rPr>
              <a:t> </a:t>
            </a:r>
            <a:r>
              <a:rPr sz="1550" dirty="0">
                <a:solidFill>
                  <a:srgbClr val="80350D"/>
                </a:solidFill>
                <a:latin typeface="Palatino Linotype"/>
                <a:cs typeface="Palatino Linotype"/>
              </a:rPr>
              <a:t>Breakers.</a:t>
            </a:r>
            <a:r>
              <a:rPr sz="1550" spc="160" dirty="0">
                <a:solidFill>
                  <a:srgbClr val="80350D"/>
                </a:solidFill>
                <a:latin typeface="Palatino Linotype"/>
                <a:cs typeface="Palatino Linotype"/>
              </a:rPr>
              <a:t> </a:t>
            </a:r>
            <a:r>
              <a:rPr sz="1550" dirty="0">
                <a:solidFill>
                  <a:srgbClr val="80350D"/>
                </a:solidFill>
                <a:latin typeface="Palatino Linotype"/>
                <a:cs typeface="Palatino Linotype"/>
              </a:rPr>
              <a:t>Zou</a:t>
            </a:r>
            <a:r>
              <a:rPr sz="1550" spc="215" dirty="0">
                <a:solidFill>
                  <a:srgbClr val="80350D"/>
                </a:solidFill>
                <a:latin typeface="Palatino Linotype"/>
                <a:cs typeface="Palatino Linotype"/>
              </a:rPr>
              <a:t> </a:t>
            </a:r>
            <a:r>
              <a:rPr sz="1550" dirty="0">
                <a:solidFill>
                  <a:srgbClr val="80350D"/>
                </a:solidFill>
                <a:latin typeface="Palatino Linotype"/>
                <a:cs typeface="Palatino Linotype"/>
              </a:rPr>
              <a:t>et</a:t>
            </a:r>
            <a:r>
              <a:rPr sz="1550" spc="105" dirty="0">
                <a:solidFill>
                  <a:srgbClr val="80350D"/>
                </a:solidFill>
                <a:latin typeface="Palatino Linotype"/>
                <a:cs typeface="Palatino Linotype"/>
              </a:rPr>
              <a:t> </a:t>
            </a:r>
            <a:r>
              <a:rPr sz="1550" dirty="0">
                <a:solidFill>
                  <a:srgbClr val="80350D"/>
                </a:solidFill>
                <a:latin typeface="Palatino Linotype"/>
                <a:cs typeface="Palatino Linotype"/>
              </a:rPr>
              <a:t>al.</a:t>
            </a:r>
            <a:r>
              <a:rPr sz="1550" spc="160" dirty="0">
                <a:solidFill>
                  <a:srgbClr val="80350D"/>
                </a:solidFill>
                <a:latin typeface="Palatino Linotype"/>
                <a:cs typeface="Palatino Linotype"/>
              </a:rPr>
              <a:t> </a:t>
            </a:r>
            <a:r>
              <a:rPr sz="1550" spc="-10" dirty="0">
                <a:solidFill>
                  <a:srgbClr val="80350D"/>
                </a:solidFill>
                <a:latin typeface="Palatino Linotype"/>
                <a:cs typeface="Palatino Linotype"/>
              </a:rPr>
              <a:t>2024]</a:t>
            </a:r>
            <a:endParaRPr sz="1550" dirty="0">
              <a:latin typeface="Palatino Linotype"/>
              <a:cs typeface="Palatino Linotype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7588250" y="1931987"/>
            <a:ext cx="3749675" cy="28422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b="1" dirty="0">
                <a:latin typeface="Palatino Linotype"/>
                <a:cs typeface="Palatino Linotype"/>
              </a:rPr>
              <a:t>Key</a:t>
            </a:r>
            <a:r>
              <a:rPr sz="1800" b="1" spc="-15" dirty="0">
                <a:latin typeface="Palatino Linotype"/>
                <a:cs typeface="Palatino Linotype"/>
              </a:rPr>
              <a:t> </a:t>
            </a:r>
            <a:r>
              <a:rPr sz="1800" b="1" spc="-10" dirty="0">
                <a:latin typeface="Palatino Linotype"/>
                <a:cs typeface="Palatino Linotype"/>
              </a:rPr>
              <a:t>idea:</a:t>
            </a:r>
            <a:endParaRPr sz="1800">
              <a:latin typeface="Palatino Linotype"/>
              <a:cs typeface="Palatino Linotype"/>
            </a:endParaRPr>
          </a:p>
          <a:p>
            <a:pPr marL="298450" marR="5080" indent="-286385">
              <a:lnSpc>
                <a:spcPct val="100800"/>
              </a:lnSpc>
              <a:spcBef>
                <a:spcPts val="2180"/>
              </a:spcBef>
              <a:buChar char="-"/>
              <a:tabLst>
                <a:tab pos="298450" algn="l"/>
              </a:tabLst>
            </a:pPr>
            <a:r>
              <a:rPr sz="1800" dirty="0">
                <a:latin typeface="Palatino Linotype"/>
                <a:cs typeface="Palatino Linotype"/>
              </a:rPr>
              <a:t>Having</a:t>
            </a:r>
            <a:r>
              <a:rPr sz="1800" spc="-45" dirty="0">
                <a:latin typeface="Palatino Linotype"/>
                <a:cs typeface="Palatino Linotype"/>
              </a:rPr>
              <a:t> </a:t>
            </a:r>
            <a:r>
              <a:rPr sz="1800" dirty="0">
                <a:latin typeface="Palatino Linotype"/>
                <a:cs typeface="Palatino Linotype"/>
              </a:rPr>
              <a:t>the</a:t>
            </a:r>
            <a:r>
              <a:rPr sz="1800" spc="-55" dirty="0">
                <a:latin typeface="Palatino Linotype"/>
                <a:cs typeface="Palatino Linotype"/>
              </a:rPr>
              <a:t> </a:t>
            </a:r>
            <a:r>
              <a:rPr sz="1800" dirty="0">
                <a:latin typeface="Palatino Linotype"/>
                <a:cs typeface="Palatino Linotype"/>
              </a:rPr>
              <a:t>model</a:t>
            </a:r>
            <a:r>
              <a:rPr sz="1800" spc="-15" dirty="0">
                <a:latin typeface="Palatino Linotype"/>
                <a:cs typeface="Palatino Linotype"/>
              </a:rPr>
              <a:t> </a:t>
            </a:r>
            <a:r>
              <a:rPr sz="1800" dirty="0">
                <a:latin typeface="Palatino Linotype"/>
                <a:cs typeface="Palatino Linotype"/>
              </a:rPr>
              <a:t>decide</a:t>
            </a:r>
            <a:r>
              <a:rPr sz="1800" spc="10" dirty="0">
                <a:latin typeface="Palatino Linotype"/>
                <a:cs typeface="Palatino Linotype"/>
              </a:rPr>
              <a:t> </a:t>
            </a:r>
            <a:r>
              <a:rPr sz="1800" dirty="0">
                <a:latin typeface="Palatino Linotype"/>
                <a:cs typeface="Palatino Linotype"/>
              </a:rPr>
              <a:t>when</a:t>
            </a:r>
            <a:r>
              <a:rPr sz="1800" spc="-20" dirty="0">
                <a:latin typeface="Palatino Linotype"/>
                <a:cs typeface="Palatino Linotype"/>
              </a:rPr>
              <a:t> </a:t>
            </a:r>
            <a:r>
              <a:rPr sz="1800" spc="-35" dirty="0">
                <a:latin typeface="Palatino Linotype"/>
                <a:cs typeface="Palatino Linotype"/>
              </a:rPr>
              <a:t>to </a:t>
            </a:r>
            <a:r>
              <a:rPr sz="1800" dirty="0">
                <a:latin typeface="Palatino Linotype"/>
                <a:cs typeface="Palatino Linotype"/>
              </a:rPr>
              <a:t>refuse</a:t>
            </a:r>
            <a:r>
              <a:rPr sz="1800" spc="-40" dirty="0">
                <a:latin typeface="Palatino Linotype"/>
                <a:cs typeface="Palatino Linotype"/>
              </a:rPr>
              <a:t> </a:t>
            </a:r>
            <a:r>
              <a:rPr sz="1800" dirty="0">
                <a:latin typeface="Palatino Linotype"/>
                <a:cs typeface="Palatino Linotype"/>
              </a:rPr>
              <a:t>is</a:t>
            </a:r>
            <a:r>
              <a:rPr sz="1800" spc="-15" dirty="0">
                <a:latin typeface="Palatino Linotype"/>
                <a:cs typeface="Palatino Linotype"/>
              </a:rPr>
              <a:t> </a:t>
            </a:r>
            <a:r>
              <a:rPr sz="1800" dirty="0">
                <a:latin typeface="Palatino Linotype"/>
                <a:cs typeface="Palatino Linotype"/>
              </a:rPr>
              <a:t>easy</a:t>
            </a:r>
            <a:r>
              <a:rPr sz="1800" spc="-30" dirty="0">
                <a:latin typeface="Palatino Linotype"/>
                <a:cs typeface="Palatino Linotype"/>
              </a:rPr>
              <a:t> </a:t>
            </a:r>
            <a:r>
              <a:rPr sz="1800" dirty="0">
                <a:latin typeface="Palatino Linotype"/>
                <a:cs typeface="Palatino Linotype"/>
              </a:rPr>
              <a:t>to</a:t>
            </a:r>
            <a:r>
              <a:rPr sz="1800" spc="-10" dirty="0">
                <a:latin typeface="Palatino Linotype"/>
                <a:cs typeface="Palatino Linotype"/>
              </a:rPr>
              <a:t> circumvent</a:t>
            </a:r>
            <a:endParaRPr sz="1800">
              <a:latin typeface="Palatino Linotype"/>
              <a:cs typeface="Palatino Linotype"/>
            </a:endParaRPr>
          </a:p>
          <a:p>
            <a:pPr marL="298450" marR="31750" indent="-286385">
              <a:lnSpc>
                <a:spcPct val="100800"/>
              </a:lnSpc>
              <a:spcBef>
                <a:spcPts val="2105"/>
              </a:spcBef>
              <a:buChar char="-"/>
              <a:tabLst>
                <a:tab pos="298450" algn="l"/>
              </a:tabLst>
            </a:pPr>
            <a:r>
              <a:rPr sz="1800" dirty="0">
                <a:latin typeface="Palatino Linotype"/>
                <a:cs typeface="Palatino Linotype"/>
              </a:rPr>
              <a:t>Rather,</a:t>
            </a:r>
            <a:r>
              <a:rPr sz="1800" spc="-35" dirty="0">
                <a:latin typeface="Palatino Linotype"/>
                <a:cs typeface="Palatino Linotype"/>
              </a:rPr>
              <a:t> </a:t>
            </a:r>
            <a:r>
              <a:rPr sz="1800" b="1" dirty="0">
                <a:solidFill>
                  <a:srgbClr val="80350D"/>
                </a:solidFill>
                <a:latin typeface="Palatino Linotype"/>
                <a:cs typeface="Palatino Linotype"/>
              </a:rPr>
              <a:t>no</a:t>
            </a:r>
            <a:r>
              <a:rPr sz="1800" b="1" spc="-55" dirty="0">
                <a:solidFill>
                  <a:srgbClr val="80350D"/>
                </a:solidFill>
                <a:latin typeface="Palatino Linotype"/>
                <a:cs typeface="Palatino Linotype"/>
              </a:rPr>
              <a:t> </a:t>
            </a:r>
            <a:r>
              <a:rPr sz="1800" b="1" dirty="0">
                <a:solidFill>
                  <a:srgbClr val="80350D"/>
                </a:solidFill>
                <a:latin typeface="Palatino Linotype"/>
                <a:cs typeface="Palatino Linotype"/>
              </a:rPr>
              <a:t>prompt</a:t>
            </a:r>
            <a:r>
              <a:rPr sz="1800" b="1" spc="-15" dirty="0">
                <a:solidFill>
                  <a:srgbClr val="80350D"/>
                </a:solidFill>
                <a:latin typeface="Palatino Linotype"/>
                <a:cs typeface="Palatino Linotype"/>
              </a:rPr>
              <a:t> </a:t>
            </a:r>
            <a:r>
              <a:rPr sz="1800" dirty="0">
                <a:latin typeface="Palatino Linotype"/>
                <a:cs typeface="Palatino Linotype"/>
              </a:rPr>
              <a:t>should</a:t>
            </a:r>
            <a:r>
              <a:rPr sz="1800" spc="-10" dirty="0">
                <a:latin typeface="Palatino Linotype"/>
                <a:cs typeface="Palatino Linotype"/>
              </a:rPr>
              <a:t> </a:t>
            </a:r>
            <a:r>
              <a:rPr sz="1800" dirty="0">
                <a:latin typeface="Palatino Linotype"/>
                <a:cs typeface="Palatino Linotype"/>
              </a:rPr>
              <a:t>be</a:t>
            </a:r>
            <a:r>
              <a:rPr sz="1800" spc="-65" dirty="0">
                <a:latin typeface="Palatino Linotype"/>
                <a:cs typeface="Palatino Linotype"/>
              </a:rPr>
              <a:t> </a:t>
            </a:r>
            <a:r>
              <a:rPr sz="1800" spc="-20" dirty="0">
                <a:latin typeface="Palatino Linotype"/>
                <a:cs typeface="Palatino Linotype"/>
              </a:rPr>
              <a:t>able </a:t>
            </a:r>
            <a:r>
              <a:rPr sz="1800" dirty="0">
                <a:latin typeface="Palatino Linotype"/>
                <a:cs typeface="Palatino Linotype"/>
              </a:rPr>
              <a:t>to</a:t>
            </a:r>
            <a:r>
              <a:rPr sz="1800" spc="-35" dirty="0">
                <a:latin typeface="Palatino Linotype"/>
                <a:cs typeface="Palatino Linotype"/>
              </a:rPr>
              <a:t> </a:t>
            </a:r>
            <a:r>
              <a:rPr sz="1800" dirty="0">
                <a:latin typeface="Palatino Linotype"/>
                <a:cs typeface="Palatino Linotype"/>
              </a:rPr>
              <a:t>access</a:t>
            </a:r>
            <a:r>
              <a:rPr sz="1800" spc="-35" dirty="0">
                <a:latin typeface="Palatino Linotype"/>
                <a:cs typeface="Palatino Linotype"/>
              </a:rPr>
              <a:t> </a:t>
            </a:r>
            <a:r>
              <a:rPr sz="1800" dirty="0">
                <a:latin typeface="Palatino Linotype"/>
                <a:cs typeface="Palatino Linotype"/>
              </a:rPr>
              <a:t>harmful</a:t>
            </a:r>
            <a:r>
              <a:rPr sz="1800" spc="-25" dirty="0">
                <a:latin typeface="Palatino Linotype"/>
                <a:cs typeface="Palatino Linotype"/>
              </a:rPr>
              <a:t> </a:t>
            </a:r>
            <a:r>
              <a:rPr sz="1800" spc="-10" dirty="0">
                <a:latin typeface="Palatino Linotype"/>
                <a:cs typeface="Palatino Linotype"/>
              </a:rPr>
              <a:t>knowledge</a:t>
            </a:r>
            <a:endParaRPr sz="1800">
              <a:latin typeface="Palatino Linotype"/>
              <a:cs typeface="Palatino Linotype"/>
            </a:endParaRPr>
          </a:p>
          <a:p>
            <a:pPr>
              <a:lnSpc>
                <a:spcPct val="100000"/>
              </a:lnSpc>
              <a:spcBef>
                <a:spcPts val="235"/>
              </a:spcBef>
            </a:pPr>
            <a:endParaRPr sz="1800">
              <a:latin typeface="Palatino Linotype"/>
              <a:cs typeface="Palatino Linotype"/>
            </a:endParaRPr>
          </a:p>
          <a:p>
            <a:pPr marL="325120" marR="151765">
              <a:lnSpc>
                <a:spcPct val="100899"/>
              </a:lnSpc>
            </a:pPr>
            <a:r>
              <a:rPr sz="1800" i="1" dirty="0">
                <a:latin typeface="Palatino Linotype"/>
                <a:cs typeface="Palatino Linotype"/>
              </a:rPr>
              <a:t>What</a:t>
            </a:r>
            <a:r>
              <a:rPr sz="1800" i="1" spc="-15" dirty="0">
                <a:latin typeface="Palatino Linotype"/>
                <a:cs typeface="Palatino Linotype"/>
              </a:rPr>
              <a:t> </a:t>
            </a:r>
            <a:r>
              <a:rPr sz="1800" i="1" dirty="0">
                <a:latin typeface="Palatino Linotype"/>
                <a:cs typeface="Palatino Linotype"/>
              </a:rPr>
              <a:t>could</a:t>
            </a:r>
            <a:r>
              <a:rPr sz="1800" i="1" spc="-10" dirty="0">
                <a:latin typeface="Palatino Linotype"/>
                <a:cs typeface="Palatino Linotype"/>
              </a:rPr>
              <a:t> </a:t>
            </a:r>
            <a:r>
              <a:rPr sz="1800" i="1" dirty="0">
                <a:latin typeface="Palatino Linotype"/>
                <a:cs typeface="Palatino Linotype"/>
              </a:rPr>
              <a:t>be</a:t>
            </a:r>
            <a:r>
              <a:rPr sz="1800" i="1" spc="-40" dirty="0">
                <a:latin typeface="Palatino Linotype"/>
                <a:cs typeface="Palatino Linotype"/>
              </a:rPr>
              <a:t> </a:t>
            </a:r>
            <a:r>
              <a:rPr sz="1800" i="1" dirty="0">
                <a:latin typeface="Palatino Linotype"/>
                <a:cs typeface="Palatino Linotype"/>
              </a:rPr>
              <a:t>reasons</a:t>
            </a:r>
            <a:r>
              <a:rPr sz="1800" i="1" spc="-40" dirty="0">
                <a:latin typeface="Palatino Linotype"/>
                <a:cs typeface="Palatino Linotype"/>
              </a:rPr>
              <a:t> </a:t>
            </a:r>
            <a:r>
              <a:rPr sz="1800" i="1" dirty="0">
                <a:latin typeface="Palatino Linotype"/>
                <a:cs typeface="Palatino Linotype"/>
              </a:rPr>
              <a:t>this</a:t>
            </a:r>
            <a:r>
              <a:rPr sz="1800" i="1" spc="-40" dirty="0">
                <a:latin typeface="Palatino Linotype"/>
                <a:cs typeface="Palatino Linotype"/>
              </a:rPr>
              <a:t> </a:t>
            </a:r>
            <a:r>
              <a:rPr sz="1800" i="1" dirty="0">
                <a:latin typeface="Palatino Linotype"/>
                <a:cs typeface="Palatino Linotype"/>
              </a:rPr>
              <a:t>may</a:t>
            </a:r>
            <a:r>
              <a:rPr sz="1800" i="1" spc="-15" dirty="0">
                <a:latin typeface="Palatino Linotype"/>
                <a:cs typeface="Palatino Linotype"/>
              </a:rPr>
              <a:t> </a:t>
            </a:r>
            <a:r>
              <a:rPr sz="1800" i="1" spc="-25" dirty="0">
                <a:latin typeface="Palatino Linotype"/>
                <a:cs typeface="Palatino Linotype"/>
              </a:rPr>
              <a:t>not </a:t>
            </a:r>
            <a:r>
              <a:rPr sz="1800" i="1" dirty="0">
                <a:latin typeface="Palatino Linotype"/>
                <a:cs typeface="Palatino Linotype"/>
              </a:rPr>
              <a:t>work</a:t>
            </a:r>
            <a:r>
              <a:rPr sz="1800" i="1" spc="-5" dirty="0">
                <a:latin typeface="Palatino Linotype"/>
                <a:cs typeface="Palatino Linotype"/>
              </a:rPr>
              <a:t> </a:t>
            </a:r>
            <a:r>
              <a:rPr sz="1800" i="1" dirty="0">
                <a:latin typeface="Palatino Linotype"/>
                <a:cs typeface="Palatino Linotype"/>
              </a:rPr>
              <a:t>too</a:t>
            </a:r>
            <a:r>
              <a:rPr sz="1800" i="1" spc="-55" dirty="0">
                <a:latin typeface="Palatino Linotype"/>
                <a:cs typeface="Palatino Linotype"/>
              </a:rPr>
              <a:t> </a:t>
            </a:r>
            <a:r>
              <a:rPr sz="1800" i="1" spc="-20" dirty="0">
                <a:latin typeface="Palatino Linotype"/>
                <a:cs typeface="Palatino Linotype"/>
              </a:rPr>
              <a:t>well?</a:t>
            </a:r>
            <a:endParaRPr sz="1800">
              <a:latin typeface="Palatino Linotype"/>
              <a:cs typeface="Palatino Linotype"/>
            </a:endParaRP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93C2A5B-C8A5-8CC4-6BFA-B69EA05849C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>
            <a:extLst>
              <a:ext uri="{FF2B5EF4-FFF2-40B4-BE49-F238E27FC236}">
                <a16:creationId xmlns:a16="http://schemas.microsoft.com/office/drawing/2014/main" id="{6A30336B-356F-CA9F-D6BC-8C271F10C3A8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838200" y="681016"/>
            <a:ext cx="10515600" cy="693780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lang="en-US" dirty="0">
                <a:latin typeface="Palatino Linotype" panose="02040502050505030304" pitchFamily="18" charset="0"/>
              </a:rPr>
              <a:t>Circuit</a:t>
            </a:r>
            <a:r>
              <a:rPr lang="en-US" spc="-135" dirty="0">
                <a:latin typeface="Palatino Linotype" panose="02040502050505030304" pitchFamily="18" charset="0"/>
              </a:rPr>
              <a:t> </a:t>
            </a:r>
            <a:r>
              <a:rPr lang="en-US" spc="-10" dirty="0">
                <a:latin typeface="Palatino Linotype" panose="02040502050505030304" pitchFamily="18" charset="0"/>
              </a:rPr>
              <a:t>Breakers</a:t>
            </a:r>
          </a:p>
        </p:txBody>
      </p:sp>
      <p:sp>
        <p:nvSpPr>
          <p:cNvPr id="4" name="object 4">
            <a:extLst>
              <a:ext uri="{FF2B5EF4-FFF2-40B4-BE49-F238E27FC236}">
                <a16:creationId xmlns:a16="http://schemas.microsoft.com/office/drawing/2014/main" id="{80301029-87EC-B44D-8481-9D02EFF0FA12}"/>
              </a:ext>
            </a:extLst>
          </p:cNvPr>
          <p:cNvSpPr txBox="1"/>
          <p:nvPr/>
        </p:nvSpPr>
        <p:spPr>
          <a:xfrm>
            <a:off x="252729" y="6423977"/>
            <a:ext cx="6971030" cy="266065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1550" dirty="0">
                <a:solidFill>
                  <a:srgbClr val="80350D"/>
                </a:solidFill>
                <a:latin typeface="Palatino Linotype"/>
                <a:cs typeface="Palatino Linotype"/>
              </a:rPr>
              <a:t>[Improving</a:t>
            </a:r>
            <a:r>
              <a:rPr sz="1550" spc="20" dirty="0">
                <a:solidFill>
                  <a:srgbClr val="80350D"/>
                </a:solidFill>
                <a:latin typeface="Palatino Linotype"/>
                <a:cs typeface="Palatino Linotype"/>
              </a:rPr>
              <a:t> </a:t>
            </a:r>
            <a:r>
              <a:rPr sz="1550" dirty="0">
                <a:solidFill>
                  <a:srgbClr val="80350D"/>
                </a:solidFill>
                <a:latin typeface="Palatino Linotype"/>
                <a:cs typeface="Palatino Linotype"/>
              </a:rPr>
              <a:t>Alignment</a:t>
            </a:r>
            <a:r>
              <a:rPr sz="1550" spc="105" dirty="0">
                <a:solidFill>
                  <a:srgbClr val="80350D"/>
                </a:solidFill>
                <a:latin typeface="Palatino Linotype"/>
                <a:cs typeface="Palatino Linotype"/>
              </a:rPr>
              <a:t> </a:t>
            </a:r>
            <a:r>
              <a:rPr sz="1550" dirty="0">
                <a:solidFill>
                  <a:srgbClr val="80350D"/>
                </a:solidFill>
                <a:latin typeface="Palatino Linotype"/>
                <a:cs typeface="Palatino Linotype"/>
              </a:rPr>
              <a:t>and</a:t>
            </a:r>
            <a:r>
              <a:rPr sz="1550" spc="100" dirty="0">
                <a:solidFill>
                  <a:srgbClr val="80350D"/>
                </a:solidFill>
                <a:latin typeface="Palatino Linotype"/>
                <a:cs typeface="Palatino Linotype"/>
              </a:rPr>
              <a:t> </a:t>
            </a:r>
            <a:r>
              <a:rPr sz="1550" dirty="0">
                <a:solidFill>
                  <a:srgbClr val="80350D"/>
                </a:solidFill>
                <a:latin typeface="Palatino Linotype"/>
                <a:cs typeface="Palatino Linotype"/>
              </a:rPr>
              <a:t>Robustness</a:t>
            </a:r>
            <a:r>
              <a:rPr sz="1550" spc="195" dirty="0">
                <a:solidFill>
                  <a:srgbClr val="80350D"/>
                </a:solidFill>
                <a:latin typeface="Palatino Linotype"/>
                <a:cs typeface="Palatino Linotype"/>
              </a:rPr>
              <a:t> </a:t>
            </a:r>
            <a:r>
              <a:rPr sz="1550" dirty="0">
                <a:solidFill>
                  <a:srgbClr val="80350D"/>
                </a:solidFill>
                <a:latin typeface="Palatino Linotype"/>
                <a:cs typeface="Palatino Linotype"/>
              </a:rPr>
              <a:t>with</a:t>
            </a:r>
            <a:r>
              <a:rPr sz="1550" spc="75" dirty="0">
                <a:solidFill>
                  <a:srgbClr val="80350D"/>
                </a:solidFill>
                <a:latin typeface="Palatino Linotype"/>
                <a:cs typeface="Palatino Linotype"/>
              </a:rPr>
              <a:t> </a:t>
            </a:r>
            <a:r>
              <a:rPr sz="1550" dirty="0">
                <a:solidFill>
                  <a:srgbClr val="80350D"/>
                </a:solidFill>
                <a:latin typeface="Palatino Linotype"/>
                <a:cs typeface="Palatino Linotype"/>
              </a:rPr>
              <a:t>Circuit</a:t>
            </a:r>
            <a:r>
              <a:rPr sz="1550" spc="105" dirty="0">
                <a:solidFill>
                  <a:srgbClr val="80350D"/>
                </a:solidFill>
                <a:latin typeface="Palatino Linotype"/>
                <a:cs typeface="Palatino Linotype"/>
              </a:rPr>
              <a:t> </a:t>
            </a:r>
            <a:r>
              <a:rPr sz="1550" dirty="0">
                <a:solidFill>
                  <a:srgbClr val="80350D"/>
                </a:solidFill>
                <a:latin typeface="Palatino Linotype"/>
                <a:cs typeface="Palatino Linotype"/>
              </a:rPr>
              <a:t>Breakers.</a:t>
            </a:r>
            <a:r>
              <a:rPr sz="1550" spc="160" dirty="0">
                <a:solidFill>
                  <a:srgbClr val="80350D"/>
                </a:solidFill>
                <a:latin typeface="Palatino Linotype"/>
                <a:cs typeface="Palatino Linotype"/>
              </a:rPr>
              <a:t> </a:t>
            </a:r>
            <a:r>
              <a:rPr sz="1550" dirty="0">
                <a:solidFill>
                  <a:srgbClr val="80350D"/>
                </a:solidFill>
                <a:latin typeface="Palatino Linotype"/>
                <a:cs typeface="Palatino Linotype"/>
              </a:rPr>
              <a:t>Zou</a:t>
            </a:r>
            <a:r>
              <a:rPr sz="1550" spc="215" dirty="0">
                <a:solidFill>
                  <a:srgbClr val="80350D"/>
                </a:solidFill>
                <a:latin typeface="Palatino Linotype"/>
                <a:cs typeface="Palatino Linotype"/>
              </a:rPr>
              <a:t> </a:t>
            </a:r>
            <a:r>
              <a:rPr sz="1550" dirty="0">
                <a:solidFill>
                  <a:srgbClr val="80350D"/>
                </a:solidFill>
                <a:latin typeface="Palatino Linotype"/>
                <a:cs typeface="Palatino Linotype"/>
              </a:rPr>
              <a:t>et</a:t>
            </a:r>
            <a:r>
              <a:rPr sz="1550" spc="105" dirty="0">
                <a:solidFill>
                  <a:srgbClr val="80350D"/>
                </a:solidFill>
                <a:latin typeface="Palatino Linotype"/>
                <a:cs typeface="Palatino Linotype"/>
              </a:rPr>
              <a:t> </a:t>
            </a:r>
            <a:r>
              <a:rPr sz="1550" dirty="0">
                <a:solidFill>
                  <a:srgbClr val="80350D"/>
                </a:solidFill>
                <a:latin typeface="Palatino Linotype"/>
                <a:cs typeface="Palatino Linotype"/>
              </a:rPr>
              <a:t>al.</a:t>
            </a:r>
            <a:r>
              <a:rPr sz="1550" spc="160" dirty="0">
                <a:solidFill>
                  <a:srgbClr val="80350D"/>
                </a:solidFill>
                <a:latin typeface="Palatino Linotype"/>
                <a:cs typeface="Palatino Linotype"/>
              </a:rPr>
              <a:t> </a:t>
            </a:r>
            <a:r>
              <a:rPr sz="1550" spc="-10" dirty="0">
                <a:solidFill>
                  <a:srgbClr val="80350D"/>
                </a:solidFill>
                <a:latin typeface="Palatino Linotype"/>
                <a:cs typeface="Palatino Linotype"/>
              </a:rPr>
              <a:t>2024]</a:t>
            </a:r>
            <a:endParaRPr sz="1550" dirty="0">
              <a:latin typeface="Palatino Linotype"/>
              <a:cs typeface="Palatino Linotype"/>
            </a:endParaRPr>
          </a:p>
        </p:txBody>
      </p:sp>
      <p:sp>
        <p:nvSpPr>
          <p:cNvPr id="7" name="object 5">
            <a:extLst>
              <a:ext uri="{FF2B5EF4-FFF2-40B4-BE49-F238E27FC236}">
                <a16:creationId xmlns:a16="http://schemas.microsoft.com/office/drawing/2014/main" id="{D020EC0E-C3CF-738E-260A-193F67AC030B}"/>
              </a:ext>
            </a:extLst>
          </p:cNvPr>
          <p:cNvSpPr txBox="1"/>
          <p:nvPr/>
        </p:nvSpPr>
        <p:spPr>
          <a:xfrm>
            <a:off x="838201" y="1707691"/>
            <a:ext cx="5257800" cy="3275961"/>
          </a:xfrm>
          <a:prstGeom prst="rect">
            <a:avLst/>
          </a:prstGeom>
        </p:spPr>
        <p:txBody>
          <a:bodyPr vert="horz" wrap="square" lIns="0" tIns="10795" rIns="0" bIns="0" rtlCol="0">
            <a:spAutoFit/>
          </a:bodyPr>
          <a:lstStyle/>
          <a:p>
            <a:pPr marL="12065" marR="5080">
              <a:lnSpc>
                <a:spcPct val="100800"/>
              </a:lnSpc>
              <a:spcBef>
                <a:spcPts val="85"/>
              </a:spcBef>
              <a:tabLst>
                <a:tab pos="298450" algn="l"/>
              </a:tabLst>
            </a:pPr>
            <a:endParaRPr lang="en-US" spc="-10" dirty="0">
              <a:latin typeface="Palatino Linotype"/>
              <a:cs typeface="Palatino Linotype"/>
            </a:endParaRPr>
          </a:p>
          <a:p>
            <a:pPr marL="298450" marR="5080" indent="-286385">
              <a:lnSpc>
                <a:spcPct val="100800"/>
              </a:lnSpc>
              <a:spcBef>
                <a:spcPts val="85"/>
              </a:spcBef>
              <a:buFont typeface="Wingdings" panose="05000000000000000000" pitchFamily="2" charset="2"/>
              <a:buChar char="§"/>
              <a:tabLst>
                <a:tab pos="298450" algn="l"/>
              </a:tabLst>
            </a:pPr>
            <a:r>
              <a:rPr lang="en-US" b="1" spc="-10" dirty="0">
                <a:latin typeface="Palatino Linotype"/>
                <a:cs typeface="Palatino Linotype"/>
              </a:rPr>
              <a:t>Refusal Training  </a:t>
            </a:r>
            <a:r>
              <a:rPr lang="en-US" spc="-10" dirty="0">
                <a:latin typeface="Palatino Linotype"/>
                <a:cs typeface="Palatino Linotype"/>
              </a:rPr>
              <a:t>vs.  </a:t>
            </a:r>
            <a:r>
              <a:rPr lang="en-US" b="1" spc="-10" dirty="0">
                <a:latin typeface="Palatino Linotype"/>
                <a:cs typeface="Palatino Linotype"/>
              </a:rPr>
              <a:t>Circuit Breaking</a:t>
            </a:r>
          </a:p>
          <a:p>
            <a:pPr marL="12065" marR="5080">
              <a:lnSpc>
                <a:spcPct val="100800"/>
              </a:lnSpc>
              <a:spcBef>
                <a:spcPts val="85"/>
              </a:spcBef>
              <a:tabLst>
                <a:tab pos="298450" algn="l"/>
              </a:tabLst>
            </a:pPr>
            <a:endParaRPr lang="en-US" sz="1800" spc="-10" dirty="0">
              <a:latin typeface="Palatino Linotype"/>
              <a:cs typeface="Palatino Linotype"/>
            </a:endParaRPr>
          </a:p>
          <a:p>
            <a:pPr marL="298450" marR="5080" indent="-286385">
              <a:lnSpc>
                <a:spcPct val="150000"/>
              </a:lnSpc>
              <a:spcBef>
                <a:spcPts val="85"/>
              </a:spcBef>
              <a:buFont typeface="Arial"/>
              <a:buChar char="•"/>
              <a:tabLst>
                <a:tab pos="298450" algn="l"/>
              </a:tabLst>
            </a:pPr>
            <a:r>
              <a:rPr lang="en-US" b="1" dirty="0">
                <a:latin typeface="Palatino Linotype"/>
                <a:cs typeface="Palatino Linotype"/>
              </a:rPr>
              <a:t>Refusal training</a:t>
            </a:r>
            <a:r>
              <a:rPr lang="en-US" dirty="0">
                <a:latin typeface="Palatino Linotype"/>
                <a:cs typeface="Palatino Linotype"/>
              </a:rPr>
              <a:t>:</a:t>
            </a:r>
            <a:br>
              <a:rPr lang="en-US" dirty="0">
                <a:latin typeface="Palatino Linotype"/>
                <a:cs typeface="Palatino Linotype"/>
              </a:rPr>
            </a:br>
            <a:r>
              <a:rPr lang="en-US" dirty="0">
                <a:latin typeface="Palatino Linotype"/>
                <a:cs typeface="Palatino Linotype"/>
              </a:rPr>
              <a:t>learns to say “</a:t>
            </a:r>
            <a:r>
              <a:rPr lang="en-US" b="1" dirty="0">
                <a:solidFill>
                  <a:srgbClr val="F8CF51"/>
                </a:solidFill>
                <a:latin typeface="Palatino Linotype"/>
                <a:cs typeface="Palatino Linotype"/>
              </a:rPr>
              <a:t>no</a:t>
            </a:r>
            <a:r>
              <a:rPr lang="en-US" dirty="0">
                <a:latin typeface="Palatino Linotype"/>
                <a:cs typeface="Palatino Linotype"/>
              </a:rPr>
              <a:t>”</a:t>
            </a:r>
          </a:p>
          <a:p>
            <a:pPr marL="298450" marR="5080" indent="-286385">
              <a:lnSpc>
                <a:spcPct val="150000"/>
              </a:lnSpc>
              <a:spcBef>
                <a:spcPts val="85"/>
              </a:spcBef>
              <a:buFont typeface="Arial"/>
              <a:buChar char="•"/>
              <a:tabLst>
                <a:tab pos="298450" algn="l"/>
              </a:tabLst>
            </a:pPr>
            <a:endParaRPr lang="en-US" dirty="0">
              <a:latin typeface="Palatino Linotype"/>
              <a:cs typeface="Palatino Linotype"/>
            </a:endParaRPr>
          </a:p>
          <a:p>
            <a:pPr marL="298450" marR="5080" indent="-286385">
              <a:lnSpc>
                <a:spcPct val="150000"/>
              </a:lnSpc>
              <a:spcBef>
                <a:spcPts val="85"/>
              </a:spcBef>
              <a:buFont typeface="Arial"/>
              <a:buChar char="•"/>
              <a:tabLst>
                <a:tab pos="298450" algn="l"/>
              </a:tabLst>
            </a:pPr>
            <a:r>
              <a:rPr lang="en-US" b="1" dirty="0">
                <a:latin typeface="Palatino Linotype"/>
                <a:cs typeface="Palatino Linotype"/>
              </a:rPr>
              <a:t>Circuit breaking</a:t>
            </a:r>
            <a:r>
              <a:rPr lang="en-US" dirty="0">
                <a:latin typeface="Palatino Linotype"/>
                <a:cs typeface="Palatino Linotype"/>
              </a:rPr>
              <a:t>:</a:t>
            </a:r>
            <a:br>
              <a:rPr lang="en-US" dirty="0">
                <a:latin typeface="Palatino Linotype"/>
                <a:cs typeface="Palatino Linotype"/>
              </a:rPr>
            </a:br>
            <a:r>
              <a:rPr lang="en-US" dirty="0">
                <a:latin typeface="Palatino Linotype"/>
                <a:cs typeface="Palatino Linotype"/>
              </a:rPr>
              <a:t>disrupts </a:t>
            </a:r>
            <a:r>
              <a:rPr lang="en-US" dirty="0">
                <a:solidFill>
                  <a:srgbClr val="FF0000"/>
                </a:solidFill>
                <a:latin typeface="Palatino Linotype"/>
                <a:cs typeface="Palatino Linotype"/>
              </a:rPr>
              <a:t>harmful internal states</a:t>
            </a:r>
          </a:p>
          <a:p>
            <a:pPr marL="12065" marR="5080">
              <a:lnSpc>
                <a:spcPct val="100800"/>
              </a:lnSpc>
              <a:spcBef>
                <a:spcPts val="85"/>
              </a:spcBef>
              <a:tabLst>
                <a:tab pos="298450" algn="l"/>
              </a:tabLst>
            </a:pPr>
            <a:r>
              <a:rPr lang="en-US" dirty="0">
                <a:latin typeface="Palatino Linotype"/>
                <a:cs typeface="Palatino Linotype"/>
              </a:rPr>
              <a:t>	</a:t>
            </a:r>
            <a:endParaRPr lang="en-US" sz="1800" dirty="0">
              <a:latin typeface="Palatino Linotype"/>
              <a:cs typeface="Palatino Linotype"/>
            </a:endParaRPr>
          </a:p>
        </p:txBody>
      </p:sp>
      <p:pic>
        <p:nvPicPr>
          <p:cNvPr id="9" name="그림 8">
            <a:extLst>
              <a:ext uri="{FF2B5EF4-FFF2-40B4-BE49-F238E27FC236}">
                <a16:creationId xmlns:a16="http://schemas.microsoft.com/office/drawing/2014/main" id="{CF8288E8-FF00-7D26-B41A-D2C08A83C6D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96000" y="1555907"/>
            <a:ext cx="5461031" cy="374618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10868112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7ABB6EF-22F6-5692-048D-35AC1E33A93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>
            <a:extLst>
              <a:ext uri="{FF2B5EF4-FFF2-40B4-BE49-F238E27FC236}">
                <a16:creationId xmlns:a16="http://schemas.microsoft.com/office/drawing/2014/main" id="{8B4D507B-EE46-856A-FCA2-3AA5EA999E5C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838200" y="681016"/>
            <a:ext cx="10515600" cy="693780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lang="en-US" dirty="0">
                <a:latin typeface="Palatino Linotype" panose="02040502050505030304" pitchFamily="18" charset="0"/>
              </a:rPr>
              <a:t>Circuit</a:t>
            </a:r>
            <a:r>
              <a:rPr lang="en-US" spc="-135" dirty="0">
                <a:latin typeface="Palatino Linotype" panose="02040502050505030304" pitchFamily="18" charset="0"/>
              </a:rPr>
              <a:t> </a:t>
            </a:r>
            <a:r>
              <a:rPr lang="en-US" spc="-10" dirty="0">
                <a:latin typeface="Palatino Linotype" panose="02040502050505030304" pitchFamily="18" charset="0"/>
              </a:rPr>
              <a:t>Breakers</a:t>
            </a:r>
          </a:p>
        </p:txBody>
      </p:sp>
      <p:sp>
        <p:nvSpPr>
          <p:cNvPr id="4" name="object 4">
            <a:extLst>
              <a:ext uri="{FF2B5EF4-FFF2-40B4-BE49-F238E27FC236}">
                <a16:creationId xmlns:a16="http://schemas.microsoft.com/office/drawing/2014/main" id="{690F058E-43C2-F585-F371-44AA89EEE9BA}"/>
              </a:ext>
            </a:extLst>
          </p:cNvPr>
          <p:cNvSpPr txBox="1"/>
          <p:nvPr/>
        </p:nvSpPr>
        <p:spPr>
          <a:xfrm>
            <a:off x="252729" y="6423977"/>
            <a:ext cx="6971030" cy="266065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1550" dirty="0">
                <a:solidFill>
                  <a:srgbClr val="80350D"/>
                </a:solidFill>
                <a:latin typeface="Palatino Linotype"/>
                <a:cs typeface="Palatino Linotype"/>
              </a:rPr>
              <a:t>[Improving</a:t>
            </a:r>
            <a:r>
              <a:rPr sz="1550" spc="20" dirty="0">
                <a:solidFill>
                  <a:srgbClr val="80350D"/>
                </a:solidFill>
                <a:latin typeface="Palatino Linotype"/>
                <a:cs typeface="Palatino Linotype"/>
              </a:rPr>
              <a:t> </a:t>
            </a:r>
            <a:r>
              <a:rPr sz="1550" dirty="0">
                <a:solidFill>
                  <a:srgbClr val="80350D"/>
                </a:solidFill>
                <a:latin typeface="Palatino Linotype"/>
                <a:cs typeface="Palatino Linotype"/>
              </a:rPr>
              <a:t>Alignment</a:t>
            </a:r>
            <a:r>
              <a:rPr sz="1550" spc="105" dirty="0">
                <a:solidFill>
                  <a:srgbClr val="80350D"/>
                </a:solidFill>
                <a:latin typeface="Palatino Linotype"/>
                <a:cs typeface="Palatino Linotype"/>
              </a:rPr>
              <a:t> </a:t>
            </a:r>
            <a:r>
              <a:rPr sz="1550" dirty="0">
                <a:solidFill>
                  <a:srgbClr val="80350D"/>
                </a:solidFill>
                <a:latin typeface="Palatino Linotype"/>
                <a:cs typeface="Palatino Linotype"/>
              </a:rPr>
              <a:t>and</a:t>
            </a:r>
            <a:r>
              <a:rPr sz="1550" spc="100" dirty="0">
                <a:solidFill>
                  <a:srgbClr val="80350D"/>
                </a:solidFill>
                <a:latin typeface="Palatino Linotype"/>
                <a:cs typeface="Palatino Linotype"/>
              </a:rPr>
              <a:t> </a:t>
            </a:r>
            <a:r>
              <a:rPr sz="1550" dirty="0">
                <a:solidFill>
                  <a:srgbClr val="80350D"/>
                </a:solidFill>
                <a:latin typeface="Palatino Linotype"/>
                <a:cs typeface="Palatino Linotype"/>
              </a:rPr>
              <a:t>Robustness</a:t>
            </a:r>
            <a:r>
              <a:rPr sz="1550" spc="195" dirty="0">
                <a:solidFill>
                  <a:srgbClr val="80350D"/>
                </a:solidFill>
                <a:latin typeface="Palatino Linotype"/>
                <a:cs typeface="Palatino Linotype"/>
              </a:rPr>
              <a:t> </a:t>
            </a:r>
            <a:r>
              <a:rPr sz="1550" dirty="0">
                <a:solidFill>
                  <a:srgbClr val="80350D"/>
                </a:solidFill>
                <a:latin typeface="Palatino Linotype"/>
                <a:cs typeface="Palatino Linotype"/>
              </a:rPr>
              <a:t>with</a:t>
            </a:r>
            <a:r>
              <a:rPr sz="1550" spc="75" dirty="0">
                <a:solidFill>
                  <a:srgbClr val="80350D"/>
                </a:solidFill>
                <a:latin typeface="Palatino Linotype"/>
                <a:cs typeface="Palatino Linotype"/>
              </a:rPr>
              <a:t> </a:t>
            </a:r>
            <a:r>
              <a:rPr sz="1550" dirty="0">
                <a:solidFill>
                  <a:srgbClr val="80350D"/>
                </a:solidFill>
                <a:latin typeface="Palatino Linotype"/>
                <a:cs typeface="Palatino Linotype"/>
              </a:rPr>
              <a:t>Circuit</a:t>
            </a:r>
            <a:r>
              <a:rPr sz="1550" spc="105" dirty="0">
                <a:solidFill>
                  <a:srgbClr val="80350D"/>
                </a:solidFill>
                <a:latin typeface="Palatino Linotype"/>
                <a:cs typeface="Palatino Linotype"/>
              </a:rPr>
              <a:t> </a:t>
            </a:r>
            <a:r>
              <a:rPr sz="1550" dirty="0">
                <a:solidFill>
                  <a:srgbClr val="80350D"/>
                </a:solidFill>
                <a:latin typeface="Palatino Linotype"/>
                <a:cs typeface="Palatino Linotype"/>
              </a:rPr>
              <a:t>Breakers.</a:t>
            </a:r>
            <a:r>
              <a:rPr sz="1550" spc="160" dirty="0">
                <a:solidFill>
                  <a:srgbClr val="80350D"/>
                </a:solidFill>
                <a:latin typeface="Palatino Linotype"/>
                <a:cs typeface="Palatino Linotype"/>
              </a:rPr>
              <a:t> </a:t>
            </a:r>
            <a:r>
              <a:rPr sz="1550" dirty="0">
                <a:solidFill>
                  <a:srgbClr val="80350D"/>
                </a:solidFill>
                <a:latin typeface="Palatino Linotype"/>
                <a:cs typeface="Palatino Linotype"/>
              </a:rPr>
              <a:t>Zou</a:t>
            </a:r>
            <a:r>
              <a:rPr sz="1550" spc="215" dirty="0">
                <a:solidFill>
                  <a:srgbClr val="80350D"/>
                </a:solidFill>
                <a:latin typeface="Palatino Linotype"/>
                <a:cs typeface="Palatino Linotype"/>
              </a:rPr>
              <a:t> </a:t>
            </a:r>
            <a:r>
              <a:rPr sz="1550" dirty="0">
                <a:solidFill>
                  <a:srgbClr val="80350D"/>
                </a:solidFill>
                <a:latin typeface="Palatino Linotype"/>
                <a:cs typeface="Palatino Linotype"/>
              </a:rPr>
              <a:t>et</a:t>
            </a:r>
            <a:r>
              <a:rPr sz="1550" spc="105" dirty="0">
                <a:solidFill>
                  <a:srgbClr val="80350D"/>
                </a:solidFill>
                <a:latin typeface="Palatino Linotype"/>
                <a:cs typeface="Palatino Linotype"/>
              </a:rPr>
              <a:t> </a:t>
            </a:r>
            <a:r>
              <a:rPr sz="1550" dirty="0">
                <a:solidFill>
                  <a:srgbClr val="80350D"/>
                </a:solidFill>
                <a:latin typeface="Palatino Linotype"/>
                <a:cs typeface="Palatino Linotype"/>
              </a:rPr>
              <a:t>al.</a:t>
            </a:r>
            <a:r>
              <a:rPr sz="1550" spc="160" dirty="0">
                <a:solidFill>
                  <a:srgbClr val="80350D"/>
                </a:solidFill>
                <a:latin typeface="Palatino Linotype"/>
                <a:cs typeface="Palatino Linotype"/>
              </a:rPr>
              <a:t> </a:t>
            </a:r>
            <a:r>
              <a:rPr sz="1550" spc="-10" dirty="0">
                <a:solidFill>
                  <a:srgbClr val="80350D"/>
                </a:solidFill>
                <a:latin typeface="Palatino Linotype"/>
                <a:cs typeface="Palatino Linotype"/>
              </a:rPr>
              <a:t>2024]</a:t>
            </a:r>
            <a:endParaRPr sz="1550" dirty="0">
              <a:latin typeface="Palatino Linotype"/>
              <a:cs typeface="Palatino Linotype"/>
            </a:endParaRPr>
          </a:p>
        </p:txBody>
      </p:sp>
      <p:sp>
        <p:nvSpPr>
          <p:cNvPr id="7" name="object 5">
            <a:extLst>
              <a:ext uri="{FF2B5EF4-FFF2-40B4-BE49-F238E27FC236}">
                <a16:creationId xmlns:a16="http://schemas.microsoft.com/office/drawing/2014/main" id="{969AED64-1A49-CFC8-E583-2041E5C0EE91}"/>
              </a:ext>
            </a:extLst>
          </p:cNvPr>
          <p:cNvSpPr txBox="1"/>
          <p:nvPr/>
        </p:nvSpPr>
        <p:spPr>
          <a:xfrm>
            <a:off x="838201" y="1707691"/>
            <a:ext cx="5257800" cy="2949397"/>
          </a:xfrm>
          <a:prstGeom prst="rect">
            <a:avLst/>
          </a:prstGeom>
        </p:spPr>
        <p:txBody>
          <a:bodyPr vert="horz" wrap="square" lIns="0" tIns="10795" rIns="0" bIns="0" rtlCol="0">
            <a:spAutoFit/>
          </a:bodyPr>
          <a:lstStyle/>
          <a:p>
            <a:pPr marL="12065" marR="5080">
              <a:lnSpc>
                <a:spcPct val="100800"/>
              </a:lnSpc>
              <a:spcBef>
                <a:spcPts val="85"/>
              </a:spcBef>
              <a:tabLst>
                <a:tab pos="298450" algn="l"/>
              </a:tabLst>
            </a:pPr>
            <a:endParaRPr lang="en-US" spc="-10" dirty="0">
              <a:latin typeface="Palatino Linotype"/>
              <a:cs typeface="Palatino Linotype"/>
            </a:endParaRPr>
          </a:p>
          <a:p>
            <a:pPr marL="298450" marR="5080" indent="-286385">
              <a:lnSpc>
                <a:spcPct val="100800"/>
              </a:lnSpc>
              <a:spcBef>
                <a:spcPts val="85"/>
              </a:spcBef>
              <a:buFont typeface="Wingdings" panose="05000000000000000000" pitchFamily="2" charset="2"/>
              <a:buChar char="§"/>
              <a:tabLst>
                <a:tab pos="298450" algn="l"/>
              </a:tabLst>
            </a:pPr>
            <a:r>
              <a:rPr lang="en-US" b="1" spc="-10" dirty="0">
                <a:latin typeface="Palatino Linotype"/>
                <a:cs typeface="Palatino Linotype"/>
              </a:rPr>
              <a:t>Representation Rerouting (RR)</a:t>
            </a:r>
          </a:p>
          <a:p>
            <a:pPr marL="12065" marR="5080">
              <a:lnSpc>
                <a:spcPct val="100800"/>
              </a:lnSpc>
              <a:spcBef>
                <a:spcPts val="85"/>
              </a:spcBef>
              <a:tabLst>
                <a:tab pos="298450" algn="l"/>
              </a:tabLst>
            </a:pPr>
            <a:endParaRPr lang="en-US" sz="1800" spc="-10" dirty="0">
              <a:latin typeface="Palatino Linotype"/>
              <a:cs typeface="Palatino Linotype"/>
            </a:endParaRPr>
          </a:p>
          <a:p>
            <a:pPr marL="298450" marR="5080" indent="-286385">
              <a:lnSpc>
                <a:spcPct val="150000"/>
              </a:lnSpc>
              <a:spcBef>
                <a:spcPts val="85"/>
              </a:spcBef>
              <a:buFont typeface="Arial"/>
              <a:buChar char="•"/>
              <a:tabLst>
                <a:tab pos="298450" algn="l"/>
              </a:tabLst>
            </a:pPr>
            <a:r>
              <a:rPr lang="en-US" altLang="ko-KR" b="1" dirty="0">
                <a:latin typeface="Palatino Linotype"/>
                <a:cs typeface="Palatino Linotype"/>
              </a:rPr>
              <a:t>Harmful inputs</a:t>
            </a:r>
            <a:r>
              <a:rPr lang="en-US" altLang="ko-KR" dirty="0">
                <a:latin typeface="Palatino Linotype"/>
                <a:cs typeface="Palatino Linotype"/>
              </a:rPr>
              <a:t>:</a:t>
            </a:r>
            <a:br>
              <a:rPr lang="en-US" altLang="ko-KR" dirty="0">
                <a:latin typeface="Palatino Linotype"/>
                <a:cs typeface="Palatino Linotype"/>
              </a:rPr>
            </a:br>
            <a:r>
              <a:rPr lang="en-US" altLang="ko-KR" b="1" dirty="0">
                <a:latin typeface="Palatino Linotype"/>
                <a:cs typeface="Palatino Linotype"/>
              </a:rPr>
              <a:t>reroute</a:t>
            </a:r>
            <a:r>
              <a:rPr lang="en-US" altLang="ko-KR" dirty="0">
                <a:latin typeface="Palatino Linotype"/>
                <a:cs typeface="Palatino Linotype"/>
              </a:rPr>
              <a:t> </a:t>
            </a:r>
            <a:r>
              <a:rPr lang="en-US" altLang="ko-KR" dirty="0">
                <a:solidFill>
                  <a:srgbClr val="FF0000"/>
                </a:solidFill>
                <a:latin typeface="Palatino Linotype"/>
                <a:cs typeface="Palatino Linotype"/>
              </a:rPr>
              <a:t>harmful representations</a:t>
            </a:r>
          </a:p>
          <a:p>
            <a:pPr marL="298450" marR="5080" indent="-286385">
              <a:lnSpc>
                <a:spcPct val="150000"/>
              </a:lnSpc>
              <a:spcBef>
                <a:spcPts val="85"/>
              </a:spcBef>
              <a:buFont typeface="Arial"/>
              <a:buChar char="•"/>
              <a:tabLst>
                <a:tab pos="298450" algn="l"/>
              </a:tabLst>
            </a:pPr>
            <a:endParaRPr lang="en-US" altLang="ko-KR" dirty="0">
              <a:latin typeface="Palatino Linotype"/>
              <a:cs typeface="Palatino Linotype"/>
            </a:endParaRPr>
          </a:p>
          <a:p>
            <a:pPr marL="298450" marR="5080" indent="-286385">
              <a:lnSpc>
                <a:spcPct val="150000"/>
              </a:lnSpc>
              <a:spcBef>
                <a:spcPts val="85"/>
              </a:spcBef>
              <a:buFont typeface="Arial"/>
              <a:buChar char="•"/>
              <a:tabLst>
                <a:tab pos="298450" algn="l"/>
              </a:tabLst>
            </a:pPr>
            <a:r>
              <a:rPr lang="en-US" altLang="ko-KR" b="1" dirty="0">
                <a:latin typeface="Palatino Linotype"/>
                <a:cs typeface="Palatino Linotype"/>
              </a:rPr>
              <a:t>Benign inputs</a:t>
            </a:r>
            <a:r>
              <a:rPr lang="en-US" altLang="ko-KR" dirty="0">
                <a:latin typeface="Palatino Linotype"/>
                <a:cs typeface="Palatino Linotype"/>
              </a:rPr>
              <a:t>:</a:t>
            </a:r>
            <a:br>
              <a:rPr lang="en-US" altLang="ko-KR" dirty="0">
                <a:latin typeface="Palatino Linotype"/>
                <a:cs typeface="Palatino Linotype"/>
              </a:rPr>
            </a:br>
            <a:r>
              <a:rPr lang="en-US" altLang="ko-KR" b="1" dirty="0">
                <a:latin typeface="Palatino Linotype"/>
                <a:cs typeface="Palatino Linotype"/>
              </a:rPr>
              <a:t>preserve</a:t>
            </a:r>
            <a:r>
              <a:rPr lang="en-US" altLang="ko-KR" dirty="0">
                <a:latin typeface="Palatino Linotype"/>
                <a:cs typeface="Palatino Linotype"/>
              </a:rPr>
              <a:t> </a:t>
            </a:r>
            <a:r>
              <a:rPr lang="en-US" altLang="ko-KR" dirty="0">
                <a:solidFill>
                  <a:srgbClr val="00B050"/>
                </a:solidFill>
                <a:latin typeface="Palatino Linotype"/>
                <a:cs typeface="Palatino Linotype"/>
              </a:rPr>
              <a:t>normal representations</a:t>
            </a:r>
            <a:r>
              <a:rPr lang="en-US" dirty="0">
                <a:latin typeface="Palatino Linotype"/>
                <a:cs typeface="Palatino Linotype"/>
              </a:rPr>
              <a:t>	</a:t>
            </a:r>
            <a:endParaRPr lang="en-US" sz="1800" dirty="0">
              <a:latin typeface="Palatino Linotype"/>
              <a:cs typeface="Palatino Linotype"/>
            </a:endParaRPr>
          </a:p>
        </p:txBody>
      </p:sp>
      <p:pic>
        <p:nvPicPr>
          <p:cNvPr id="9" name="그림 8">
            <a:extLst>
              <a:ext uri="{FF2B5EF4-FFF2-40B4-BE49-F238E27FC236}">
                <a16:creationId xmlns:a16="http://schemas.microsoft.com/office/drawing/2014/main" id="{5FAE498E-5413-2E8B-0AD5-9809A94AA10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96000" y="1555907"/>
            <a:ext cx="5461031" cy="374618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34517691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D642DB6-3ECD-D77F-E403-E98AB361D28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>
            <a:extLst>
              <a:ext uri="{FF2B5EF4-FFF2-40B4-BE49-F238E27FC236}">
                <a16:creationId xmlns:a16="http://schemas.microsoft.com/office/drawing/2014/main" id="{DB9D0B92-22D4-F366-0693-06A379EFCFC8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838200" y="681016"/>
            <a:ext cx="10515600" cy="693780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lang="en-US" dirty="0">
                <a:latin typeface="Palatino Linotype" panose="02040502050505030304" pitchFamily="18" charset="0"/>
              </a:rPr>
              <a:t>Circuit</a:t>
            </a:r>
            <a:r>
              <a:rPr lang="en-US" spc="-135" dirty="0">
                <a:latin typeface="Palatino Linotype" panose="02040502050505030304" pitchFamily="18" charset="0"/>
              </a:rPr>
              <a:t> </a:t>
            </a:r>
            <a:r>
              <a:rPr lang="en-US" spc="-10" dirty="0">
                <a:latin typeface="Palatino Linotype" panose="02040502050505030304" pitchFamily="18" charset="0"/>
              </a:rPr>
              <a:t>Breakers</a:t>
            </a:r>
          </a:p>
        </p:txBody>
      </p:sp>
      <p:sp>
        <p:nvSpPr>
          <p:cNvPr id="4" name="object 4">
            <a:extLst>
              <a:ext uri="{FF2B5EF4-FFF2-40B4-BE49-F238E27FC236}">
                <a16:creationId xmlns:a16="http://schemas.microsoft.com/office/drawing/2014/main" id="{CD29BECC-F35C-6B60-4765-FD998034241F}"/>
              </a:ext>
            </a:extLst>
          </p:cNvPr>
          <p:cNvSpPr txBox="1"/>
          <p:nvPr/>
        </p:nvSpPr>
        <p:spPr>
          <a:xfrm>
            <a:off x="252729" y="6423977"/>
            <a:ext cx="6971030" cy="266065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1550" dirty="0">
                <a:solidFill>
                  <a:srgbClr val="80350D"/>
                </a:solidFill>
                <a:latin typeface="Palatino Linotype"/>
                <a:cs typeface="Palatino Linotype"/>
              </a:rPr>
              <a:t>[Improving</a:t>
            </a:r>
            <a:r>
              <a:rPr sz="1550" spc="20" dirty="0">
                <a:solidFill>
                  <a:srgbClr val="80350D"/>
                </a:solidFill>
                <a:latin typeface="Palatino Linotype"/>
                <a:cs typeface="Palatino Linotype"/>
              </a:rPr>
              <a:t> </a:t>
            </a:r>
            <a:r>
              <a:rPr sz="1550" dirty="0">
                <a:solidFill>
                  <a:srgbClr val="80350D"/>
                </a:solidFill>
                <a:latin typeface="Palatino Linotype"/>
                <a:cs typeface="Palatino Linotype"/>
              </a:rPr>
              <a:t>Alignment</a:t>
            </a:r>
            <a:r>
              <a:rPr sz="1550" spc="105" dirty="0">
                <a:solidFill>
                  <a:srgbClr val="80350D"/>
                </a:solidFill>
                <a:latin typeface="Palatino Linotype"/>
                <a:cs typeface="Palatino Linotype"/>
              </a:rPr>
              <a:t> </a:t>
            </a:r>
            <a:r>
              <a:rPr sz="1550" dirty="0">
                <a:solidFill>
                  <a:srgbClr val="80350D"/>
                </a:solidFill>
                <a:latin typeface="Palatino Linotype"/>
                <a:cs typeface="Palatino Linotype"/>
              </a:rPr>
              <a:t>and</a:t>
            </a:r>
            <a:r>
              <a:rPr sz="1550" spc="100" dirty="0">
                <a:solidFill>
                  <a:srgbClr val="80350D"/>
                </a:solidFill>
                <a:latin typeface="Palatino Linotype"/>
                <a:cs typeface="Palatino Linotype"/>
              </a:rPr>
              <a:t> </a:t>
            </a:r>
            <a:r>
              <a:rPr sz="1550" dirty="0">
                <a:solidFill>
                  <a:srgbClr val="80350D"/>
                </a:solidFill>
                <a:latin typeface="Palatino Linotype"/>
                <a:cs typeface="Palatino Linotype"/>
              </a:rPr>
              <a:t>Robustness</a:t>
            </a:r>
            <a:r>
              <a:rPr sz="1550" spc="195" dirty="0">
                <a:solidFill>
                  <a:srgbClr val="80350D"/>
                </a:solidFill>
                <a:latin typeface="Palatino Linotype"/>
                <a:cs typeface="Palatino Linotype"/>
              </a:rPr>
              <a:t> </a:t>
            </a:r>
            <a:r>
              <a:rPr sz="1550" dirty="0">
                <a:solidFill>
                  <a:srgbClr val="80350D"/>
                </a:solidFill>
                <a:latin typeface="Palatino Linotype"/>
                <a:cs typeface="Palatino Linotype"/>
              </a:rPr>
              <a:t>with</a:t>
            </a:r>
            <a:r>
              <a:rPr sz="1550" spc="75" dirty="0">
                <a:solidFill>
                  <a:srgbClr val="80350D"/>
                </a:solidFill>
                <a:latin typeface="Palatino Linotype"/>
                <a:cs typeface="Palatino Linotype"/>
              </a:rPr>
              <a:t> </a:t>
            </a:r>
            <a:r>
              <a:rPr sz="1550" dirty="0">
                <a:solidFill>
                  <a:srgbClr val="80350D"/>
                </a:solidFill>
                <a:latin typeface="Palatino Linotype"/>
                <a:cs typeface="Palatino Linotype"/>
              </a:rPr>
              <a:t>Circuit</a:t>
            </a:r>
            <a:r>
              <a:rPr sz="1550" spc="105" dirty="0">
                <a:solidFill>
                  <a:srgbClr val="80350D"/>
                </a:solidFill>
                <a:latin typeface="Palatino Linotype"/>
                <a:cs typeface="Palatino Linotype"/>
              </a:rPr>
              <a:t> </a:t>
            </a:r>
            <a:r>
              <a:rPr sz="1550" dirty="0">
                <a:solidFill>
                  <a:srgbClr val="80350D"/>
                </a:solidFill>
                <a:latin typeface="Palatino Linotype"/>
                <a:cs typeface="Palatino Linotype"/>
              </a:rPr>
              <a:t>Breakers.</a:t>
            </a:r>
            <a:r>
              <a:rPr sz="1550" spc="160" dirty="0">
                <a:solidFill>
                  <a:srgbClr val="80350D"/>
                </a:solidFill>
                <a:latin typeface="Palatino Linotype"/>
                <a:cs typeface="Palatino Linotype"/>
              </a:rPr>
              <a:t> </a:t>
            </a:r>
            <a:r>
              <a:rPr sz="1550" dirty="0">
                <a:solidFill>
                  <a:srgbClr val="80350D"/>
                </a:solidFill>
                <a:latin typeface="Palatino Linotype"/>
                <a:cs typeface="Palatino Linotype"/>
              </a:rPr>
              <a:t>Zou</a:t>
            </a:r>
            <a:r>
              <a:rPr sz="1550" spc="215" dirty="0">
                <a:solidFill>
                  <a:srgbClr val="80350D"/>
                </a:solidFill>
                <a:latin typeface="Palatino Linotype"/>
                <a:cs typeface="Palatino Linotype"/>
              </a:rPr>
              <a:t> </a:t>
            </a:r>
            <a:r>
              <a:rPr sz="1550" dirty="0">
                <a:solidFill>
                  <a:srgbClr val="80350D"/>
                </a:solidFill>
                <a:latin typeface="Palatino Linotype"/>
                <a:cs typeface="Palatino Linotype"/>
              </a:rPr>
              <a:t>et</a:t>
            </a:r>
            <a:r>
              <a:rPr sz="1550" spc="105" dirty="0">
                <a:solidFill>
                  <a:srgbClr val="80350D"/>
                </a:solidFill>
                <a:latin typeface="Palatino Linotype"/>
                <a:cs typeface="Palatino Linotype"/>
              </a:rPr>
              <a:t> </a:t>
            </a:r>
            <a:r>
              <a:rPr sz="1550" dirty="0">
                <a:solidFill>
                  <a:srgbClr val="80350D"/>
                </a:solidFill>
                <a:latin typeface="Palatino Linotype"/>
                <a:cs typeface="Palatino Linotype"/>
              </a:rPr>
              <a:t>al.</a:t>
            </a:r>
            <a:r>
              <a:rPr sz="1550" spc="160" dirty="0">
                <a:solidFill>
                  <a:srgbClr val="80350D"/>
                </a:solidFill>
                <a:latin typeface="Palatino Linotype"/>
                <a:cs typeface="Palatino Linotype"/>
              </a:rPr>
              <a:t> </a:t>
            </a:r>
            <a:r>
              <a:rPr sz="1550" spc="-10" dirty="0">
                <a:solidFill>
                  <a:srgbClr val="80350D"/>
                </a:solidFill>
                <a:latin typeface="Palatino Linotype"/>
                <a:cs typeface="Palatino Linotype"/>
              </a:rPr>
              <a:t>2024]</a:t>
            </a:r>
            <a:endParaRPr sz="1550" dirty="0">
              <a:latin typeface="Palatino Linotype"/>
              <a:cs typeface="Palatino Linotype"/>
            </a:endParaRPr>
          </a:p>
        </p:txBody>
      </p:sp>
      <p:sp>
        <p:nvSpPr>
          <p:cNvPr id="7" name="object 5">
            <a:extLst>
              <a:ext uri="{FF2B5EF4-FFF2-40B4-BE49-F238E27FC236}">
                <a16:creationId xmlns:a16="http://schemas.microsoft.com/office/drawing/2014/main" id="{8B860CA3-AACE-0BE4-C5C5-DD388DF737D8}"/>
              </a:ext>
            </a:extLst>
          </p:cNvPr>
          <p:cNvSpPr txBox="1"/>
          <p:nvPr/>
        </p:nvSpPr>
        <p:spPr>
          <a:xfrm>
            <a:off x="838201" y="1707691"/>
            <a:ext cx="5257800" cy="3390544"/>
          </a:xfrm>
          <a:prstGeom prst="rect">
            <a:avLst/>
          </a:prstGeom>
        </p:spPr>
        <p:txBody>
          <a:bodyPr vert="horz" wrap="square" lIns="0" tIns="10795" rIns="0" bIns="0" rtlCol="0">
            <a:spAutoFit/>
          </a:bodyPr>
          <a:lstStyle/>
          <a:p>
            <a:pPr marL="12065" marR="5080">
              <a:lnSpc>
                <a:spcPct val="100800"/>
              </a:lnSpc>
              <a:spcBef>
                <a:spcPts val="85"/>
              </a:spcBef>
              <a:tabLst>
                <a:tab pos="298450" algn="l"/>
              </a:tabLst>
            </a:pPr>
            <a:endParaRPr lang="en-US" spc="-10" dirty="0">
              <a:latin typeface="Palatino Linotype"/>
              <a:cs typeface="Palatino Linotype"/>
            </a:endParaRPr>
          </a:p>
          <a:p>
            <a:pPr marL="298450" marR="5080" indent="-286385">
              <a:lnSpc>
                <a:spcPct val="100800"/>
              </a:lnSpc>
              <a:spcBef>
                <a:spcPts val="85"/>
              </a:spcBef>
              <a:buFont typeface="Wingdings" panose="05000000000000000000" pitchFamily="2" charset="2"/>
              <a:buChar char="§"/>
              <a:tabLst>
                <a:tab pos="298450" algn="l"/>
              </a:tabLst>
            </a:pPr>
            <a:r>
              <a:rPr lang="en-US" spc="-10" dirty="0">
                <a:latin typeface="Palatino Linotype"/>
                <a:cs typeface="Palatino Linotype"/>
              </a:rPr>
              <a:t>Robustness w/o Capability Loss</a:t>
            </a:r>
          </a:p>
          <a:p>
            <a:pPr marL="12065" marR="5080">
              <a:lnSpc>
                <a:spcPct val="100800"/>
              </a:lnSpc>
              <a:spcBef>
                <a:spcPts val="85"/>
              </a:spcBef>
              <a:tabLst>
                <a:tab pos="298450" algn="l"/>
              </a:tabLst>
            </a:pPr>
            <a:endParaRPr lang="en-US" sz="1800" spc="-10" dirty="0">
              <a:latin typeface="Palatino Linotype"/>
              <a:cs typeface="Palatino Linotype"/>
            </a:endParaRPr>
          </a:p>
          <a:p>
            <a:pPr marL="298450" marR="5080" indent="-286385">
              <a:lnSpc>
                <a:spcPct val="150000"/>
              </a:lnSpc>
              <a:spcBef>
                <a:spcPts val="85"/>
              </a:spcBef>
              <a:buFont typeface="Arial"/>
              <a:buChar char="•"/>
              <a:tabLst>
                <a:tab pos="298450" algn="l"/>
              </a:tabLst>
            </a:pPr>
            <a:r>
              <a:rPr lang="en-US" dirty="0">
                <a:latin typeface="Palatino Linotype"/>
                <a:cs typeface="Palatino Linotype"/>
              </a:rPr>
              <a:t>Main result</a:t>
            </a:r>
          </a:p>
          <a:p>
            <a:pPr marL="755650" marR="5080" lvl="1" indent="-286385">
              <a:lnSpc>
                <a:spcPct val="150000"/>
              </a:lnSpc>
              <a:spcBef>
                <a:spcPts val="85"/>
              </a:spcBef>
              <a:buFont typeface="Wingdings" panose="05000000000000000000" pitchFamily="2" charset="2"/>
              <a:buChar char="ü"/>
              <a:tabLst>
                <a:tab pos="298450" algn="l"/>
              </a:tabLst>
            </a:pPr>
            <a:r>
              <a:rPr lang="en-US" altLang="ko-KR" dirty="0">
                <a:latin typeface="Palatino Linotype" panose="02040502050505030304" pitchFamily="18" charset="0"/>
                <a:cs typeface="Palatino Linotype"/>
              </a:rPr>
              <a:t>Attack success rate </a:t>
            </a:r>
            <a:r>
              <a:rPr lang="en-US" altLang="ko-KR" b="1" dirty="0">
                <a:latin typeface="Palatino Linotype" panose="02040502050505030304" pitchFamily="18" charset="0"/>
                <a:ea typeface="Batang" panose="02030600000101010101" pitchFamily="18" charset="-127"/>
                <a:cs typeface="Palatino Linotype"/>
              </a:rPr>
              <a:t>↓</a:t>
            </a:r>
          </a:p>
          <a:p>
            <a:pPr marL="755650" marR="5080" lvl="1" indent="-286385">
              <a:lnSpc>
                <a:spcPct val="150000"/>
              </a:lnSpc>
              <a:spcBef>
                <a:spcPts val="85"/>
              </a:spcBef>
              <a:buFont typeface="Wingdings" panose="05000000000000000000" pitchFamily="2" charset="2"/>
              <a:buChar char="ü"/>
              <a:tabLst>
                <a:tab pos="298450" algn="l"/>
              </a:tabLst>
            </a:pPr>
            <a:r>
              <a:rPr lang="en-US" altLang="ko-KR" dirty="0">
                <a:latin typeface="Palatino Linotype" panose="02040502050505030304" pitchFamily="18" charset="0"/>
                <a:cs typeface="Palatino Linotype"/>
              </a:rPr>
              <a:t>Capability mostly preserved</a:t>
            </a:r>
            <a:br>
              <a:rPr lang="en-US" altLang="ko-KR" dirty="0">
                <a:latin typeface="Palatino Linotype" panose="02040502050505030304" pitchFamily="18" charset="0"/>
                <a:cs typeface="Palatino Linotype"/>
              </a:rPr>
            </a:br>
            <a:endParaRPr lang="en-US" altLang="ko-KR" dirty="0">
              <a:latin typeface="Palatino Linotype" panose="02040502050505030304" pitchFamily="18" charset="0"/>
              <a:cs typeface="Palatino Linotype"/>
            </a:endParaRPr>
          </a:p>
          <a:p>
            <a:pPr marL="755650" marR="5080" lvl="1" indent="-286385">
              <a:lnSpc>
                <a:spcPct val="150000"/>
              </a:lnSpc>
              <a:spcBef>
                <a:spcPts val="85"/>
              </a:spcBef>
              <a:buFont typeface="Wingdings" panose="05000000000000000000" pitchFamily="2" charset="2"/>
              <a:buChar char="ü"/>
              <a:tabLst>
                <a:tab pos="298450" algn="l"/>
              </a:tabLst>
            </a:pPr>
            <a:r>
              <a:rPr lang="en-US" dirty="0">
                <a:latin typeface="Palatino Linotype" panose="02040502050505030304" pitchFamily="18" charset="0"/>
                <a:cs typeface="Palatino Linotype"/>
              </a:rPr>
              <a:t>Robustness improves</a:t>
            </a:r>
          </a:p>
          <a:p>
            <a:pPr marL="755650" marR="5080" lvl="1" indent="-286385">
              <a:lnSpc>
                <a:spcPct val="150000"/>
              </a:lnSpc>
              <a:spcBef>
                <a:spcPts val="85"/>
              </a:spcBef>
              <a:buFont typeface="Wingdings" panose="05000000000000000000" pitchFamily="2" charset="2"/>
              <a:buChar char="ü"/>
              <a:tabLst>
                <a:tab pos="298450" algn="l"/>
              </a:tabLst>
            </a:pPr>
            <a:r>
              <a:rPr lang="en-US" dirty="0">
                <a:latin typeface="Palatino Linotype" panose="02040502050505030304" pitchFamily="18" charset="0"/>
                <a:cs typeface="Palatino Linotype"/>
              </a:rPr>
              <a:t>without large utility loss</a:t>
            </a:r>
          </a:p>
        </p:txBody>
      </p:sp>
      <p:pic>
        <p:nvPicPr>
          <p:cNvPr id="5" name="그림 4">
            <a:extLst>
              <a:ext uri="{FF2B5EF4-FFF2-40B4-BE49-F238E27FC236}">
                <a16:creationId xmlns:a16="http://schemas.microsoft.com/office/drawing/2014/main" id="{52CBB40A-CB34-4D07-4390-E579BC39EA4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53000" y="2362200"/>
            <a:ext cx="6651756" cy="241931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19533145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xfrm>
            <a:off x="838200" y="681016"/>
            <a:ext cx="10515600" cy="693780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dirty="0">
                <a:latin typeface="Palatino Linotype" panose="02040502050505030304" pitchFamily="18" charset="0"/>
              </a:rPr>
              <a:t>Latent</a:t>
            </a:r>
            <a:r>
              <a:rPr spc="-145" dirty="0">
                <a:latin typeface="Palatino Linotype" panose="02040502050505030304" pitchFamily="18" charset="0"/>
              </a:rPr>
              <a:t> </a:t>
            </a:r>
            <a:r>
              <a:rPr dirty="0">
                <a:latin typeface="Palatino Linotype" panose="02040502050505030304" pitchFamily="18" charset="0"/>
              </a:rPr>
              <a:t>adversarial</a:t>
            </a:r>
            <a:r>
              <a:rPr spc="-140" dirty="0">
                <a:latin typeface="Palatino Linotype" panose="02040502050505030304" pitchFamily="18" charset="0"/>
              </a:rPr>
              <a:t> </a:t>
            </a:r>
            <a:r>
              <a:rPr spc="-10" dirty="0">
                <a:latin typeface="Palatino Linotype" panose="02040502050505030304" pitchFamily="18" charset="0"/>
              </a:rPr>
              <a:t>training</a:t>
            </a:r>
          </a:p>
        </p:txBody>
      </p:sp>
      <p:pic>
        <p:nvPicPr>
          <p:cNvPr id="3" name="object 3" descr="A diagram of a computer program  AI-generated content may be incorrect.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609725" y="1828800"/>
            <a:ext cx="8972550" cy="4352925"/>
          </a:xfrm>
          <a:prstGeom prst="rect">
            <a:avLst/>
          </a:prstGeom>
        </p:spPr>
      </p:pic>
      <p:sp>
        <p:nvSpPr>
          <p:cNvPr id="4" name="object 4"/>
          <p:cNvSpPr txBox="1"/>
          <p:nvPr/>
        </p:nvSpPr>
        <p:spPr>
          <a:xfrm>
            <a:off x="252729" y="6423977"/>
            <a:ext cx="10156825" cy="266065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1550" dirty="0">
                <a:solidFill>
                  <a:srgbClr val="80350D"/>
                </a:solidFill>
                <a:latin typeface="Palatino Linotype"/>
                <a:cs typeface="Palatino Linotype"/>
              </a:rPr>
              <a:t>[Latent</a:t>
            </a:r>
            <a:r>
              <a:rPr sz="1550" spc="-20" dirty="0">
                <a:solidFill>
                  <a:srgbClr val="80350D"/>
                </a:solidFill>
                <a:latin typeface="Palatino Linotype"/>
                <a:cs typeface="Palatino Linotype"/>
              </a:rPr>
              <a:t> </a:t>
            </a:r>
            <a:r>
              <a:rPr sz="1550" dirty="0">
                <a:solidFill>
                  <a:srgbClr val="80350D"/>
                </a:solidFill>
                <a:latin typeface="Palatino Linotype"/>
                <a:cs typeface="Palatino Linotype"/>
              </a:rPr>
              <a:t>Adversarial</a:t>
            </a:r>
            <a:r>
              <a:rPr sz="1550" spc="140" dirty="0">
                <a:solidFill>
                  <a:srgbClr val="80350D"/>
                </a:solidFill>
                <a:latin typeface="Palatino Linotype"/>
                <a:cs typeface="Palatino Linotype"/>
              </a:rPr>
              <a:t> </a:t>
            </a:r>
            <a:r>
              <a:rPr sz="1550" dirty="0">
                <a:solidFill>
                  <a:srgbClr val="80350D"/>
                </a:solidFill>
                <a:latin typeface="Palatino Linotype"/>
                <a:cs typeface="Palatino Linotype"/>
              </a:rPr>
              <a:t>Training</a:t>
            </a:r>
            <a:r>
              <a:rPr sz="1550" spc="85" dirty="0">
                <a:solidFill>
                  <a:srgbClr val="80350D"/>
                </a:solidFill>
                <a:latin typeface="Palatino Linotype"/>
                <a:cs typeface="Palatino Linotype"/>
              </a:rPr>
              <a:t> </a:t>
            </a:r>
            <a:r>
              <a:rPr sz="1550" dirty="0">
                <a:solidFill>
                  <a:srgbClr val="80350D"/>
                </a:solidFill>
                <a:latin typeface="Palatino Linotype"/>
                <a:cs typeface="Palatino Linotype"/>
              </a:rPr>
              <a:t>Improves</a:t>
            </a:r>
            <a:r>
              <a:rPr sz="1550" spc="155" dirty="0">
                <a:solidFill>
                  <a:srgbClr val="80350D"/>
                </a:solidFill>
                <a:latin typeface="Palatino Linotype"/>
                <a:cs typeface="Palatino Linotype"/>
              </a:rPr>
              <a:t> </a:t>
            </a:r>
            <a:r>
              <a:rPr sz="1550" dirty="0">
                <a:solidFill>
                  <a:srgbClr val="80350D"/>
                </a:solidFill>
                <a:latin typeface="Palatino Linotype"/>
                <a:cs typeface="Palatino Linotype"/>
              </a:rPr>
              <a:t>Robustness</a:t>
            </a:r>
            <a:r>
              <a:rPr sz="1550" spc="70" dirty="0">
                <a:solidFill>
                  <a:srgbClr val="80350D"/>
                </a:solidFill>
                <a:latin typeface="Palatino Linotype"/>
                <a:cs typeface="Palatino Linotype"/>
              </a:rPr>
              <a:t> </a:t>
            </a:r>
            <a:r>
              <a:rPr sz="1550" dirty="0">
                <a:solidFill>
                  <a:srgbClr val="80350D"/>
                </a:solidFill>
                <a:latin typeface="Palatino Linotype"/>
                <a:cs typeface="Palatino Linotype"/>
              </a:rPr>
              <a:t>to</a:t>
            </a:r>
            <a:r>
              <a:rPr sz="1550" spc="110" dirty="0">
                <a:solidFill>
                  <a:srgbClr val="80350D"/>
                </a:solidFill>
                <a:latin typeface="Palatino Linotype"/>
                <a:cs typeface="Palatino Linotype"/>
              </a:rPr>
              <a:t> </a:t>
            </a:r>
            <a:r>
              <a:rPr sz="1550" dirty="0">
                <a:solidFill>
                  <a:srgbClr val="80350D"/>
                </a:solidFill>
                <a:latin typeface="Palatino Linotype"/>
                <a:cs typeface="Palatino Linotype"/>
              </a:rPr>
              <a:t>Persistent</a:t>
            </a:r>
            <a:r>
              <a:rPr sz="1550" spc="70" dirty="0">
                <a:solidFill>
                  <a:srgbClr val="80350D"/>
                </a:solidFill>
                <a:latin typeface="Palatino Linotype"/>
                <a:cs typeface="Palatino Linotype"/>
              </a:rPr>
              <a:t> </a:t>
            </a:r>
            <a:r>
              <a:rPr sz="1550" dirty="0">
                <a:solidFill>
                  <a:srgbClr val="80350D"/>
                </a:solidFill>
                <a:latin typeface="Palatino Linotype"/>
                <a:cs typeface="Palatino Linotype"/>
              </a:rPr>
              <a:t>Harmful</a:t>
            </a:r>
            <a:r>
              <a:rPr sz="1550" spc="140" dirty="0">
                <a:solidFill>
                  <a:srgbClr val="80350D"/>
                </a:solidFill>
                <a:latin typeface="Palatino Linotype"/>
                <a:cs typeface="Palatino Linotype"/>
              </a:rPr>
              <a:t> </a:t>
            </a:r>
            <a:r>
              <a:rPr sz="1550" dirty="0">
                <a:solidFill>
                  <a:srgbClr val="80350D"/>
                </a:solidFill>
                <a:latin typeface="Palatino Linotype"/>
                <a:cs typeface="Palatino Linotype"/>
              </a:rPr>
              <a:t>Behaviors</a:t>
            </a:r>
            <a:r>
              <a:rPr sz="1550" spc="160" dirty="0">
                <a:solidFill>
                  <a:srgbClr val="80350D"/>
                </a:solidFill>
                <a:latin typeface="Palatino Linotype"/>
                <a:cs typeface="Palatino Linotype"/>
              </a:rPr>
              <a:t> </a:t>
            </a:r>
            <a:r>
              <a:rPr sz="1550" dirty="0">
                <a:solidFill>
                  <a:srgbClr val="80350D"/>
                </a:solidFill>
                <a:latin typeface="Palatino Linotype"/>
                <a:cs typeface="Palatino Linotype"/>
              </a:rPr>
              <a:t>in</a:t>
            </a:r>
            <a:r>
              <a:rPr sz="1550" spc="125" dirty="0">
                <a:solidFill>
                  <a:srgbClr val="80350D"/>
                </a:solidFill>
                <a:latin typeface="Palatino Linotype"/>
                <a:cs typeface="Palatino Linotype"/>
              </a:rPr>
              <a:t> </a:t>
            </a:r>
            <a:r>
              <a:rPr sz="1550" dirty="0">
                <a:solidFill>
                  <a:srgbClr val="80350D"/>
                </a:solidFill>
                <a:latin typeface="Palatino Linotype"/>
                <a:cs typeface="Palatino Linotype"/>
              </a:rPr>
              <a:t>LLMs.</a:t>
            </a:r>
            <a:r>
              <a:rPr sz="1550" spc="130" dirty="0">
                <a:solidFill>
                  <a:srgbClr val="80350D"/>
                </a:solidFill>
                <a:latin typeface="Palatino Linotype"/>
                <a:cs typeface="Palatino Linotype"/>
              </a:rPr>
              <a:t> </a:t>
            </a:r>
            <a:r>
              <a:rPr sz="1550" dirty="0">
                <a:solidFill>
                  <a:srgbClr val="80350D"/>
                </a:solidFill>
                <a:latin typeface="Palatino Linotype"/>
                <a:cs typeface="Palatino Linotype"/>
              </a:rPr>
              <a:t>Seshadri</a:t>
            </a:r>
            <a:r>
              <a:rPr sz="1550" spc="50" dirty="0">
                <a:solidFill>
                  <a:srgbClr val="80350D"/>
                </a:solidFill>
                <a:latin typeface="Palatino Linotype"/>
                <a:cs typeface="Palatino Linotype"/>
              </a:rPr>
              <a:t> </a:t>
            </a:r>
            <a:r>
              <a:rPr sz="1550" dirty="0">
                <a:solidFill>
                  <a:srgbClr val="80350D"/>
                </a:solidFill>
                <a:latin typeface="Palatino Linotype"/>
                <a:cs typeface="Palatino Linotype"/>
              </a:rPr>
              <a:t>et</a:t>
            </a:r>
            <a:r>
              <a:rPr sz="1550" spc="155" dirty="0">
                <a:solidFill>
                  <a:srgbClr val="80350D"/>
                </a:solidFill>
                <a:latin typeface="Palatino Linotype"/>
                <a:cs typeface="Palatino Linotype"/>
              </a:rPr>
              <a:t> </a:t>
            </a:r>
            <a:r>
              <a:rPr sz="1550" dirty="0">
                <a:solidFill>
                  <a:srgbClr val="80350D"/>
                </a:solidFill>
                <a:latin typeface="Palatino Linotype"/>
                <a:cs typeface="Palatino Linotype"/>
              </a:rPr>
              <a:t>al.</a:t>
            </a:r>
            <a:r>
              <a:rPr sz="1550" spc="125" dirty="0">
                <a:solidFill>
                  <a:srgbClr val="80350D"/>
                </a:solidFill>
                <a:latin typeface="Palatino Linotype"/>
                <a:cs typeface="Palatino Linotype"/>
              </a:rPr>
              <a:t> </a:t>
            </a:r>
            <a:r>
              <a:rPr sz="1550" spc="-10" dirty="0">
                <a:solidFill>
                  <a:srgbClr val="80350D"/>
                </a:solidFill>
                <a:latin typeface="Palatino Linotype"/>
                <a:cs typeface="Palatino Linotype"/>
              </a:rPr>
              <a:t>2024]</a:t>
            </a:r>
            <a:endParaRPr sz="1550">
              <a:latin typeface="Palatino Linotype"/>
              <a:cs typeface="Palatino Linotype"/>
            </a:endParaRP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xfrm>
            <a:off x="838200" y="681016"/>
            <a:ext cx="10515600" cy="693780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dirty="0">
                <a:latin typeface="Palatino Linotype" panose="02040502050505030304" pitchFamily="18" charset="0"/>
              </a:rPr>
              <a:t>Deliberative</a:t>
            </a:r>
            <a:r>
              <a:rPr spc="-220" dirty="0"/>
              <a:t> </a:t>
            </a:r>
            <a:r>
              <a:rPr spc="-10" dirty="0"/>
              <a:t>alignment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917575" y="1794255"/>
            <a:ext cx="10133330" cy="840105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241300" indent="-228600">
              <a:lnSpc>
                <a:spcPts val="3190"/>
              </a:lnSpc>
              <a:spcBef>
                <a:spcPts val="130"/>
              </a:spcBef>
              <a:buFont typeface="Arial"/>
              <a:buChar char="•"/>
              <a:tabLst>
                <a:tab pos="241300" algn="l"/>
              </a:tabLst>
            </a:pPr>
            <a:r>
              <a:rPr sz="2750" dirty="0">
                <a:latin typeface="Palatino Linotype"/>
                <a:cs typeface="Palatino Linotype"/>
              </a:rPr>
              <a:t>The</a:t>
            </a:r>
            <a:r>
              <a:rPr sz="2750" spc="55" dirty="0">
                <a:latin typeface="Palatino Linotype"/>
                <a:cs typeface="Palatino Linotype"/>
              </a:rPr>
              <a:t> </a:t>
            </a:r>
            <a:r>
              <a:rPr sz="2750" dirty="0">
                <a:latin typeface="Palatino Linotype"/>
                <a:cs typeface="Palatino Linotype"/>
              </a:rPr>
              <a:t>model</a:t>
            </a:r>
            <a:r>
              <a:rPr sz="2750" spc="65" dirty="0">
                <a:latin typeface="Palatino Linotype"/>
                <a:cs typeface="Palatino Linotype"/>
              </a:rPr>
              <a:t> </a:t>
            </a:r>
            <a:r>
              <a:rPr sz="2750" dirty="0">
                <a:latin typeface="Palatino Linotype"/>
                <a:cs typeface="Palatino Linotype"/>
              </a:rPr>
              <a:t>can</a:t>
            </a:r>
            <a:r>
              <a:rPr sz="2750" spc="85" dirty="0">
                <a:latin typeface="Palatino Linotype"/>
                <a:cs typeface="Palatino Linotype"/>
              </a:rPr>
              <a:t> </a:t>
            </a:r>
            <a:r>
              <a:rPr sz="2750" dirty="0">
                <a:latin typeface="Palatino Linotype"/>
                <a:cs typeface="Palatino Linotype"/>
              </a:rPr>
              <a:t>“reason”</a:t>
            </a:r>
            <a:r>
              <a:rPr sz="2750" spc="90" dirty="0">
                <a:latin typeface="Palatino Linotype"/>
                <a:cs typeface="Palatino Linotype"/>
              </a:rPr>
              <a:t> </a:t>
            </a:r>
            <a:r>
              <a:rPr sz="2750" dirty="0">
                <a:latin typeface="Palatino Linotype"/>
                <a:cs typeface="Palatino Linotype"/>
              </a:rPr>
              <a:t>about</a:t>
            </a:r>
            <a:r>
              <a:rPr sz="2750" spc="40" dirty="0">
                <a:latin typeface="Palatino Linotype"/>
                <a:cs typeface="Palatino Linotype"/>
              </a:rPr>
              <a:t> </a:t>
            </a:r>
            <a:r>
              <a:rPr sz="2750" dirty="0">
                <a:latin typeface="Palatino Linotype"/>
                <a:cs typeface="Palatino Linotype"/>
              </a:rPr>
              <a:t>a</a:t>
            </a:r>
            <a:r>
              <a:rPr sz="2750" spc="90" dirty="0">
                <a:latin typeface="Palatino Linotype"/>
                <a:cs typeface="Palatino Linotype"/>
              </a:rPr>
              <a:t> </a:t>
            </a:r>
            <a:r>
              <a:rPr sz="2750" dirty="0">
                <a:latin typeface="Palatino Linotype"/>
                <a:cs typeface="Palatino Linotype"/>
              </a:rPr>
              <a:t>set</a:t>
            </a:r>
            <a:r>
              <a:rPr sz="2750" spc="120" dirty="0">
                <a:latin typeface="Palatino Linotype"/>
                <a:cs typeface="Palatino Linotype"/>
              </a:rPr>
              <a:t> </a:t>
            </a:r>
            <a:r>
              <a:rPr sz="2750" dirty="0">
                <a:latin typeface="Palatino Linotype"/>
                <a:cs typeface="Palatino Linotype"/>
              </a:rPr>
              <a:t>of</a:t>
            </a:r>
            <a:r>
              <a:rPr sz="2750" spc="105" dirty="0">
                <a:latin typeface="Palatino Linotype"/>
                <a:cs typeface="Palatino Linotype"/>
              </a:rPr>
              <a:t> </a:t>
            </a:r>
            <a:r>
              <a:rPr sz="2750" dirty="0">
                <a:latin typeface="Palatino Linotype"/>
                <a:cs typeface="Palatino Linotype"/>
              </a:rPr>
              <a:t>rules</a:t>
            </a:r>
            <a:r>
              <a:rPr sz="2750" spc="70" dirty="0">
                <a:latin typeface="Palatino Linotype"/>
                <a:cs typeface="Palatino Linotype"/>
              </a:rPr>
              <a:t> </a:t>
            </a:r>
            <a:r>
              <a:rPr sz="2750" dirty="0">
                <a:latin typeface="Palatino Linotype"/>
                <a:cs typeface="Palatino Linotype"/>
              </a:rPr>
              <a:t>and</a:t>
            </a:r>
            <a:r>
              <a:rPr sz="2750" spc="80" dirty="0">
                <a:latin typeface="Palatino Linotype"/>
                <a:cs typeface="Palatino Linotype"/>
              </a:rPr>
              <a:t> </a:t>
            </a:r>
            <a:r>
              <a:rPr sz="2750" dirty="0">
                <a:latin typeface="Palatino Linotype"/>
                <a:cs typeface="Palatino Linotype"/>
              </a:rPr>
              <a:t>decide</a:t>
            </a:r>
            <a:r>
              <a:rPr sz="2750" spc="65" dirty="0">
                <a:latin typeface="Palatino Linotype"/>
                <a:cs typeface="Palatino Linotype"/>
              </a:rPr>
              <a:t> </a:t>
            </a:r>
            <a:r>
              <a:rPr sz="2750" dirty="0">
                <a:latin typeface="Palatino Linotype"/>
                <a:cs typeface="Palatino Linotype"/>
              </a:rPr>
              <a:t>what</a:t>
            </a:r>
            <a:r>
              <a:rPr sz="2750" spc="45" dirty="0">
                <a:latin typeface="Palatino Linotype"/>
                <a:cs typeface="Palatino Linotype"/>
              </a:rPr>
              <a:t> </a:t>
            </a:r>
            <a:r>
              <a:rPr sz="2750" spc="-25" dirty="0">
                <a:latin typeface="Palatino Linotype"/>
                <a:cs typeface="Palatino Linotype"/>
              </a:rPr>
              <a:t>is</a:t>
            </a:r>
            <a:endParaRPr sz="2750">
              <a:latin typeface="Palatino Linotype"/>
              <a:cs typeface="Palatino Linotype"/>
            </a:endParaRPr>
          </a:p>
          <a:p>
            <a:pPr marL="241300">
              <a:lnSpc>
                <a:spcPts val="3190"/>
              </a:lnSpc>
            </a:pPr>
            <a:r>
              <a:rPr sz="2750" spc="-10" dirty="0">
                <a:latin typeface="Palatino Linotype"/>
                <a:cs typeface="Palatino Linotype"/>
              </a:rPr>
              <a:t>harmful</a:t>
            </a:r>
            <a:endParaRPr sz="2750">
              <a:latin typeface="Palatino Linotype"/>
              <a:cs typeface="Palatino Linotype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252729" y="6423977"/>
            <a:ext cx="1595755" cy="266065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1550" dirty="0">
                <a:solidFill>
                  <a:srgbClr val="80350D"/>
                </a:solidFill>
                <a:latin typeface="Palatino Linotype"/>
                <a:cs typeface="Palatino Linotype"/>
              </a:rPr>
              <a:t>[Guan</a:t>
            </a:r>
            <a:r>
              <a:rPr sz="1550" spc="85" dirty="0">
                <a:solidFill>
                  <a:srgbClr val="80350D"/>
                </a:solidFill>
                <a:latin typeface="Palatino Linotype"/>
                <a:cs typeface="Palatino Linotype"/>
              </a:rPr>
              <a:t> </a:t>
            </a:r>
            <a:r>
              <a:rPr sz="1550" dirty="0">
                <a:solidFill>
                  <a:srgbClr val="80350D"/>
                </a:solidFill>
                <a:latin typeface="Palatino Linotype"/>
                <a:cs typeface="Palatino Linotype"/>
              </a:rPr>
              <a:t>et</a:t>
            </a:r>
            <a:r>
              <a:rPr sz="1550" spc="40" dirty="0">
                <a:solidFill>
                  <a:srgbClr val="80350D"/>
                </a:solidFill>
                <a:latin typeface="Palatino Linotype"/>
                <a:cs typeface="Palatino Linotype"/>
              </a:rPr>
              <a:t> </a:t>
            </a:r>
            <a:r>
              <a:rPr sz="1550" dirty="0">
                <a:solidFill>
                  <a:srgbClr val="80350D"/>
                </a:solidFill>
                <a:latin typeface="Palatino Linotype"/>
                <a:cs typeface="Palatino Linotype"/>
              </a:rPr>
              <a:t>al.</a:t>
            </a:r>
            <a:r>
              <a:rPr sz="1550" spc="90" dirty="0">
                <a:solidFill>
                  <a:srgbClr val="80350D"/>
                </a:solidFill>
                <a:latin typeface="Palatino Linotype"/>
                <a:cs typeface="Palatino Linotype"/>
              </a:rPr>
              <a:t> </a:t>
            </a:r>
            <a:r>
              <a:rPr sz="1550" spc="-20" dirty="0">
                <a:solidFill>
                  <a:srgbClr val="80350D"/>
                </a:solidFill>
                <a:latin typeface="Palatino Linotype"/>
                <a:cs typeface="Palatino Linotype"/>
              </a:rPr>
              <a:t>2024]</a:t>
            </a:r>
            <a:endParaRPr sz="1550" dirty="0">
              <a:latin typeface="Palatino Linotype"/>
              <a:cs typeface="Palatino Linotype"/>
            </a:endParaRPr>
          </a:p>
        </p:txBody>
      </p:sp>
      <p:pic>
        <p:nvPicPr>
          <p:cNvPr id="5" name="object 5" descr="A close-up of a text  AI-generated content may be incorrect.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666875" y="2819400"/>
            <a:ext cx="8858250" cy="3181350"/>
          </a:xfrm>
          <a:prstGeom prst="rect">
            <a:avLst/>
          </a:prstGeom>
        </p:spPr>
      </p:pic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xfrm>
            <a:off x="838200" y="681016"/>
            <a:ext cx="10515600" cy="693780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spc="-30" dirty="0">
                <a:latin typeface="Palatino Linotype" panose="02040502050505030304" pitchFamily="18" charset="0"/>
              </a:rPr>
              <a:t>Training</a:t>
            </a:r>
            <a:r>
              <a:rPr spc="-175" dirty="0">
                <a:latin typeface="Palatino Linotype" panose="02040502050505030304" pitchFamily="18" charset="0"/>
              </a:rPr>
              <a:t> </a:t>
            </a:r>
            <a:r>
              <a:rPr dirty="0">
                <a:latin typeface="Palatino Linotype" panose="02040502050505030304" pitchFamily="18" charset="0"/>
              </a:rPr>
              <a:t>adaptive</a:t>
            </a:r>
            <a:r>
              <a:rPr spc="-135" dirty="0">
                <a:latin typeface="Palatino Linotype" panose="02040502050505030304" pitchFamily="18" charset="0"/>
              </a:rPr>
              <a:t> </a:t>
            </a:r>
            <a:r>
              <a:rPr dirty="0">
                <a:latin typeface="Palatino Linotype" panose="02040502050505030304" pitchFamily="18" charset="0"/>
              </a:rPr>
              <a:t>reasoners</a:t>
            </a:r>
            <a:r>
              <a:rPr spc="-114" dirty="0">
                <a:latin typeface="Palatino Linotype" panose="02040502050505030304" pitchFamily="18" charset="0"/>
              </a:rPr>
              <a:t> </a:t>
            </a:r>
            <a:r>
              <a:rPr dirty="0">
                <a:latin typeface="Palatino Linotype" panose="02040502050505030304" pitchFamily="18" charset="0"/>
              </a:rPr>
              <a:t>for</a:t>
            </a:r>
            <a:r>
              <a:rPr spc="-140" dirty="0">
                <a:latin typeface="Palatino Linotype" panose="02040502050505030304" pitchFamily="18" charset="0"/>
              </a:rPr>
              <a:t> </a:t>
            </a:r>
            <a:r>
              <a:rPr spc="-10" dirty="0">
                <a:latin typeface="Palatino Linotype" panose="02040502050505030304" pitchFamily="18" charset="0"/>
              </a:rPr>
              <a:t>safety</a:t>
            </a:r>
          </a:p>
        </p:txBody>
      </p:sp>
      <p:sp>
        <p:nvSpPr>
          <p:cNvPr id="3" name="object 3"/>
          <p:cNvSpPr txBox="1">
            <a:spLocks noGrp="1"/>
          </p:cNvSpPr>
          <p:nvPr>
            <p:ph idx="1"/>
          </p:nvPr>
        </p:nvSpPr>
        <p:spPr>
          <a:xfrm>
            <a:off x="838200" y="1825625"/>
            <a:ext cx="10515600" cy="2978379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240029" indent="-227329">
              <a:lnSpc>
                <a:spcPts val="2755"/>
              </a:lnSpc>
              <a:spcBef>
                <a:spcPts val="105"/>
              </a:spcBef>
              <a:buFont typeface="Arial"/>
              <a:buChar char="•"/>
              <a:tabLst>
                <a:tab pos="240029" algn="l"/>
              </a:tabLst>
            </a:pPr>
            <a:r>
              <a:rPr dirty="0"/>
              <a:t>Reasoning</a:t>
            </a:r>
            <a:r>
              <a:rPr spc="-50" dirty="0"/>
              <a:t> </a:t>
            </a:r>
            <a:r>
              <a:rPr dirty="0"/>
              <a:t>allows</a:t>
            </a:r>
            <a:r>
              <a:rPr spc="-20" dirty="0"/>
              <a:t> </a:t>
            </a:r>
            <a:r>
              <a:rPr dirty="0"/>
              <a:t>better</a:t>
            </a:r>
            <a:r>
              <a:rPr spc="-30" dirty="0"/>
              <a:t> </a:t>
            </a:r>
            <a:r>
              <a:rPr spc="-10" dirty="0"/>
              <a:t>safety-</a:t>
            </a:r>
            <a:r>
              <a:rPr dirty="0"/>
              <a:t>utility</a:t>
            </a:r>
            <a:r>
              <a:rPr spc="-35" dirty="0"/>
              <a:t> </a:t>
            </a:r>
            <a:r>
              <a:rPr dirty="0"/>
              <a:t>tradeoffs</a:t>
            </a:r>
            <a:r>
              <a:rPr spc="-20" dirty="0"/>
              <a:t> </a:t>
            </a:r>
            <a:r>
              <a:rPr dirty="0"/>
              <a:t>than</a:t>
            </a:r>
            <a:r>
              <a:rPr spc="-100" dirty="0"/>
              <a:t> </a:t>
            </a:r>
            <a:r>
              <a:t>standard</a:t>
            </a:r>
            <a:r>
              <a:rPr spc="-15"/>
              <a:t> </a:t>
            </a:r>
            <a:br>
              <a:rPr lang="en-US" spc="-15"/>
            </a:br>
            <a:r>
              <a:rPr spc="-10"/>
              <a:t>models</a:t>
            </a:r>
            <a:endParaRPr spc="-10" dirty="0"/>
          </a:p>
          <a:p>
            <a:pPr marL="241300">
              <a:lnSpc>
                <a:spcPts val="2755"/>
              </a:lnSpc>
            </a:pPr>
            <a:r>
              <a:rPr dirty="0"/>
              <a:t>(even</a:t>
            </a:r>
            <a:r>
              <a:rPr spc="-105" dirty="0"/>
              <a:t> </a:t>
            </a:r>
            <a:r>
              <a:rPr dirty="0"/>
              <a:t>those</a:t>
            </a:r>
            <a:r>
              <a:rPr spc="-80" dirty="0"/>
              <a:t> </a:t>
            </a:r>
            <a:r>
              <a:rPr dirty="0"/>
              <a:t>trained</a:t>
            </a:r>
            <a:r>
              <a:rPr spc="-35" dirty="0"/>
              <a:t> </a:t>
            </a:r>
            <a:r>
              <a:rPr dirty="0"/>
              <a:t>with</a:t>
            </a:r>
            <a:r>
              <a:rPr spc="-35" dirty="0"/>
              <a:t> </a:t>
            </a:r>
            <a:r>
              <a:rPr spc="-10" dirty="0"/>
              <a:t>RLHF)</a:t>
            </a:r>
          </a:p>
          <a:p>
            <a:pPr marL="457200" lvl="1" indent="0">
              <a:lnSpc>
                <a:spcPct val="100000"/>
              </a:lnSpc>
              <a:buNone/>
            </a:pPr>
            <a:endParaRPr sz="2000" dirty="0">
              <a:latin typeface="Palatino Linotype"/>
              <a:cs typeface="Palatino Linotype"/>
            </a:endParaRPr>
          </a:p>
          <a:p>
            <a:pPr lvl="1">
              <a:lnSpc>
                <a:spcPct val="100000"/>
              </a:lnSpc>
              <a:spcBef>
                <a:spcPts val="665"/>
              </a:spcBef>
              <a:buFont typeface="Arial"/>
              <a:buChar char="•"/>
            </a:pPr>
            <a:endParaRPr sz="2000" dirty="0">
              <a:latin typeface="Palatino Linotype"/>
              <a:cs typeface="Palatino Linotype"/>
            </a:endParaRPr>
          </a:p>
          <a:p>
            <a:pPr marL="240029" indent="-227329">
              <a:lnSpc>
                <a:spcPct val="100000"/>
              </a:lnSpc>
              <a:buFont typeface="Arial"/>
              <a:buChar char="•"/>
              <a:tabLst>
                <a:tab pos="240029" algn="l"/>
              </a:tabLst>
            </a:pPr>
            <a:r>
              <a:rPr dirty="0"/>
              <a:t>Have</a:t>
            </a:r>
            <a:r>
              <a:rPr spc="-60" dirty="0"/>
              <a:t> </a:t>
            </a:r>
            <a:r>
              <a:rPr dirty="0"/>
              <a:t>to</a:t>
            </a:r>
            <a:r>
              <a:rPr spc="-70" dirty="0"/>
              <a:t> </a:t>
            </a:r>
            <a:r>
              <a:rPr dirty="0"/>
              <a:t>do</a:t>
            </a:r>
            <a:r>
              <a:rPr spc="-65" dirty="0"/>
              <a:t> </a:t>
            </a:r>
            <a:r>
              <a:rPr dirty="0"/>
              <a:t>some</a:t>
            </a:r>
            <a:r>
              <a:rPr spc="-60" dirty="0"/>
              <a:t> </a:t>
            </a:r>
            <a:r>
              <a:rPr dirty="0"/>
              <a:t>tricks</a:t>
            </a:r>
            <a:r>
              <a:rPr spc="-70" dirty="0"/>
              <a:t> </a:t>
            </a:r>
            <a:r>
              <a:rPr dirty="0"/>
              <a:t>to</a:t>
            </a:r>
            <a:r>
              <a:rPr spc="-70" dirty="0"/>
              <a:t> </a:t>
            </a:r>
            <a:r>
              <a:rPr dirty="0"/>
              <a:t>prevent</a:t>
            </a:r>
            <a:r>
              <a:rPr spc="-60" dirty="0"/>
              <a:t> </a:t>
            </a:r>
            <a:r>
              <a:rPr dirty="0"/>
              <a:t>forgetting</a:t>
            </a:r>
            <a:r>
              <a:rPr spc="-20" dirty="0"/>
              <a:t> </a:t>
            </a:r>
            <a:r>
              <a:rPr dirty="0"/>
              <a:t>of</a:t>
            </a:r>
            <a:r>
              <a:rPr spc="-80" dirty="0"/>
              <a:t> </a:t>
            </a:r>
            <a:r>
              <a:rPr dirty="0"/>
              <a:t>general</a:t>
            </a:r>
            <a:r>
              <a:rPr spc="-55" dirty="0"/>
              <a:t> </a:t>
            </a:r>
            <a:r>
              <a:rPr spc="-10" dirty="0"/>
              <a:t>abilities</a:t>
            </a:r>
            <a:r>
              <a:rPr lang="en-US" spc="-10" dirty="0"/>
              <a:t> in safety training process</a:t>
            </a:r>
            <a:endParaRPr spc="-10" dirty="0"/>
          </a:p>
        </p:txBody>
      </p:sp>
      <p:sp>
        <p:nvSpPr>
          <p:cNvPr id="4" name="object 4"/>
          <p:cNvSpPr txBox="1"/>
          <p:nvPr/>
        </p:nvSpPr>
        <p:spPr>
          <a:xfrm>
            <a:off x="252729" y="6423977"/>
            <a:ext cx="1481455" cy="266065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1550" dirty="0">
                <a:solidFill>
                  <a:srgbClr val="80350D"/>
                </a:solidFill>
                <a:latin typeface="Palatino Linotype"/>
                <a:cs typeface="Palatino Linotype"/>
              </a:rPr>
              <a:t>[Kim</a:t>
            </a:r>
            <a:r>
              <a:rPr sz="1550" spc="40" dirty="0">
                <a:solidFill>
                  <a:srgbClr val="80350D"/>
                </a:solidFill>
                <a:latin typeface="Palatino Linotype"/>
                <a:cs typeface="Palatino Linotype"/>
              </a:rPr>
              <a:t> </a:t>
            </a:r>
            <a:r>
              <a:rPr sz="1550" dirty="0">
                <a:solidFill>
                  <a:srgbClr val="80350D"/>
                </a:solidFill>
                <a:latin typeface="Palatino Linotype"/>
                <a:cs typeface="Palatino Linotype"/>
              </a:rPr>
              <a:t>et</a:t>
            </a:r>
            <a:r>
              <a:rPr sz="1550" spc="95" dirty="0">
                <a:solidFill>
                  <a:srgbClr val="80350D"/>
                </a:solidFill>
                <a:latin typeface="Palatino Linotype"/>
                <a:cs typeface="Palatino Linotype"/>
              </a:rPr>
              <a:t> </a:t>
            </a:r>
            <a:r>
              <a:rPr sz="1550" dirty="0">
                <a:solidFill>
                  <a:srgbClr val="80350D"/>
                </a:solidFill>
                <a:latin typeface="Palatino Linotype"/>
                <a:cs typeface="Palatino Linotype"/>
              </a:rPr>
              <a:t>al.</a:t>
            </a:r>
            <a:r>
              <a:rPr sz="1550" spc="70" dirty="0">
                <a:solidFill>
                  <a:srgbClr val="80350D"/>
                </a:solidFill>
                <a:latin typeface="Palatino Linotype"/>
                <a:cs typeface="Palatino Linotype"/>
              </a:rPr>
              <a:t> </a:t>
            </a:r>
            <a:r>
              <a:rPr sz="1550" spc="-20" dirty="0">
                <a:solidFill>
                  <a:srgbClr val="80350D"/>
                </a:solidFill>
                <a:latin typeface="Palatino Linotype"/>
                <a:cs typeface="Palatino Linotype"/>
              </a:rPr>
              <a:t>2025]</a:t>
            </a:r>
            <a:endParaRPr sz="1550">
              <a:latin typeface="Palatino Linotype"/>
              <a:cs typeface="Palatino Linotype"/>
            </a:endParaRP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dirty="0"/>
              <a:t>Defenses</a:t>
            </a:r>
            <a:r>
              <a:rPr spc="-55" dirty="0"/>
              <a:t> </a:t>
            </a:r>
            <a:r>
              <a:rPr dirty="0"/>
              <a:t>in</a:t>
            </a:r>
            <a:r>
              <a:rPr spc="-85" dirty="0"/>
              <a:t> </a:t>
            </a:r>
            <a:r>
              <a:rPr dirty="0"/>
              <a:t>other</a:t>
            </a:r>
            <a:r>
              <a:rPr spc="-65" dirty="0"/>
              <a:t> </a:t>
            </a:r>
            <a:r>
              <a:rPr dirty="0"/>
              <a:t>parts</a:t>
            </a:r>
            <a:r>
              <a:rPr spc="-45" dirty="0"/>
              <a:t> </a:t>
            </a:r>
            <a:r>
              <a:rPr dirty="0"/>
              <a:t>of</a:t>
            </a:r>
            <a:r>
              <a:rPr spc="-90" dirty="0"/>
              <a:t> </a:t>
            </a:r>
            <a:r>
              <a:rPr spc="-10" dirty="0"/>
              <a:t>pipeline</a:t>
            </a:r>
          </a:p>
        </p:txBody>
      </p:sp>
      <p:pic>
        <p:nvPicPr>
          <p:cNvPr id="3" name="object 3" descr="A diagram of a problem  AI-generated content may be incorrect.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3438525" y="2066925"/>
            <a:ext cx="5314950" cy="3314700"/>
          </a:xfrm>
          <a:prstGeom prst="rect">
            <a:avLst/>
          </a:prstGeom>
        </p:spPr>
      </p:pic>
      <p:sp>
        <p:nvSpPr>
          <p:cNvPr id="4" name="object 4"/>
          <p:cNvSpPr txBox="1"/>
          <p:nvPr/>
        </p:nvSpPr>
        <p:spPr>
          <a:xfrm>
            <a:off x="252729" y="6423977"/>
            <a:ext cx="7541895" cy="266065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1550" dirty="0">
                <a:solidFill>
                  <a:srgbClr val="80350D"/>
                </a:solidFill>
                <a:latin typeface="Palatino Linotype"/>
                <a:cs typeface="Palatino Linotype"/>
              </a:rPr>
              <a:t>[Testing</a:t>
            </a:r>
            <a:r>
              <a:rPr sz="1550" spc="160" dirty="0">
                <a:solidFill>
                  <a:srgbClr val="80350D"/>
                </a:solidFill>
                <a:latin typeface="Palatino Linotype"/>
                <a:cs typeface="Palatino Linotype"/>
              </a:rPr>
              <a:t> </a:t>
            </a:r>
            <a:r>
              <a:rPr sz="1550" dirty="0">
                <a:solidFill>
                  <a:srgbClr val="80350D"/>
                </a:solidFill>
                <a:latin typeface="Palatino Linotype"/>
                <a:cs typeface="Palatino Linotype"/>
              </a:rPr>
              <a:t>the</a:t>
            </a:r>
            <a:r>
              <a:rPr sz="1550" spc="130" dirty="0">
                <a:solidFill>
                  <a:srgbClr val="80350D"/>
                </a:solidFill>
                <a:latin typeface="Palatino Linotype"/>
                <a:cs typeface="Palatino Linotype"/>
              </a:rPr>
              <a:t> </a:t>
            </a:r>
            <a:r>
              <a:rPr sz="1550" dirty="0">
                <a:solidFill>
                  <a:srgbClr val="80350D"/>
                </a:solidFill>
                <a:latin typeface="Palatino Linotype"/>
                <a:cs typeface="Palatino Linotype"/>
              </a:rPr>
              <a:t>limits</a:t>
            </a:r>
            <a:r>
              <a:rPr sz="1550" spc="55" dirty="0">
                <a:solidFill>
                  <a:srgbClr val="80350D"/>
                </a:solidFill>
                <a:latin typeface="Palatino Linotype"/>
                <a:cs typeface="Palatino Linotype"/>
              </a:rPr>
              <a:t> </a:t>
            </a:r>
            <a:r>
              <a:rPr sz="1550" dirty="0">
                <a:solidFill>
                  <a:srgbClr val="80350D"/>
                </a:solidFill>
                <a:latin typeface="Palatino Linotype"/>
                <a:cs typeface="Palatino Linotype"/>
              </a:rPr>
              <a:t>of</a:t>
            </a:r>
            <a:r>
              <a:rPr sz="1550" spc="50" dirty="0">
                <a:solidFill>
                  <a:srgbClr val="80350D"/>
                </a:solidFill>
                <a:latin typeface="Palatino Linotype"/>
                <a:cs typeface="Palatino Linotype"/>
              </a:rPr>
              <a:t> </a:t>
            </a:r>
            <a:r>
              <a:rPr sz="1550" dirty="0">
                <a:solidFill>
                  <a:srgbClr val="80350D"/>
                </a:solidFill>
                <a:latin typeface="Palatino Linotype"/>
                <a:cs typeface="Palatino Linotype"/>
              </a:rPr>
              <a:t>jailbreaking</a:t>
            </a:r>
            <a:r>
              <a:rPr sz="1550" spc="75" dirty="0">
                <a:solidFill>
                  <a:srgbClr val="80350D"/>
                </a:solidFill>
                <a:latin typeface="Palatino Linotype"/>
                <a:cs typeface="Palatino Linotype"/>
              </a:rPr>
              <a:t> </a:t>
            </a:r>
            <a:r>
              <a:rPr sz="1550" dirty="0">
                <a:solidFill>
                  <a:srgbClr val="80350D"/>
                </a:solidFill>
                <a:latin typeface="Palatino Linotype"/>
                <a:cs typeface="Palatino Linotype"/>
              </a:rPr>
              <a:t>defenses</a:t>
            </a:r>
            <a:r>
              <a:rPr sz="1550" spc="150" dirty="0">
                <a:solidFill>
                  <a:srgbClr val="80350D"/>
                </a:solidFill>
                <a:latin typeface="Palatino Linotype"/>
                <a:cs typeface="Palatino Linotype"/>
              </a:rPr>
              <a:t> </a:t>
            </a:r>
            <a:r>
              <a:rPr sz="1550" dirty="0">
                <a:solidFill>
                  <a:srgbClr val="80350D"/>
                </a:solidFill>
                <a:latin typeface="Palatino Linotype"/>
                <a:cs typeface="Palatino Linotype"/>
              </a:rPr>
              <a:t>with</a:t>
            </a:r>
            <a:r>
              <a:rPr sz="1550" spc="114" dirty="0">
                <a:solidFill>
                  <a:srgbClr val="80350D"/>
                </a:solidFill>
                <a:latin typeface="Palatino Linotype"/>
                <a:cs typeface="Palatino Linotype"/>
              </a:rPr>
              <a:t> </a:t>
            </a:r>
            <a:r>
              <a:rPr sz="1550" dirty="0">
                <a:solidFill>
                  <a:srgbClr val="80350D"/>
                </a:solidFill>
                <a:latin typeface="Palatino Linotype"/>
                <a:cs typeface="Palatino Linotype"/>
              </a:rPr>
              <a:t>the</a:t>
            </a:r>
            <a:r>
              <a:rPr sz="1550" spc="125" dirty="0">
                <a:solidFill>
                  <a:srgbClr val="80350D"/>
                </a:solidFill>
                <a:latin typeface="Palatino Linotype"/>
                <a:cs typeface="Palatino Linotype"/>
              </a:rPr>
              <a:t> </a:t>
            </a:r>
            <a:r>
              <a:rPr sz="1550" dirty="0">
                <a:solidFill>
                  <a:srgbClr val="80350D"/>
                </a:solidFill>
                <a:latin typeface="Palatino Linotype"/>
                <a:cs typeface="Palatino Linotype"/>
              </a:rPr>
              <a:t>purple</a:t>
            </a:r>
            <a:r>
              <a:rPr sz="1550" spc="50" dirty="0">
                <a:solidFill>
                  <a:srgbClr val="80350D"/>
                </a:solidFill>
                <a:latin typeface="Palatino Linotype"/>
                <a:cs typeface="Palatino Linotype"/>
              </a:rPr>
              <a:t> </a:t>
            </a:r>
            <a:r>
              <a:rPr sz="1550" dirty="0">
                <a:solidFill>
                  <a:srgbClr val="80350D"/>
                </a:solidFill>
                <a:latin typeface="Palatino Linotype"/>
                <a:cs typeface="Palatino Linotype"/>
              </a:rPr>
              <a:t>problem.</a:t>
            </a:r>
            <a:r>
              <a:rPr sz="1550" spc="114" dirty="0">
                <a:solidFill>
                  <a:srgbClr val="80350D"/>
                </a:solidFill>
                <a:latin typeface="Palatino Linotype"/>
                <a:cs typeface="Palatino Linotype"/>
              </a:rPr>
              <a:t> </a:t>
            </a:r>
            <a:r>
              <a:rPr sz="1550" dirty="0">
                <a:solidFill>
                  <a:srgbClr val="80350D"/>
                </a:solidFill>
                <a:latin typeface="Palatino Linotype"/>
                <a:cs typeface="Palatino Linotype"/>
              </a:rPr>
              <a:t>Kim</a:t>
            </a:r>
            <a:r>
              <a:rPr sz="1550" spc="85" dirty="0">
                <a:solidFill>
                  <a:srgbClr val="80350D"/>
                </a:solidFill>
                <a:latin typeface="Palatino Linotype"/>
                <a:cs typeface="Palatino Linotype"/>
              </a:rPr>
              <a:t> </a:t>
            </a:r>
            <a:r>
              <a:rPr sz="1550" dirty="0">
                <a:solidFill>
                  <a:srgbClr val="80350D"/>
                </a:solidFill>
                <a:latin typeface="Palatino Linotype"/>
                <a:cs typeface="Palatino Linotype"/>
              </a:rPr>
              <a:t>et</a:t>
            </a:r>
            <a:r>
              <a:rPr sz="1550" spc="65" dirty="0">
                <a:solidFill>
                  <a:srgbClr val="80350D"/>
                </a:solidFill>
                <a:latin typeface="Palatino Linotype"/>
                <a:cs typeface="Palatino Linotype"/>
              </a:rPr>
              <a:t> </a:t>
            </a:r>
            <a:r>
              <a:rPr sz="1550" dirty="0">
                <a:solidFill>
                  <a:srgbClr val="80350D"/>
                </a:solidFill>
                <a:latin typeface="Palatino Linotype"/>
                <a:cs typeface="Palatino Linotype"/>
              </a:rPr>
              <a:t>al.</a:t>
            </a:r>
            <a:r>
              <a:rPr sz="1550" spc="114" dirty="0">
                <a:solidFill>
                  <a:srgbClr val="80350D"/>
                </a:solidFill>
                <a:latin typeface="Palatino Linotype"/>
                <a:cs typeface="Palatino Linotype"/>
              </a:rPr>
              <a:t> </a:t>
            </a:r>
            <a:r>
              <a:rPr sz="1550" spc="-10" dirty="0">
                <a:solidFill>
                  <a:srgbClr val="80350D"/>
                </a:solidFill>
                <a:latin typeface="Palatino Linotype"/>
                <a:cs typeface="Palatino Linotype"/>
              </a:rPr>
              <a:t>2025]</a:t>
            </a:r>
            <a:endParaRPr sz="1550">
              <a:latin typeface="Palatino Linotype"/>
              <a:cs typeface="Palatino Linotype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C3CEE8D6-EAE9-53BC-AC55-10A1674D7E5C}"/>
              </a:ext>
            </a:extLst>
          </p:cNvPr>
          <p:cNvSpPr txBox="1"/>
          <p:nvPr/>
        </p:nvSpPr>
        <p:spPr>
          <a:xfrm>
            <a:off x="4560888" y="5527029"/>
            <a:ext cx="307022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2400" b="1" dirty="0">
                <a:latin typeface="Palatino Linotype" panose="02040502050505030304" pitchFamily="18" charset="0"/>
              </a:rPr>
              <a:t>“Defense-in-Depth”</a:t>
            </a:r>
            <a:endParaRPr lang="ko-KR" altLang="en-US" sz="2400" b="1" dirty="0">
              <a:latin typeface="Palatino Linotype" panose="02040502050505030304" pitchFamily="18" charset="0"/>
            </a:endParaRP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252729" y="6423977"/>
            <a:ext cx="11462385" cy="266065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1550" dirty="0">
                <a:solidFill>
                  <a:srgbClr val="80350D"/>
                </a:solidFill>
                <a:latin typeface="Palatino Linotype"/>
                <a:cs typeface="Palatino Linotype"/>
              </a:rPr>
              <a:t>[Constitutional</a:t>
            </a:r>
            <a:r>
              <a:rPr sz="1550" spc="90" dirty="0">
                <a:solidFill>
                  <a:srgbClr val="80350D"/>
                </a:solidFill>
                <a:latin typeface="Palatino Linotype"/>
                <a:cs typeface="Palatino Linotype"/>
              </a:rPr>
              <a:t> </a:t>
            </a:r>
            <a:r>
              <a:rPr sz="1550" dirty="0">
                <a:solidFill>
                  <a:srgbClr val="80350D"/>
                </a:solidFill>
                <a:latin typeface="Palatino Linotype"/>
                <a:cs typeface="Palatino Linotype"/>
              </a:rPr>
              <a:t>Classifiers:</a:t>
            </a:r>
            <a:r>
              <a:rPr sz="1550" spc="175" dirty="0">
                <a:solidFill>
                  <a:srgbClr val="80350D"/>
                </a:solidFill>
                <a:latin typeface="Palatino Linotype"/>
                <a:cs typeface="Palatino Linotype"/>
              </a:rPr>
              <a:t> </a:t>
            </a:r>
            <a:r>
              <a:rPr sz="1550" dirty="0">
                <a:solidFill>
                  <a:srgbClr val="80350D"/>
                </a:solidFill>
                <a:latin typeface="Palatino Linotype"/>
                <a:cs typeface="Palatino Linotype"/>
              </a:rPr>
              <a:t>Defending</a:t>
            </a:r>
            <a:r>
              <a:rPr sz="1550" spc="130" dirty="0">
                <a:solidFill>
                  <a:srgbClr val="80350D"/>
                </a:solidFill>
                <a:latin typeface="Palatino Linotype"/>
                <a:cs typeface="Palatino Linotype"/>
              </a:rPr>
              <a:t> </a:t>
            </a:r>
            <a:r>
              <a:rPr sz="1550" dirty="0">
                <a:solidFill>
                  <a:srgbClr val="80350D"/>
                </a:solidFill>
                <a:latin typeface="Palatino Linotype"/>
                <a:cs typeface="Palatino Linotype"/>
              </a:rPr>
              <a:t>against</a:t>
            </a:r>
            <a:r>
              <a:rPr sz="1550" spc="120" dirty="0">
                <a:solidFill>
                  <a:srgbClr val="80350D"/>
                </a:solidFill>
                <a:latin typeface="Palatino Linotype"/>
                <a:cs typeface="Palatino Linotype"/>
              </a:rPr>
              <a:t> </a:t>
            </a:r>
            <a:r>
              <a:rPr sz="1550" dirty="0">
                <a:solidFill>
                  <a:srgbClr val="80350D"/>
                </a:solidFill>
                <a:latin typeface="Palatino Linotype"/>
                <a:cs typeface="Palatino Linotype"/>
              </a:rPr>
              <a:t>Universal</a:t>
            </a:r>
            <a:r>
              <a:rPr sz="1550" spc="90" dirty="0">
                <a:solidFill>
                  <a:srgbClr val="80350D"/>
                </a:solidFill>
                <a:latin typeface="Palatino Linotype"/>
                <a:cs typeface="Palatino Linotype"/>
              </a:rPr>
              <a:t> </a:t>
            </a:r>
            <a:r>
              <a:rPr sz="1550" dirty="0">
                <a:solidFill>
                  <a:srgbClr val="80350D"/>
                </a:solidFill>
                <a:latin typeface="Palatino Linotype"/>
                <a:cs typeface="Palatino Linotype"/>
              </a:rPr>
              <a:t>Jailbreaks</a:t>
            </a:r>
            <a:r>
              <a:rPr sz="1550" spc="210" dirty="0">
                <a:solidFill>
                  <a:srgbClr val="80350D"/>
                </a:solidFill>
                <a:latin typeface="Palatino Linotype"/>
                <a:cs typeface="Palatino Linotype"/>
              </a:rPr>
              <a:t> </a:t>
            </a:r>
            <a:r>
              <a:rPr sz="1550" dirty="0">
                <a:solidFill>
                  <a:srgbClr val="80350D"/>
                </a:solidFill>
                <a:latin typeface="Palatino Linotype"/>
                <a:cs typeface="Palatino Linotype"/>
              </a:rPr>
              <a:t>across</a:t>
            </a:r>
            <a:r>
              <a:rPr sz="1550" spc="110" dirty="0">
                <a:solidFill>
                  <a:srgbClr val="80350D"/>
                </a:solidFill>
                <a:latin typeface="Palatino Linotype"/>
                <a:cs typeface="Palatino Linotype"/>
              </a:rPr>
              <a:t> </a:t>
            </a:r>
            <a:r>
              <a:rPr sz="1550" dirty="0">
                <a:solidFill>
                  <a:srgbClr val="80350D"/>
                </a:solidFill>
                <a:latin typeface="Palatino Linotype"/>
                <a:cs typeface="Palatino Linotype"/>
              </a:rPr>
              <a:t>Thousands</a:t>
            </a:r>
            <a:r>
              <a:rPr sz="1550" spc="210" dirty="0">
                <a:solidFill>
                  <a:srgbClr val="80350D"/>
                </a:solidFill>
                <a:latin typeface="Palatino Linotype"/>
                <a:cs typeface="Palatino Linotype"/>
              </a:rPr>
              <a:t> </a:t>
            </a:r>
            <a:r>
              <a:rPr sz="1550" dirty="0">
                <a:solidFill>
                  <a:srgbClr val="80350D"/>
                </a:solidFill>
                <a:latin typeface="Palatino Linotype"/>
                <a:cs typeface="Palatino Linotype"/>
              </a:rPr>
              <a:t>of</a:t>
            </a:r>
            <a:r>
              <a:rPr sz="1550" spc="200" dirty="0">
                <a:solidFill>
                  <a:srgbClr val="80350D"/>
                </a:solidFill>
                <a:latin typeface="Palatino Linotype"/>
                <a:cs typeface="Palatino Linotype"/>
              </a:rPr>
              <a:t> </a:t>
            </a:r>
            <a:r>
              <a:rPr sz="1550" dirty="0">
                <a:solidFill>
                  <a:srgbClr val="80350D"/>
                </a:solidFill>
                <a:latin typeface="Palatino Linotype"/>
                <a:cs typeface="Palatino Linotype"/>
              </a:rPr>
              <a:t>Hours</a:t>
            </a:r>
            <a:r>
              <a:rPr sz="1550" spc="110" dirty="0">
                <a:solidFill>
                  <a:srgbClr val="80350D"/>
                </a:solidFill>
                <a:latin typeface="Palatino Linotype"/>
                <a:cs typeface="Palatino Linotype"/>
              </a:rPr>
              <a:t> </a:t>
            </a:r>
            <a:r>
              <a:rPr sz="1550" dirty="0">
                <a:solidFill>
                  <a:srgbClr val="80350D"/>
                </a:solidFill>
                <a:latin typeface="Palatino Linotype"/>
                <a:cs typeface="Palatino Linotype"/>
              </a:rPr>
              <a:t>of</a:t>
            </a:r>
            <a:r>
              <a:rPr sz="1550" spc="105" dirty="0">
                <a:solidFill>
                  <a:srgbClr val="80350D"/>
                </a:solidFill>
                <a:latin typeface="Palatino Linotype"/>
                <a:cs typeface="Palatino Linotype"/>
              </a:rPr>
              <a:t> </a:t>
            </a:r>
            <a:r>
              <a:rPr sz="1550" dirty="0">
                <a:solidFill>
                  <a:srgbClr val="80350D"/>
                </a:solidFill>
                <a:latin typeface="Palatino Linotype"/>
                <a:cs typeface="Palatino Linotype"/>
              </a:rPr>
              <a:t>Red</a:t>
            </a:r>
            <a:r>
              <a:rPr sz="1550" spc="120" dirty="0">
                <a:solidFill>
                  <a:srgbClr val="80350D"/>
                </a:solidFill>
                <a:latin typeface="Palatino Linotype"/>
                <a:cs typeface="Palatino Linotype"/>
              </a:rPr>
              <a:t> </a:t>
            </a:r>
            <a:r>
              <a:rPr sz="1550" dirty="0">
                <a:solidFill>
                  <a:srgbClr val="80350D"/>
                </a:solidFill>
                <a:latin typeface="Palatino Linotype"/>
                <a:cs typeface="Palatino Linotype"/>
              </a:rPr>
              <a:t>Teaming.</a:t>
            </a:r>
            <a:r>
              <a:rPr sz="1550" spc="75" dirty="0">
                <a:solidFill>
                  <a:srgbClr val="80350D"/>
                </a:solidFill>
                <a:latin typeface="Palatino Linotype"/>
                <a:cs typeface="Palatino Linotype"/>
              </a:rPr>
              <a:t> </a:t>
            </a:r>
            <a:r>
              <a:rPr sz="1550" dirty="0">
                <a:solidFill>
                  <a:srgbClr val="80350D"/>
                </a:solidFill>
                <a:latin typeface="Palatino Linotype"/>
                <a:cs typeface="Palatino Linotype"/>
              </a:rPr>
              <a:t>Anthropic</a:t>
            </a:r>
            <a:r>
              <a:rPr sz="1550" spc="70" dirty="0">
                <a:solidFill>
                  <a:srgbClr val="80350D"/>
                </a:solidFill>
                <a:latin typeface="Palatino Linotype"/>
                <a:cs typeface="Palatino Linotype"/>
              </a:rPr>
              <a:t> </a:t>
            </a:r>
            <a:r>
              <a:rPr sz="1550" spc="-10" dirty="0">
                <a:solidFill>
                  <a:srgbClr val="80350D"/>
                </a:solidFill>
                <a:latin typeface="Palatino Linotype"/>
                <a:cs typeface="Palatino Linotype"/>
              </a:rPr>
              <a:t>2025]</a:t>
            </a:r>
            <a:endParaRPr sz="1550">
              <a:latin typeface="Palatino Linotype"/>
              <a:cs typeface="Palatino Linotype"/>
            </a:endParaRPr>
          </a:p>
        </p:txBody>
      </p:sp>
      <p:sp>
        <p:nvSpPr>
          <p:cNvPr id="3" name="object 3" descr="$PPTXTitle"/>
          <p:cNvSpPr txBox="1">
            <a:spLocks noGrp="1"/>
          </p:cNvSpPr>
          <p:nvPr>
            <p:ph type="title"/>
          </p:nvPr>
        </p:nvSpPr>
        <p:spPr>
          <a:xfrm>
            <a:off x="838200" y="681016"/>
            <a:ext cx="10515600" cy="693780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dirty="0">
                <a:latin typeface="Palatino Linotype" panose="02040502050505030304" pitchFamily="18" charset="0"/>
              </a:rPr>
              <a:t>Constitutional</a:t>
            </a:r>
            <a:r>
              <a:rPr spc="-200" dirty="0"/>
              <a:t> </a:t>
            </a:r>
            <a:r>
              <a:rPr spc="-10" dirty="0"/>
              <a:t>classifiers</a:t>
            </a:r>
          </a:p>
        </p:txBody>
      </p:sp>
      <p:pic>
        <p:nvPicPr>
          <p:cNvPr id="4" name="object 4" descr="A diagram of constitution  AI-generated content may be incorrect.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771775" y="1466850"/>
            <a:ext cx="6648450" cy="4838700"/>
          </a:xfrm>
          <a:prstGeom prst="rect">
            <a:avLst/>
          </a:prstGeom>
        </p:spPr>
      </p:pic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dirty="0"/>
              <a:t>Safety</a:t>
            </a:r>
            <a:r>
              <a:rPr spc="-114" dirty="0"/>
              <a:t> </a:t>
            </a:r>
            <a:r>
              <a:rPr spc="-10" dirty="0"/>
              <a:t>pretraining</a:t>
            </a:r>
          </a:p>
        </p:txBody>
      </p:sp>
      <p:pic>
        <p:nvPicPr>
          <p:cNvPr id="3" name="object 3" descr="A diagram of a diagram  AI-generated content may be incorrect.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838200" y="1619250"/>
            <a:ext cx="10515600" cy="3390900"/>
          </a:xfrm>
          <a:prstGeom prst="rect">
            <a:avLst/>
          </a:prstGeom>
        </p:spPr>
      </p:pic>
      <p:sp>
        <p:nvSpPr>
          <p:cNvPr id="4" name="object 4"/>
          <p:cNvSpPr txBox="1"/>
          <p:nvPr/>
        </p:nvSpPr>
        <p:spPr>
          <a:xfrm>
            <a:off x="252729" y="6423977"/>
            <a:ext cx="6888480" cy="266065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1550" dirty="0">
                <a:solidFill>
                  <a:srgbClr val="80350D"/>
                </a:solidFill>
                <a:latin typeface="Palatino Linotype"/>
                <a:cs typeface="Palatino Linotype"/>
              </a:rPr>
              <a:t>[SafetyPretraining:</a:t>
            </a:r>
            <a:r>
              <a:rPr sz="1550" spc="100" dirty="0">
                <a:solidFill>
                  <a:srgbClr val="80350D"/>
                </a:solidFill>
                <a:latin typeface="Palatino Linotype"/>
                <a:cs typeface="Palatino Linotype"/>
              </a:rPr>
              <a:t> </a:t>
            </a:r>
            <a:r>
              <a:rPr sz="1550" dirty="0">
                <a:solidFill>
                  <a:srgbClr val="80350D"/>
                </a:solidFill>
                <a:latin typeface="Palatino Linotype"/>
                <a:cs typeface="Palatino Linotype"/>
              </a:rPr>
              <a:t>Toward</a:t>
            </a:r>
            <a:r>
              <a:rPr sz="1550" spc="135" dirty="0">
                <a:solidFill>
                  <a:srgbClr val="80350D"/>
                </a:solidFill>
                <a:latin typeface="Palatino Linotype"/>
                <a:cs typeface="Palatino Linotype"/>
              </a:rPr>
              <a:t> </a:t>
            </a:r>
            <a:r>
              <a:rPr sz="1550" dirty="0">
                <a:solidFill>
                  <a:srgbClr val="80350D"/>
                </a:solidFill>
                <a:latin typeface="Palatino Linotype"/>
                <a:cs typeface="Palatino Linotype"/>
              </a:rPr>
              <a:t>the</a:t>
            </a:r>
            <a:r>
              <a:rPr sz="1550" spc="110" dirty="0">
                <a:solidFill>
                  <a:srgbClr val="80350D"/>
                </a:solidFill>
                <a:latin typeface="Palatino Linotype"/>
                <a:cs typeface="Palatino Linotype"/>
              </a:rPr>
              <a:t> </a:t>
            </a:r>
            <a:r>
              <a:rPr sz="1550" dirty="0">
                <a:solidFill>
                  <a:srgbClr val="80350D"/>
                </a:solidFill>
                <a:latin typeface="Palatino Linotype"/>
                <a:cs typeface="Palatino Linotype"/>
              </a:rPr>
              <a:t>Next</a:t>
            </a:r>
            <a:r>
              <a:rPr sz="1550" spc="130" dirty="0">
                <a:solidFill>
                  <a:srgbClr val="80350D"/>
                </a:solidFill>
                <a:latin typeface="Palatino Linotype"/>
                <a:cs typeface="Palatino Linotype"/>
              </a:rPr>
              <a:t> </a:t>
            </a:r>
            <a:r>
              <a:rPr sz="1550" dirty="0">
                <a:solidFill>
                  <a:srgbClr val="80350D"/>
                </a:solidFill>
                <a:latin typeface="Palatino Linotype"/>
                <a:cs typeface="Palatino Linotype"/>
              </a:rPr>
              <a:t>Generation</a:t>
            </a:r>
            <a:r>
              <a:rPr sz="1550" spc="100" dirty="0">
                <a:solidFill>
                  <a:srgbClr val="80350D"/>
                </a:solidFill>
                <a:latin typeface="Palatino Linotype"/>
                <a:cs typeface="Palatino Linotype"/>
              </a:rPr>
              <a:t> </a:t>
            </a:r>
            <a:r>
              <a:rPr sz="1550" dirty="0">
                <a:solidFill>
                  <a:srgbClr val="80350D"/>
                </a:solidFill>
                <a:latin typeface="Palatino Linotype"/>
                <a:cs typeface="Palatino Linotype"/>
              </a:rPr>
              <a:t>of</a:t>
            </a:r>
            <a:r>
              <a:rPr sz="1550" spc="125" dirty="0">
                <a:solidFill>
                  <a:srgbClr val="80350D"/>
                </a:solidFill>
                <a:latin typeface="Palatino Linotype"/>
                <a:cs typeface="Palatino Linotype"/>
              </a:rPr>
              <a:t> </a:t>
            </a:r>
            <a:r>
              <a:rPr sz="1550" dirty="0">
                <a:solidFill>
                  <a:srgbClr val="80350D"/>
                </a:solidFill>
                <a:latin typeface="Palatino Linotype"/>
                <a:cs typeface="Palatino Linotype"/>
              </a:rPr>
              <a:t>Safe</a:t>
            </a:r>
            <a:r>
              <a:rPr sz="1550" spc="30" dirty="0">
                <a:solidFill>
                  <a:srgbClr val="80350D"/>
                </a:solidFill>
                <a:latin typeface="Palatino Linotype"/>
                <a:cs typeface="Palatino Linotype"/>
              </a:rPr>
              <a:t> </a:t>
            </a:r>
            <a:r>
              <a:rPr sz="1550" dirty="0">
                <a:solidFill>
                  <a:srgbClr val="80350D"/>
                </a:solidFill>
                <a:latin typeface="Palatino Linotype"/>
                <a:cs typeface="Palatino Linotype"/>
              </a:rPr>
              <a:t>AI.</a:t>
            </a:r>
            <a:r>
              <a:rPr sz="1550" spc="100" dirty="0">
                <a:solidFill>
                  <a:srgbClr val="80350D"/>
                </a:solidFill>
                <a:latin typeface="Palatino Linotype"/>
                <a:cs typeface="Palatino Linotype"/>
              </a:rPr>
              <a:t> </a:t>
            </a:r>
            <a:r>
              <a:rPr sz="1550" dirty="0">
                <a:solidFill>
                  <a:srgbClr val="80350D"/>
                </a:solidFill>
                <a:latin typeface="Palatino Linotype"/>
                <a:cs typeface="Palatino Linotype"/>
              </a:rPr>
              <a:t>Maini</a:t>
            </a:r>
            <a:r>
              <a:rPr sz="1550" spc="25" dirty="0">
                <a:solidFill>
                  <a:srgbClr val="80350D"/>
                </a:solidFill>
                <a:latin typeface="Palatino Linotype"/>
                <a:cs typeface="Palatino Linotype"/>
              </a:rPr>
              <a:t> </a:t>
            </a:r>
            <a:r>
              <a:rPr sz="1550" dirty="0">
                <a:solidFill>
                  <a:srgbClr val="80350D"/>
                </a:solidFill>
                <a:latin typeface="Palatino Linotype"/>
                <a:cs typeface="Palatino Linotype"/>
              </a:rPr>
              <a:t>et</a:t>
            </a:r>
            <a:r>
              <a:rPr sz="1550" spc="130" dirty="0">
                <a:solidFill>
                  <a:srgbClr val="80350D"/>
                </a:solidFill>
                <a:latin typeface="Palatino Linotype"/>
                <a:cs typeface="Palatino Linotype"/>
              </a:rPr>
              <a:t> </a:t>
            </a:r>
            <a:r>
              <a:rPr sz="1550" dirty="0">
                <a:solidFill>
                  <a:srgbClr val="80350D"/>
                </a:solidFill>
                <a:latin typeface="Palatino Linotype"/>
                <a:cs typeface="Palatino Linotype"/>
              </a:rPr>
              <a:t>al.</a:t>
            </a:r>
            <a:r>
              <a:rPr sz="1550" spc="100" dirty="0">
                <a:solidFill>
                  <a:srgbClr val="80350D"/>
                </a:solidFill>
                <a:latin typeface="Palatino Linotype"/>
                <a:cs typeface="Palatino Linotype"/>
              </a:rPr>
              <a:t> </a:t>
            </a:r>
            <a:r>
              <a:rPr sz="1550" spc="-10" dirty="0">
                <a:solidFill>
                  <a:srgbClr val="80350D"/>
                </a:solidFill>
                <a:latin typeface="Palatino Linotype"/>
                <a:cs typeface="Palatino Linotype"/>
              </a:rPr>
              <a:t>2025]</a:t>
            </a:r>
            <a:endParaRPr sz="1550">
              <a:latin typeface="Palatino Linotype"/>
              <a:cs typeface="Palatino Linotype"/>
            </a:endParaRP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xfrm>
            <a:off x="838200" y="681016"/>
            <a:ext cx="10515600" cy="693780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dirty="0">
                <a:latin typeface="Palatino Linotype" panose="02040502050505030304" pitchFamily="18" charset="0"/>
              </a:rPr>
              <a:t>Safety</a:t>
            </a:r>
            <a:r>
              <a:rPr spc="-90" dirty="0"/>
              <a:t> </a:t>
            </a:r>
            <a:r>
              <a:rPr dirty="0"/>
              <a:t>filtering</a:t>
            </a:r>
            <a:r>
              <a:rPr spc="-95" dirty="0"/>
              <a:t> </a:t>
            </a:r>
            <a:r>
              <a:rPr dirty="0"/>
              <a:t>when</a:t>
            </a:r>
            <a:r>
              <a:rPr spc="-55" dirty="0"/>
              <a:t> </a:t>
            </a:r>
            <a:r>
              <a:rPr spc="-20" dirty="0"/>
              <a:t>pre-</a:t>
            </a:r>
            <a:r>
              <a:rPr spc="-10" dirty="0"/>
              <a:t>training</a:t>
            </a:r>
          </a:p>
        </p:txBody>
      </p:sp>
      <p:pic>
        <p:nvPicPr>
          <p:cNvPr id="3" name="object 3" descr="A graph of data on a white background  AI-generated content may be incorrect.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381125" y="1828800"/>
            <a:ext cx="9429750" cy="4352925"/>
          </a:xfrm>
          <a:prstGeom prst="rect">
            <a:avLst/>
          </a:prstGeom>
        </p:spPr>
      </p:pic>
      <p:sp>
        <p:nvSpPr>
          <p:cNvPr id="4" name="object 4"/>
          <p:cNvSpPr txBox="1"/>
          <p:nvPr/>
        </p:nvSpPr>
        <p:spPr>
          <a:xfrm>
            <a:off x="252729" y="6423977"/>
            <a:ext cx="10630535" cy="266065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1550" dirty="0">
                <a:solidFill>
                  <a:srgbClr val="80350D"/>
                </a:solidFill>
                <a:latin typeface="Palatino Linotype"/>
                <a:cs typeface="Palatino Linotype"/>
              </a:rPr>
              <a:t>[Deep</a:t>
            </a:r>
            <a:r>
              <a:rPr sz="1550" spc="135" dirty="0">
                <a:solidFill>
                  <a:srgbClr val="80350D"/>
                </a:solidFill>
                <a:latin typeface="Palatino Linotype"/>
                <a:cs typeface="Palatino Linotype"/>
              </a:rPr>
              <a:t> </a:t>
            </a:r>
            <a:r>
              <a:rPr sz="1550" dirty="0">
                <a:solidFill>
                  <a:srgbClr val="80350D"/>
                </a:solidFill>
                <a:latin typeface="Palatino Linotype"/>
                <a:cs typeface="Palatino Linotype"/>
              </a:rPr>
              <a:t>ignorance:</a:t>
            </a:r>
            <a:r>
              <a:rPr sz="1550" spc="75" dirty="0">
                <a:solidFill>
                  <a:srgbClr val="80350D"/>
                </a:solidFill>
                <a:latin typeface="Palatino Linotype"/>
                <a:cs typeface="Palatino Linotype"/>
              </a:rPr>
              <a:t> </a:t>
            </a:r>
            <a:r>
              <a:rPr sz="1550" dirty="0">
                <a:solidFill>
                  <a:srgbClr val="80350D"/>
                </a:solidFill>
                <a:latin typeface="Palatino Linotype"/>
                <a:cs typeface="Palatino Linotype"/>
              </a:rPr>
              <a:t>filtering</a:t>
            </a:r>
            <a:r>
              <a:rPr sz="1550" spc="130" dirty="0">
                <a:solidFill>
                  <a:srgbClr val="80350D"/>
                </a:solidFill>
                <a:latin typeface="Palatino Linotype"/>
                <a:cs typeface="Palatino Linotype"/>
              </a:rPr>
              <a:t> </a:t>
            </a:r>
            <a:r>
              <a:rPr sz="1550" dirty="0">
                <a:solidFill>
                  <a:srgbClr val="80350D"/>
                </a:solidFill>
                <a:latin typeface="Palatino Linotype"/>
                <a:cs typeface="Palatino Linotype"/>
              </a:rPr>
              <a:t>pretraining</a:t>
            </a:r>
            <a:r>
              <a:rPr sz="1550" spc="229" dirty="0">
                <a:solidFill>
                  <a:srgbClr val="80350D"/>
                </a:solidFill>
                <a:latin typeface="Palatino Linotype"/>
                <a:cs typeface="Palatino Linotype"/>
              </a:rPr>
              <a:t> </a:t>
            </a:r>
            <a:r>
              <a:rPr sz="1550" dirty="0">
                <a:solidFill>
                  <a:srgbClr val="80350D"/>
                </a:solidFill>
                <a:latin typeface="Palatino Linotype"/>
                <a:cs typeface="Palatino Linotype"/>
              </a:rPr>
              <a:t>data</a:t>
            </a:r>
            <a:r>
              <a:rPr sz="1550" spc="150" dirty="0">
                <a:solidFill>
                  <a:srgbClr val="80350D"/>
                </a:solidFill>
                <a:latin typeface="Palatino Linotype"/>
                <a:cs typeface="Palatino Linotype"/>
              </a:rPr>
              <a:t> </a:t>
            </a:r>
            <a:r>
              <a:rPr sz="1550" dirty="0">
                <a:solidFill>
                  <a:srgbClr val="80350D"/>
                </a:solidFill>
                <a:latin typeface="Palatino Linotype"/>
                <a:cs typeface="Palatino Linotype"/>
              </a:rPr>
              <a:t>builds</a:t>
            </a:r>
            <a:r>
              <a:rPr sz="1550" spc="210" dirty="0">
                <a:solidFill>
                  <a:srgbClr val="80350D"/>
                </a:solidFill>
                <a:latin typeface="Palatino Linotype"/>
                <a:cs typeface="Palatino Linotype"/>
              </a:rPr>
              <a:t> </a:t>
            </a:r>
            <a:r>
              <a:rPr sz="1550" dirty="0">
                <a:solidFill>
                  <a:srgbClr val="80350D"/>
                </a:solidFill>
                <a:latin typeface="Palatino Linotype"/>
                <a:cs typeface="Palatino Linotype"/>
              </a:rPr>
              <a:t>tamper-resistant</a:t>
            </a:r>
            <a:r>
              <a:rPr sz="1550" spc="125" dirty="0">
                <a:solidFill>
                  <a:srgbClr val="80350D"/>
                </a:solidFill>
                <a:latin typeface="Palatino Linotype"/>
                <a:cs typeface="Palatino Linotype"/>
              </a:rPr>
              <a:t> </a:t>
            </a:r>
            <a:r>
              <a:rPr sz="1550" dirty="0">
                <a:solidFill>
                  <a:srgbClr val="80350D"/>
                </a:solidFill>
                <a:latin typeface="Palatino Linotype"/>
                <a:cs typeface="Palatino Linotype"/>
              </a:rPr>
              <a:t>safeguards</a:t>
            </a:r>
            <a:r>
              <a:rPr sz="1550" spc="215" dirty="0">
                <a:solidFill>
                  <a:srgbClr val="80350D"/>
                </a:solidFill>
                <a:latin typeface="Palatino Linotype"/>
                <a:cs typeface="Palatino Linotype"/>
              </a:rPr>
              <a:t> </a:t>
            </a:r>
            <a:r>
              <a:rPr sz="1550" dirty="0">
                <a:solidFill>
                  <a:srgbClr val="80350D"/>
                </a:solidFill>
                <a:latin typeface="Palatino Linotype"/>
                <a:cs typeface="Palatino Linotype"/>
              </a:rPr>
              <a:t>into</a:t>
            </a:r>
            <a:r>
              <a:rPr sz="1550" spc="155" dirty="0">
                <a:solidFill>
                  <a:srgbClr val="80350D"/>
                </a:solidFill>
                <a:latin typeface="Palatino Linotype"/>
                <a:cs typeface="Palatino Linotype"/>
              </a:rPr>
              <a:t> </a:t>
            </a:r>
            <a:r>
              <a:rPr sz="1550" dirty="0">
                <a:solidFill>
                  <a:srgbClr val="80350D"/>
                </a:solidFill>
                <a:latin typeface="Palatino Linotype"/>
                <a:cs typeface="Palatino Linotype"/>
              </a:rPr>
              <a:t>open-weight</a:t>
            </a:r>
            <a:r>
              <a:rPr sz="1550" spc="170" dirty="0">
                <a:solidFill>
                  <a:srgbClr val="80350D"/>
                </a:solidFill>
                <a:latin typeface="Palatino Linotype"/>
                <a:cs typeface="Palatino Linotype"/>
              </a:rPr>
              <a:t> </a:t>
            </a:r>
            <a:r>
              <a:rPr sz="1550" dirty="0">
                <a:solidFill>
                  <a:srgbClr val="80350D"/>
                </a:solidFill>
                <a:latin typeface="Palatino Linotype"/>
                <a:cs typeface="Palatino Linotype"/>
              </a:rPr>
              <a:t>llms.</a:t>
            </a:r>
            <a:r>
              <a:rPr sz="1550" spc="175" dirty="0">
                <a:solidFill>
                  <a:srgbClr val="80350D"/>
                </a:solidFill>
                <a:latin typeface="Palatino Linotype"/>
                <a:cs typeface="Palatino Linotype"/>
              </a:rPr>
              <a:t> </a:t>
            </a:r>
            <a:r>
              <a:rPr sz="1550" dirty="0">
                <a:solidFill>
                  <a:srgbClr val="80350D"/>
                </a:solidFill>
                <a:latin typeface="Palatino Linotype"/>
                <a:cs typeface="Palatino Linotype"/>
              </a:rPr>
              <a:t>Brien</a:t>
            </a:r>
            <a:r>
              <a:rPr sz="1550" spc="85" dirty="0">
                <a:solidFill>
                  <a:srgbClr val="80350D"/>
                </a:solidFill>
                <a:latin typeface="Palatino Linotype"/>
                <a:cs typeface="Palatino Linotype"/>
              </a:rPr>
              <a:t> </a:t>
            </a:r>
            <a:r>
              <a:rPr sz="1550" dirty="0">
                <a:solidFill>
                  <a:srgbClr val="80350D"/>
                </a:solidFill>
                <a:latin typeface="Palatino Linotype"/>
                <a:cs typeface="Palatino Linotype"/>
              </a:rPr>
              <a:t>et</a:t>
            </a:r>
            <a:r>
              <a:rPr sz="1550" spc="114" dirty="0">
                <a:solidFill>
                  <a:srgbClr val="80350D"/>
                </a:solidFill>
                <a:latin typeface="Palatino Linotype"/>
                <a:cs typeface="Palatino Linotype"/>
              </a:rPr>
              <a:t> </a:t>
            </a:r>
            <a:r>
              <a:rPr sz="1550" dirty="0">
                <a:solidFill>
                  <a:srgbClr val="80350D"/>
                </a:solidFill>
                <a:latin typeface="Palatino Linotype"/>
                <a:cs typeface="Palatino Linotype"/>
              </a:rPr>
              <a:t>al.</a:t>
            </a:r>
            <a:r>
              <a:rPr sz="1550" spc="80" dirty="0">
                <a:solidFill>
                  <a:srgbClr val="80350D"/>
                </a:solidFill>
                <a:latin typeface="Palatino Linotype"/>
                <a:cs typeface="Palatino Linotype"/>
              </a:rPr>
              <a:t> </a:t>
            </a:r>
            <a:r>
              <a:rPr sz="1550" spc="-10" dirty="0">
                <a:solidFill>
                  <a:srgbClr val="80350D"/>
                </a:solidFill>
                <a:latin typeface="Palatino Linotype"/>
                <a:cs typeface="Palatino Linotype"/>
              </a:rPr>
              <a:t>2025]</a:t>
            </a:r>
            <a:endParaRPr sz="1550">
              <a:latin typeface="Palatino Linotype"/>
              <a:cs typeface="Palatino Linotype"/>
            </a:endParaRP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xfrm>
            <a:off x="838200" y="681016"/>
            <a:ext cx="10515600" cy="693780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dirty="0"/>
              <a:t>Can</a:t>
            </a:r>
            <a:r>
              <a:rPr spc="-55" dirty="0"/>
              <a:t> </a:t>
            </a:r>
            <a:r>
              <a:rPr dirty="0">
                <a:latin typeface="Palatino Linotype" panose="02040502050505030304" pitchFamily="18" charset="0"/>
              </a:rPr>
              <a:t>still</a:t>
            </a:r>
            <a:r>
              <a:rPr spc="-35" dirty="0"/>
              <a:t> </a:t>
            </a:r>
            <a:r>
              <a:rPr dirty="0"/>
              <a:t>learn</a:t>
            </a:r>
            <a:r>
              <a:rPr spc="-50" dirty="0"/>
              <a:t> </a:t>
            </a:r>
            <a:r>
              <a:rPr spc="-25" dirty="0"/>
              <a:t>“in-</a:t>
            </a:r>
            <a:r>
              <a:rPr spc="-10" dirty="0"/>
              <a:t>context”</a:t>
            </a:r>
          </a:p>
        </p:txBody>
      </p:sp>
      <p:pic>
        <p:nvPicPr>
          <p:cNvPr id="3" name="object 3" descr="A graph of green and grey bars  AI-generated content may be incorrect.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543175" y="1828800"/>
            <a:ext cx="7105650" cy="4352925"/>
          </a:xfrm>
          <a:prstGeom prst="rect">
            <a:avLst/>
          </a:prstGeom>
        </p:spPr>
      </p:pic>
      <p:sp>
        <p:nvSpPr>
          <p:cNvPr id="4" name="object 4"/>
          <p:cNvSpPr txBox="1"/>
          <p:nvPr/>
        </p:nvSpPr>
        <p:spPr>
          <a:xfrm>
            <a:off x="252729" y="6423977"/>
            <a:ext cx="10630535" cy="266065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1550" dirty="0">
                <a:solidFill>
                  <a:srgbClr val="80350D"/>
                </a:solidFill>
                <a:latin typeface="Palatino Linotype"/>
                <a:cs typeface="Palatino Linotype"/>
              </a:rPr>
              <a:t>[Deep</a:t>
            </a:r>
            <a:r>
              <a:rPr sz="1550" spc="135" dirty="0">
                <a:solidFill>
                  <a:srgbClr val="80350D"/>
                </a:solidFill>
                <a:latin typeface="Palatino Linotype"/>
                <a:cs typeface="Palatino Linotype"/>
              </a:rPr>
              <a:t> </a:t>
            </a:r>
            <a:r>
              <a:rPr sz="1550" dirty="0">
                <a:solidFill>
                  <a:srgbClr val="80350D"/>
                </a:solidFill>
                <a:latin typeface="Palatino Linotype"/>
                <a:cs typeface="Palatino Linotype"/>
              </a:rPr>
              <a:t>ignorance:</a:t>
            </a:r>
            <a:r>
              <a:rPr sz="1550" spc="75" dirty="0">
                <a:solidFill>
                  <a:srgbClr val="80350D"/>
                </a:solidFill>
                <a:latin typeface="Palatino Linotype"/>
                <a:cs typeface="Palatino Linotype"/>
              </a:rPr>
              <a:t> </a:t>
            </a:r>
            <a:r>
              <a:rPr sz="1550" dirty="0">
                <a:solidFill>
                  <a:srgbClr val="80350D"/>
                </a:solidFill>
                <a:latin typeface="Palatino Linotype"/>
                <a:cs typeface="Palatino Linotype"/>
              </a:rPr>
              <a:t>filtering</a:t>
            </a:r>
            <a:r>
              <a:rPr sz="1550" spc="130" dirty="0">
                <a:solidFill>
                  <a:srgbClr val="80350D"/>
                </a:solidFill>
                <a:latin typeface="Palatino Linotype"/>
                <a:cs typeface="Palatino Linotype"/>
              </a:rPr>
              <a:t> </a:t>
            </a:r>
            <a:r>
              <a:rPr sz="1550" dirty="0">
                <a:solidFill>
                  <a:srgbClr val="80350D"/>
                </a:solidFill>
                <a:latin typeface="Palatino Linotype"/>
                <a:cs typeface="Palatino Linotype"/>
              </a:rPr>
              <a:t>pretraining</a:t>
            </a:r>
            <a:r>
              <a:rPr sz="1550" spc="229" dirty="0">
                <a:solidFill>
                  <a:srgbClr val="80350D"/>
                </a:solidFill>
                <a:latin typeface="Palatino Linotype"/>
                <a:cs typeface="Palatino Linotype"/>
              </a:rPr>
              <a:t> </a:t>
            </a:r>
            <a:r>
              <a:rPr sz="1550" dirty="0">
                <a:solidFill>
                  <a:srgbClr val="80350D"/>
                </a:solidFill>
                <a:latin typeface="Palatino Linotype"/>
                <a:cs typeface="Palatino Linotype"/>
              </a:rPr>
              <a:t>data</a:t>
            </a:r>
            <a:r>
              <a:rPr sz="1550" spc="150" dirty="0">
                <a:solidFill>
                  <a:srgbClr val="80350D"/>
                </a:solidFill>
                <a:latin typeface="Palatino Linotype"/>
                <a:cs typeface="Palatino Linotype"/>
              </a:rPr>
              <a:t> </a:t>
            </a:r>
            <a:r>
              <a:rPr sz="1550" dirty="0">
                <a:solidFill>
                  <a:srgbClr val="80350D"/>
                </a:solidFill>
                <a:latin typeface="Palatino Linotype"/>
                <a:cs typeface="Palatino Linotype"/>
              </a:rPr>
              <a:t>builds</a:t>
            </a:r>
            <a:r>
              <a:rPr sz="1550" spc="210" dirty="0">
                <a:solidFill>
                  <a:srgbClr val="80350D"/>
                </a:solidFill>
                <a:latin typeface="Palatino Linotype"/>
                <a:cs typeface="Palatino Linotype"/>
              </a:rPr>
              <a:t> </a:t>
            </a:r>
            <a:r>
              <a:rPr sz="1550" dirty="0">
                <a:solidFill>
                  <a:srgbClr val="80350D"/>
                </a:solidFill>
                <a:latin typeface="Palatino Linotype"/>
                <a:cs typeface="Palatino Linotype"/>
              </a:rPr>
              <a:t>tamper-resistant</a:t>
            </a:r>
            <a:r>
              <a:rPr sz="1550" spc="125" dirty="0">
                <a:solidFill>
                  <a:srgbClr val="80350D"/>
                </a:solidFill>
                <a:latin typeface="Palatino Linotype"/>
                <a:cs typeface="Palatino Linotype"/>
              </a:rPr>
              <a:t> </a:t>
            </a:r>
            <a:r>
              <a:rPr sz="1550" dirty="0">
                <a:solidFill>
                  <a:srgbClr val="80350D"/>
                </a:solidFill>
                <a:latin typeface="Palatino Linotype"/>
                <a:cs typeface="Palatino Linotype"/>
              </a:rPr>
              <a:t>safeguards</a:t>
            </a:r>
            <a:r>
              <a:rPr sz="1550" spc="215" dirty="0">
                <a:solidFill>
                  <a:srgbClr val="80350D"/>
                </a:solidFill>
                <a:latin typeface="Palatino Linotype"/>
                <a:cs typeface="Palatino Linotype"/>
              </a:rPr>
              <a:t> </a:t>
            </a:r>
            <a:r>
              <a:rPr sz="1550" dirty="0">
                <a:solidFill>
                  <a:srgbClr val="80350D"/>
                </a:solidFill>
                <a:latin typeface="Palatino Linotype"/>
                <a:cs typeface="Palatino Linotype"/>
              </a:rPr>
              <a:t>into</a:t>
            </a:r>
            <a:r>
              <a:rPr sz="1550" spc="155" dirty="0">
                <a:solidFill>
                  <a:srgbClr val="80350D"/>
                </a:solidFill>
                <a:latin typeface="Palatino Linotype"/>
                <a:cs typeface="Palatino Linotype"/>
              </a:rPr>
              <a:t> </a:t>
            </a:r>
            <a:r>
              <a:rPr sz="1550" dirty="0">
                <a:solidFill>
                  <a:srgbClr val="80350D"/>
                </a:solidFill>
                <a:latin typeface="Palatino Linotype"/>
                <a:cs typeface="Palatino Linotype"/>
              </a:rPr>
              <a:t>open-weight</a:t>
            </a:r>
            <a:r>
              <a:rPr sz="1550" spc="170" dirty="0">
                <a:solidFill>
                  <a:srgbClr val="80350D"/>
                </a:solidFill>
                <a:latin typeface="Palatino Linotype"/>
                <a:cs typeface="Palatino Linotype"/>
              </a:rPr>
              <a:t> </a:t>
            </a:r>
            <a:r>
              <a:rPr sz="1550" dirty="0">
                <a:solidFill>
                  <a:srgbClr val="80350D"/>
                </a:solidFill>
                <a:latin typeface="Palatino Linotype"/>
                <a:cs typeface="Palatino Linotype"/>
              </a:rPr>
              <a:t>llms.</a:t>
            </a:r>
            <a:r>
              <a:rPr sz="1550" spc="175" dirty="0">
                <a:solidFill>
                  <a:srgbClr val="80350D"/>
                </a:solidFill>
                <a:latin typeface="Palatino Linotype"/>
                <a:cs typeface="Palatino Linotype"/>
              </a:rPr>
              <a:t> </a:t>
            </a:r>
            <a:r>
              <a:rPr sz="1550" dirty="0">
                <a:solidFill>
                  <a:srgbClr val="80350D"/>
                </a:solidFill>
                <a:latin typeface="Palatino Linotype"/>
                <a:cs typeface="Palatino Linotype"/>
              </a:rPr>
              <a:t>Brien</a:t>
            </a:r>
            <a:r>
              <a:rPr sz="1550" spc="85" dirty="0">
                <a:solidFill>
                  <a:srgbClr val="80350D"/>
                </a:solidFill>
                <a:latin typeface="Palatino Linotype"/>
                <a:cs typeface="Palatino Linotype"/>
              </a:rPr>
              <a:t> </a:t>
            </a:r>
            <a:r>
              <a:rPr sz="1550" dirty="0">
                <a:solidFill>
                  <a:srgbClr val="80350D"/>
                </a:solidFill>
                <a:latin typeface="Palatino Linotype"/>
                <a:cs typeface="Palatino Linotype"/>
              </a:rPr>
              <a:t>et</a:t>
            </a:r>
            <a:r>
              <a:rPr sz="1550" spc="114" dirty="0">
                <a:solidFill>
                  <a:srgbClr val="80350D"/>
                </a:solidFill>
                <a:latin typeface="Palatino Linotype"/>
                <a:cs typeface="Palatino Linotype"/>
              </a:rPr>
              <a:t> </a:t>
            </a:r>
            <a:r>
              <a:rPr sz="1550" dirty="0">
                <a:solidFill>
                  <a:srgbClr val="80350D"/>
                </a:solidFill>
                <a:latin typeface="Palatino Linotype"/>
                <a:cs typeface="Palatino Linotype"/>
              </a:rPr>
              <a:t>al.</a:t>
            </a:r>
            <a:r>
              <a:rPr sz="1550" spc="80" dirty="0">
                <a:solidFill>
                  <a:srgbClr val="80350D"/>
                </a:solidFill>
                <a:latin typeface="Palatino Linotype"/>
                <a:cs typeface="Palatino Linotype"/>
              </a:rPr>
              <a:t> </a:t>
            </a:r>
            <a:r>
              <a:rPr sz="1550" spc="-10" dirty="0">
                <a:solidFill>
                  <a:srgbClr val="80350D"/>
                </a:solidFill>
                <a:latin typeface="Palatino Linotype"/>
                <a:cs typeface="Palatino Linotype"/>
              </a:rPr>
              <a:t>2025]</a:t>
            </a:r>
            <a:endParaRPr sz="1550" dirty="0">
              <a:latin typeface="Palatino Linotype"/>
              <a:cs typeface="Palatino Linotype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맑은 고딕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2007</TotalTime>
  <Words>1222</Words>
  <Application>Microsoft Office PowerPoint</Application>
  <PresentationFormat>와이드스크린</PresentationFormat>
  <Paragraphs>177</Paragraphs>
  <Slides>33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4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33</vt:i4>
      </vt:variant>
    </vt:vector>
  </HeadingPairs>
  <TitlesOfParts>
    <vt:vector size="38" baseType="lpstr">
      <vt:lpstr>맑은 고딕</vt:lpstr>
      <vt:lpstr>Arial</vt:lpstr>
      <vt:lpstr>Palatino Linotype</vt:lpstr>
      <vt:lpstr>Wingdings</vt:lpstr>
      <vt:lpstr>Office 테마</vt:lpstr>
      <vt:lpstr>Language model alignment and  adversarial training</vt:lpstr>
      <vt:lpstr>Brief intro to language modeling</vt:lpstr>
      <vt:lpstr>Data</vt:lpstr>
      <vt:lpstr>Web data</vt:lpstr>
      <vt:lpstr>Web data</vt:lpstr>
      <vt:lpstr>A base model?</vt:lpstr>
      <vt:lpstr>Instruction following</vt:lpstr>
      <vt:lpstr>Safety and content moderation</vt:lpstr>
      <vt:lpstr>Post-training</vt:lpstr>
      <vt:lpstr>FLAN dataset</vt:lpstr>
      <vt:lpstr>Random examples from Alpaca dataset</vt:lpstr>
      <vt:lpstr>Instruction following</vt:lpstr>
      <vt:lpstr>Preference data</vt:lpstr>
      <vt:lpstr>Human Preferences as a Reward Signal</vt:lpstr>
      <vt:lpstr>Why This Matters for RLHF</vt:lpstr>
      <vt:lpstr>How to use preference pairs</vt:lpstr>
      <vt:lpstr>PowerPoint 프레젠테이션</vt:lpstr>
      <vt:lpstr>End result</vt:lpstr>
      <vt:lpstr>Shortcuts with such safety alignment</vt:lpstr>
      <vt:lpstr>Shortcuts with such safety alignment</vt:lpstr>
      <vt:lpstr>Data augmentation with safety recovery</vt:lpstr>
      <vt:lpstr>Circuit Breakers</vt:lpstr>
      <vt:lpstr>Circuit Breakers</vt:lpstr>
      <vt:lpstr>Circuit Breakers</vt:lpstr>
      <vt:lpstr>Circuit Breakers</vt:lpstr>
      <vt:lpstr>Latent adversarial training</vt:lpstr>
      <vt:lpstr>Deliberative alignment</vt:lpstr>
      <vt:lpstr>Training adaptive reasoners for safety</vt:lpstr>
      <vt:lpstr>Defenses in other parts of pipeline</vt:lpstr>
      <vt:lpstr>Constitutional classifiers</vt:lpstr>
      <vt:lpstr>Safety pretraining</vt:lpstr>
      <vt:lpstr>Safety filtering when pre-training</vt:lpstr>
      <vt:lpstr>Can still learn “in-context”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>채상준</cp:lastModifiedBy>
  <cp:revision>30</cp:revision>
  <dcterms:created xsi:type="dcterms:W3CDTF">2026-08-12T10:56:35Z</dcterms:created>
  <dcterms:modified xsi:type="dcterms:W3CDTF">2026-08-20T00:20:12Z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2025-09-15T00:00:00Z</vt:filetime>
  </property>
  <property fmtid="{D5CDD505-2E9C-101B-9397-08002B2CF9AE}" pid="3" name="LastSaved">
    <vt:filetime>2026-08-12T00:00:00Z</vt:filetime>
  </property>
</Properties>
</file>
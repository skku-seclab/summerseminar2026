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3" r:id="rId6"/>
    <p:sldId id="260" r:id="rId7"/>
    <p:sldId id="261" r:id="rId8"/>
    <p:sldId id="262" r:id="rId9"/>
    <p:sldId id="269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508" autoAdjust="0"/>
  </p:normalViewPr>
  <p:slideViewPr>
    <p:cSldViewPr snapToGrid="0">
      <p:cViewPr varScale="1">
        <p:scale>
          <a:sx n="88" d="100"/>
          <a:sy n="88" d="100"/>
        </p:scale>
        <p:origin x="13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9FFC-7624-4503-B656-975D03860CC7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EBCC7-06C1-4C5B-A893-4DEBBC4509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94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EBCC7-06C1-4C5B-A893-4DEBBC4509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7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EBCC7-06C1-4C5B-A893-4DEBBC4509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803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EBCC7-06C1-4C5B-A893-4DEBBC45094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786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7AE8D-1210-779D-8BAB-3DF2F8149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2EF675-0916-A0F7-57CB-4F702747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8F675-7A50-1090-56CA-4DC32C52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D9F6-A8BE-45C3-9A3C-9597E037B860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2BB5C-BD03-A274-CF80-1D1D302D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EA7122-1E8C-0BE8-52F6-C99D834E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694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73AEA-E353-A09D-B830-920A930C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20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E0ED3-410C-235D-0B49-45E33D48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247"/>
            <a:ext cx="10515600" cy="471571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C9F64-C58C-2833-7A57-BC90A092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64AA-D624-4969-A7A7-E0A8FCC32CE3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3869DE-23BB-F708-4870-D2ED2813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8F7FC-1786-48EB-213D-A54E197E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2028C4-D8D6-22CC-97E3-A9359DABFC6F}"/>
              </a:ext>
            </a:extLst>
          </p:cNvPr>
          <p:cNvSpPr/>
          <p:nvPr userDrawn="1"/>
        </p:nvSpPr>
        <p:spPr>
          <a:xfrm>
            <a:off x="829234" y="1221771"/>
            <a:ext cx="10524566" cy="53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89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C56A6-D051-D730-543B-5A5516D4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DB289-98A5-C015-13C2-59E2385F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945BB-88A7-963B-6021-E6DD1DCF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F46A-3674-4EAE-B191-C26A83944C56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57A65-3CE6-EDB0-B350-0D6D7081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B1E04-3B49-7DCD-78D1-E34C389D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72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B0866-1AAD-DC0B-E590-45FAB7AB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48A797-7956-4DCB-BA92-E432508D5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83D306-E4C9-E165-2E89-7ECB3832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4F669C-0E21-7020-D833-19381C30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62E0-00FD-4B36-B6DA-DBA95FBD8396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68946-6985-B3DB-CE0E-253CF0D6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18B2A4-DE8F-3958-8AD7-6D36A8C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20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22692-640F-F612-86E7-E2658D53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D6E4D1-60FF-62DB-9067-91ECD55F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39776-D2CB-8229-7C7F-51F3BB7E7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3FB8A8-EDDB-3248-4CE9-8F36AAA89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3F5C1-6075-D41E-9A04-1D961047B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6439AD-24C3-943B-9584-F847F89C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E068-D976-46E3-846D-CD475F943A72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CE47BE-4E73-0445-6DE7-F46FF94F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AABAF-0DA4-B7AA-FC98-6589EECB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344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2F9C4-1710-9390-D71A-E847466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5B1F97-35C4-83BB-123E-83A74A89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E92F-5F23-468F-909B-9133492F3A15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6F32A6-F437-F4E4-3B24-B7344029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736631-94D5-1275-9B85-EF5E3A9B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06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9A4DB0-DD13-19D6-698C-BFDB6D58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6D55-D40D-481C-8A32-4778E578D022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352B15-E6E5-4ABB-0C70-13B84CA6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6047B-35CE-9774-5221-5FF7B18B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63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9F0D1-8BA5-B7CF-B5E0-53E27790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AA9A2-CA4B-91C3-29AF-59729BFC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86C97-8067-ACAB-7532-E1ABBD03D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F24823-F6A2-1C4D-2769-BCFD3D32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41C1-D676-483C-982F-007B7994A095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5F7506-8AD7-B25E-51E0-23BCEEAC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10E2F-2A51-F62C-37CC-86946585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48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B16E7-B47C-3A62-8B8C-2CC82324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3DC7A9-2756-8A24-DA8A-A67776D5B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AC9E32-8432-13D7-2D54-070B59AE2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1C502-312D-27C5-2D90-7EAE6E30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97CB-1602-4A98-837F-25FE31CAB156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E2CB9-24F2-4294-F20A-20366A9B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C0322-7E8A-FF08-35D2-BBBF8B7D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94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D3FB6-92A3-F0E1-C9B6-C7549CCE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CC16DD-DD73-C912-D0B4-AEE6AD730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C4C37-260E-3F08-E1C8-FA74DD05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55FF6-F6F5-41DC-B4B6-7612D110284D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0ECFEA-0F82-97FC-B2CF-91296EC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756E8-5BFB-27C7-E144-E15B7CAB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7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21DAC7-1B6D-7F3B-B86F-EB9DFB7A0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82A8B8-606E-0547-F46C-3088A04E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3B3D4B-B184-4DEB-DCAF-65EEE376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41EF-B900-49BB-AFE4-943DDEB90061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2FB83-08FC-B83C-6C28-90293722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D1496-1308-6367-4430-72867113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1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A0F9C1-511B-2889-D8FA-849230C1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104FB-D487-DEE2-E838-C1DFCCB5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7263DC-C0D0-76D4-302F-B2B798573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7F544-D09F-4272-94E6-C59F1545496F}" type="datetime1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645068-6C9D-53F6-B03E-6B039C584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322CE-65D0-AA22-6F24-470F2F41D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76704-8E33-4C98-AD21-4126A9A321C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95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3A65B-E16B-40A8-EFC5-6CC761966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491" y="2028908"/>
            <a:ext cx="10702636" cy="1315403"/>
          </a:xfrm>
        </p:spPr>
        <p:txBody>
          <a:bodyPr>
            <a:noAutofit/>
          </a:bodyPr>
          <a:lstStyle/>
          <a:p>
            <a:r>
              <a:rPr lang="ko-KR" altLang="ko-KR" sz="4400" dirty="0" err="1"/>
              <a:t>Generalization</a:t>
            </a:r>
            <a:r>
              <a:rPr lang="ko-KR" altLang="ko-KR" sz="4400" dirty="0"/>
              <a:t>: </a:t>
            </a:r>
            <a:r>
              <a:rPr lang="ko-KR" altLang="ko-KR" sz="4400" dirty="0" err="1"/>
              <a:t>adversarially</a:t>
            </a:r>
            <a:r>
              <a:rPr lang="ko-KR" altLang="ko-KR" sz="4400" dirty="0"/>
              <a:t> </a:t>
            </a:r>
            <a:r>
              <a:rPr lang="ko-KR" altLang="ko-KR" sz="4400" dirty="0" err="1"/>
              <a:t>robust</a:t>
            </a:r>
            <a:r>
              <a:rPr lang="ko-KR" altLang="ko-KR" sz="4400" dirty="0"/>
              <a:t> </a:t>
            </a:r>
            <a:br>
              <a:rPr lang="en-US" altLang="ko-KR" sz="4400" dirty="0"/>
            </a:br>
            <a:r>
              <a:rPr lang="ko-KR" altLang="ko-KR" sz="4400" dirty="0" err="1"/>
              <a:t>vs</a:t>
            </a:r>
            <a:r>
              <a:rPr lang="ko-KR" altLang="ko-KR" sz="4400" dirty="0"/>
              <a:t> </a:t>
            </a:r>
            <a:r>
              <a:rPr lang="ko-KR" altLang="ko-KR" sz="4400" dirty="0" err="1"/>
              <a:t>standard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892D90-B940-7040-E413-165401775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7568"/>
            <a:ext cx="9144000" cy="1315403"/>
          </a:xfrm>
        </p:spPr>
        <p:txBody>
          <a:bodyPr/>
          <a:lstStyle/>
          <a:p>
            <a:r>
              <a:rPr lang="en-US" altLang="ko-KR" dirty="0"/>
              <a:t>2026 Textbook Seminar</a:t>
            </a:r>
          </a:p>
          <a:p>
            <a:r>
              <a:rPr lang="en-US" altLang="ko-KR" sz="1800" dirty="0" err="1"/>
              <a:t>Jungho</a:t>
            </a:r>
            <a:r>
              <a:rPr lang="en-US" altLang="ko-KR" sz="1800" dirty="0"/>
              <a:t> Oh</a:t>
            </a:r>
            <a:endParaRPr lang="ko-KR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3DAEB-4552-61F4-A0D1-478592B62E90}"/>
              </a:ext>
            </a:extLst>
          </p:cNvPr>
          <p:cNvSpPr txBox="1"/>
          <p:nvPr/>
        </p:nvSpPr>
        <p:spPr>
          <a:xfrm>
            <a:off x="2922255" y="3947774"/>
            <a:ext cx="647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Adversarially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Generalization</a:t>
            </a:r>
            <a:r>
              <a:rPr lang="ko-KR" altLang="ko-KR" dirty="0"/>
              <a:t> </a:t>
            </a:r>
            <a:r>
              <a:rPr lang="ko-KR" altLang="ko-KR" dirty="0" err="1"/>
              <a:t>Requires</a:t>
            </a:r>
            <a:r>
              <a:rPr lang="ko-KR" altLang="ko-KR" dirty="0"/>
              <a:t> </a:t>
            </a:r>
            <a:r>
              <a:rPr lang="ko-KR" altLang="ko-KR" dirty="0" err="1"/>
              <a:t>More</a:t>
            </a:r>
            <a:r>
              <a:rPr lang="ko-KR" altLang="ko-KR" dirty="0"/>
              <a:t> Data</a:t>
            </a:r>
            <a:br>
              <a:rPr lang="ko-KR" altLang="ko-KR" dirty="0"/>
            </a:br>
            <a:r>
              <a:rPr lang="ko-KR" altLang="ko-KR" dirty="0" err="1"/>
              <a:t>Overfitting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adversarially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deep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665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DC39B-969F-AE6B-E6FF-FBA146C9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248C0E-59D9-C270-7878-A853F8903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ko-KR" dirty="0" err="1"/>
                  <a:t>Generate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adversarial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example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ko-KR" dirty="0" err="1"/>
                  <a:t>using</a:t>
                </a:r>
                <a:r>
                  <a:rPr lang="ko-KR" altLang="ko-KR" dirty="0"/>
                  <a:t> PGD</a:t>
                </a:r>
                <a:endParaRPr lang="en-US" altLang="ko-KR" dirty="0"/>
              </a:p>
              <a:p>
                <a:r>
                  <a:rPr lang="ko-KR" altLang="ko-KR" dirty="0" err="1"/>
                  <a:t>Keep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the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original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label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y</a:t>
                </a:r>
                <a:endParaRPr lang="en-US" altLang="ko-KR" dirty="0"/>
              </a:p>
              <a:p>
                <a:r>
                  <a:rPr lang="ko-KR" altLang="ko-KR" dirty="0" err="1"/>
                  <a:t>Train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the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to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predict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y</a:t>
                </a:r>
                <a:endParaRPr lang="en-US" altLang="ko-KR" dirty="0"/>
              </a:p>
              <a:p>
                <a:r>
                  <a:rPr lang="ko-KR" altLang="ko-KR" dirty="0" err="1"/>
                  <a:t>Repeat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this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process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for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each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batch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248C0E-59D9-C270-7878-A853F8903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F85DF-9C0A-2A86-B01F-D1347D25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218AAA7-5E14-D16B-F20D-2E7DD96ADF24}"/>
              </a:ext>
            </a:extLst>
          </p:cNvPr>
          <p:cNvSpPr/>
          <p:nvPr/>
        </p:nvSpPr>
        <p:spPr>
          <a:xfrm>
            <a:off x="838200" y="3526972"/>
            <a:ext cx="1817914" cy="857410"/>
          </a:xfrm>
          <a:prstGeom prst="roundRect">
            <a:avLst>
              <a:gd name="adj" fmla="val 919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Original 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52A4D7A-BF3A-D31F-88F3-276A3C606C44}"/>
              </a:ext>
            </a:extLst>
          </p:cNvPr>
          <p:cNvSpPr/>
          <p:nvPr/>
        </p:nvSpPr>
        <p:spPr>
          <a:xfrm>
            <a:off x="3113314" y="3526971"/>
            <a:ext cx="1817914" cy="857410"/>
          </a:xfrm>
          <a:prstGeom prst="roundRect">
            <a:avLst>
              <a:gd name="adj" fmla="val 919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PGD Attack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A14EC4-B126-79C0-D75F-562405618B74}"/>
              </a:ext>
            </a:extLst>
          </p:cNvPr>
          <p:cNvSpPr/>
          <p:nvPr/>
        </p:nvSpPr>
        <p:spPr>
          <a:xfrm>
            <a:off x="5388427" y="3526971"/>
            <a:ext cx="2111829" cy="857410"/>
          </a:xfrm>
          <a:prstGeom prst="roundRect">
            <a:avLst>
              <a:gd name="adj" fmla="val 919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Adversarial 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FFA9CD-8593-CAAF-5781-73B79781F281}"/>
              </a:ext>
            </a:extLst>
          </p:cNvPr>
          <p:cNvSpPr/>
          <p:nvPr/>
        </p:nvSpPr>
        <p:spPr>
          <a:xfrm>
            <a:off x="7957455" y="3526971"/>
            <a:ext cx="2677888" cy="857410"/>
          </a:xfrm>
          <a:prstGeom prst="roundRect">
            <a:avLst>
              <a:gd name="adj" fmla="val 919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Train with original label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E7574A7-BEF1-60C1-9945-4A75214F6A5F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656114" y="3955676"/>
            <a:ext cx="4572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2079555-12BF-3531-8D7E-F4A91A285451}"/>
              </a:ext>
            </a:extLst>
          </p:cNvPr>
          <p:cNvCxnSpPr/>
          <p:nvPr/>
        </p:nvCxnSpPr>
        <p:spPr>
          <a:xfrm flipV="1">
            <a:off x="4931228" y="3955676"/>
            <a:ext cx="4572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893AA5-95D7-ABB6-AF33-983D04769406}"/>
              </a:ext>
            </a:extLst>
          </p:cNvPr>
          <p:cNvCxnSpPr/>
          <p:nvPr/>
        </p:nvCxnSpPr>
        <p:spPr>
          <a:xfrm flipV="1">
            <a:off x="7500255" y="3955675"/>
            <a:ext cx="4572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C06561B-44F7-A331-6740-C15908FA6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73" y="4724208"/>
            <a:ext cx="4526354" cy="184367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5C49315-E160-2E65-A372-021E6DDEA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763514"/>
            <a:ext cx="1719943" cy="1719943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4F354B9-AAE6-04CF-6513-C58294DAF265}"/>
              </a:ext>
            </a:extLst>
          </p:cNvPr>
          <p:cNvCxnSpPr/>
          <p:nvPr/>
        </p:nvCxnSpPr>
        <p:spPr>
          <a:xfrm flipV="1">
            <a:off x="5524105" y="5646044"/>
            <a:ext cx="45720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B0BC12-9D3C-119B-0157-7D3F7596228A}"/>
              </a:ext>
            </a:extLst>
          </p:cNvPr>
          <p:cNvSpPr txBox="1"/>
          <p:nvPr/>
        </p:nvSpPr>
        <p:spPr>
          <a:xfrm>
            <a:off x="7957455" y="5461378"/>
            <a:ext cx="2046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Label : Panda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409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32D9C-77F5-1BBE-7132-5276A196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Standard </a:t>
            </a:r>
            <a:r>
              <a:rPr lang="ko-KR" altLang="ko-KR" dirty="0" err="1"/>
              <a:t>vs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Accuracy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5DFD4-DD2E-C8B1-B2B1-4CCDE935C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b="1" dirty="0"/>
              <a:t>Standard </a:t>
            </a:r>
            <a:r>
              <a:rPr lang="ko-KR" altLang="ko-KR" b="1" dirty="0" err="1"/>
              <a:t>accuracy</a:t>
            </a:r>
            <a:r>
              <a:rPr lang="ko-KR" altLang="ko-KR" b="1" dirty="0"/>
              <a:t>:</a:t>
            </a:r>
            <a:r>
              <a:rPr lang="ko-KR" altLang="ko-KR" dirty="0"/>
              <a:t> </a:t>
            </a:r>
            <a:r>
              <a:rPr lang="ko-KR" altLang="ko-KR" dirty="0" err="1"/>
              <a:t>Correct</a:t>
            </a:r>
            <a:r>
              <a:rPr lang="ko-KR" altLang="ko-KR" dirty="0"/>
              <a:t> </a:t>
            </a:r>
            <a:r>
              <a:rPr lang="ko-KR" altLang="ko-KR" dirty="0" err="1"/>
              <a:t>predictions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clean</a:t>
            </a:r>
            <a:r>
              <a:rPr lang="ko-KR" altLang="ko-KR" dirty="0"/>
              <a:t> </a:t>
            </a:r>
            <a:r>
              <a:rPr lang="ko-KR" altLang="ko-KR" dirty="0" err="1"/>
              <a:t>images</a:t>
            </a:r>
            <a:endParaRPr lang="en-US" altLang="ko-KR" dirty="0"/>
          </a:p>
          <a:p>
            <a:r>
              <a:rPr lang="ko-KR" altLang="ko-KR" b="1" dirty="0" err="1"/>
              <a:t>Robust</a:t>
            </a:r>
            <a:r>
              <a:rPr lang="ko-KR" altLang="ko-KR" b="1" dirty="0"/>
              <a:t> </a:t>
            </a:r>
            <a:r>
              <a:rPr lang="ko-KR" altLang="ko-KR" b="1" dirty="0" err="1"/>
              <a:t>accuracy</a:t>
            </a:r>
            <a:r>
              <a:rPr lang="ko-KR" altLang="ko-KR" b="1" dirty="0"/>
              <a:t>:</a:t>
            </a:r>
            <a:r>
              <a:rPr lang="ko-KR" altLang="ko-KR" dirty="0"/>
              <a:t> </a:t>
            </a:r>
            <a:r>
              <a:rPr lang="ko-KR" altLang="ko-KR" dirty="0" err="1"/>
              <a:t>Correct</a:t>
            </a:r>
            <a:r>
              <a:rPr lang="ko-KR" altLang="ko-KR" dirty="0"/>
              <a:t> </a:t>
            </a:r>
            <a:r>
              <a:rPr lang="ko-KR" altLang="ko-KR" dirty="0" err="1"/>
              <a:t>predictions</a:t>
            </a:r>
            <a:r>
              <a:rPr lang="ko-KR" altLang="ko-KR" dirty="0"/>
              <a:t> </a:t>
            </a:r>
            <a:r>
              <a:rPr lang="ko-KR" altLang="ko-KR" dirty="0" err="1"/>
              <a:t>after</a:t>
            </a:r>
            <a:r>
              <a:rPr lang="ko-KR" altLang="ko-KR" dirty="0"/>
              <a:t> </a:t>
            </a:r>
            <a:r>
              <a:rPr lang="ko-KR" altLang="ko-KR" dirty="0" err="1"/>
              <a:t>an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perturbation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Clean image x          → Classifier → Label (standard accuracy)</a:t>
            </a:r>
          </a:p>
          <a:p>
            <a:pPr marL="0" indent="0">
              <a:buNone/>
            </a:pPr>
            <a:r>
              <a:rPr lang="en-US" altLang="ko-KR" dirty="0"/>
              <a:t>Perturbed image x+</a:t>
            </a:r>
            <a:r>
              <a:rPr lang="el-GR" altLang="ko-KR" dirty="0"/>
              <a:t>δ → </a:t>
            </a:r>
            <a:r>
              <a:rPr lang="en-US" altLang="ko-KR" dirty="0"/>
              <a:t>Classifier → Label (Robust accuracy)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F1A82-022D-18C8-85E1-36511BFB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48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4B7DD-2911-DC88-94EC-BEDD39C1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Generalization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D134FA-58CB-2D4F-1E68-9A7F278F0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examples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enough</a:t>
            </a:r>
            <a:r>
              <a:rPr lang="ko-KR" altLang="ko-KR" dirty="0"/>
              <a:t>.</a:t>
            </a:r>
          </a:p>
          <a:p>
            <a:r>
              <a:rPr lang="ko-KR" altLang="ko-KR" dirty="0"/>
              <a:t>The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must</a:t>
            </a:r>
            <a:r>
              <a:rPr lang="ko-KR" altLang="ko-KR" dirty="0"/>
              <a:t> </a:t>
            </a:r>
            <a:r>
              <a:rPr lang="ko-KR" altLang="ko-KR" dirty="0" err="1"/>
              <a:t>also</a:t>
            </a:r>
            <a:r>
              <a:rPr lang="ko-KR" altLang="ko-KR" dirty="0"/>
              <a:t> </a:t>
            </a:r>
            <a:r>
              <a:rPr lang="ko-KR" altLang="ko-KR" dirty="0" err="1"/>
              <a:t>generalize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en-US" altLang="ko-KR" dirty="0"/>
              <a:t> </a:t>
            </a:r>
            <a:r>
              <a:rPr lang="ko-KR" altLang="ko-KR" dirty="0" err="1"/>
              <a:t>unseen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examples</a:t>
            </a:r>
            <a:r>
              <a:rPr lang="ko-KR" altLang="ko-KR" dirty="0"/>
              <a:t>.</a:t>
            </a:r>
          </a:p>
          <a:p>
            <a:endParaRPr lang="ko-KR" altLang="ko-KR" dirty="0"/>
          </a:p>
          <a:p>
            <a:pPr marL="0" indent="0">
              <a:buNone/>
            </a:pP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raises</a:t>
            </a:r>
            <a:r>
              <a:rPr lang="ko-KR" altLang="ko-KR" dirty="0"/>
              <a:t> </a:t>
            </a:r>
            <a:r>
              <a:rPr lang="ko-KR" altLang="ko-KR" dirty="0" err="1"/>
              <a:t>two</a:t>
            </a:r>
            <a:r>
              <a:rPr lang="ko-KR" altLang="ko-KR" dirty="0"/>
              <a:t> </a:t>
            </a:r>
            <a:r>
              <a:rPr lang="ko-KR" altLang="ko-KR" dirty="0" err="1"/>
              <a:t>questions</a:t>
            </a:r>
            <a:r>
              <a:rPr lang="ko-KR" altLang="ko-KR" dirty="0"/>
              <a:t>:</a:t>
            </a:r>
          </a:p>
          <a:p>
            <a:pPr marL="0" indent="0">
              <a:buNone/>
            </a:pPr>
            <a:r>
              <a:rPr lang="ko-KR" altLang="ko-KR" dirty="0"/>
              <a:t>1. </a:t>
            </a:r>
            <a:r>
              <a:rPr lang="ko-KR" altLang="ko-KR" dirty="0" err="1"/>
              <a:t>How</a:t>
            </a:r>
            <a:r>
              <a:rPr lang="ko-KR" altLang="ko-KR" dirty="0"/>
              <a:t> </a:t>
            </a:r>
            <a:r>
              <a:rPr lang="ko-KR" altLang="ko-KR" dirty="0" err="1"/>
              <a:t>much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needed</a:t>
            </a:r>
            <a:r>
              <a:rPr lang="ko-KR" altLang="ko-KR" dirty="0"/>
              <a:t>?</a:t>
            </a:r>
          </a:p>
          <a:p>
            <a:pPr marL="0" indent="0">
              <a:buNone/>
            </a:pPr>
            <a:r>
              <a:rPr lang="ko-KR" altLang="ko-KR" dirty="0"/>
              <a:t>2. </a:t>
            </a:r>
            <a:r>
              <a:rPr lang="ko-KR" altLang="ko-KR" dirty="0" err="1"/>
              <a:t>When</a:t>
            </a:r>
            <a:r>
              <a:rPr lang="ko-KR" altLang="ko-KR" dirty="0"/>
              <a:t> </a:t>
            </a:r>
            <a:r>
              <a:rPr lang="ko-KR" altLang="ko-KR" dirty="0" err="1"/>
              <a:t>should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stop</a:t>
            </a:r>
            <a:r>
              <a:rPr lang="ko-KR" altLang="ko-KR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1B2DFB-D3FF-6162-0087-332B0277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5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2E0F4-FD73-830B-07D5-46C03F9A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Generalization</a:t>
            </a:r>
            <a:r>
              <a:rPr lang="ko-KR" altLang="ko-KR" dirty="0"/>
              <a:t> Gap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DBFB6C-E590-BA1A-55BF-CCE141F8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B6315-0299-7E72-0787-17055930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3A1925-7A3F-432F-AD88-29503F930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1247"/>
            <a:ext cx="7987477" cy="3489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CDC311-EB2A-A05B-7E5A-4A8B7B15D0AF}"/>
              </a:ext>
            </a:extLst>
          </p:cNvPr>
          <p:cNvSpPr txBox="1"/>
          <p:nvPr/>
        </p:nvSpPr>
        <p:spPr>
          <a:xfrm>
            <a:off x="152400" y="6261913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[1] </a:t>
            </a:r>
            <a:r>
              <a:rPr lang="ko-KR" altLang="ko-KR" sz="1200" dirty="0" err="1"/>
              <a:t>L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Schmidt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S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Santurkar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D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Tsipras</a:t>
            </a:r>
            <a:r>
              <a:rPr lang="ko-KR" altLang="ko-KR" sz="1200" dirty="0"/>
              <a:t>, K. </a:t>
            </a:r>
            <a:r>
              <a:rPr lang="ko-KR" altLang="ko-KR" sz="1200" dirty="0" err="1"/>
              <a:t>Talwar</a:t>
            </a:r>
            <a:r>
              <a:rPr lang="ko-KR" altLang="ko-KR" sz="1200" dirty="0"/>
              <a:t>, and </a:t>
            </a:r>
            <a:r>
              <a:rPr lang="ko-KR" altLang="ko-KR" sz="1200" dirty="0" err="1"/>
              <a:t>A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Mądry</a:t>
            </a:r>
            <a:r>
              <a:rPr lang="ko-KR" altLang="ko-KR" sz="1200" dirty="0"/>
              <a:t>, “</a:t>
            </a:r>
            <a:r>
              <a:rPr lang="ko-KR" altLang="ko-KR" sz="1200" dirty="0" err="1"/>
              <a:t>Adversarially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Robust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Generalization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Requires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More</a:t>
            </a:r>
            <a:r>
              <a:rPr lang="ko-KR" altLang="ko-KR" sz="1200" dirty="0"/>
              <a:t> Data,” </a:t>
            </a:r>
            <a:r>
              <a:rPr lang="ko-KR" altLang="ko-KR" sz="1200" dirty="0" err="1"/>
              <a:t>arXiv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preprint</a:t>
            </a:r>
            <a:r>
              <a:rPr lang="ko-KR" altLang="ko-KR" sz="1200" dirty="0"/>
              <a:t> arXiv:1804.11285, 2018.</a:t>
            </a:r>
            <a:endParaRPr lang="ko-KR" altLang="ko-K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556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78F05-856C-A071-9E32-63988959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ko-KR" sz="3600" dirty="0"/>
              <a:t>Data </a:t>
            </a:r>
            <a:r>
              <a:rPr lang="ko-KR" altLang="ko-KR" sz="3600" dirty="0" err="1"/>
              <a:t>Requirements</a:t>
            </a:r>
            <a:r>
              <a:rPr lang="ko-KR" altLang="ko-KR" sz="3600" dirty="0"/>
              <a:t> </a:t>
            </a:r>
            <a:r>
              <a:rPr lang="ko-KR" altLang="ko-KR" sz="3600" dirty="0" err="1"/>
              <a:t>for</a:t>
            </a:r>
            <a:r>
              <a:rPr lang="ko-KR" altLang="ko-KR" sz="3600" dirty="0"/>
              <a:t> </a:t>
            </a:r>
            <a:r>
              <a:rPr lang="ko-KR" altLang="ko-KR" sz="3600" dirty="0" err="1"/>
              <a:t>Robust</a:t>
            </a:r>
            <a:r>
              <a:rPr lang="en-US" altLang="ko-KR" sz="3600" dirty="0"/>
              <a:t> </a:t>
            </a:r>
            <a:r>
              <a:rPr lang="ko-KR" altLang="ko-KR" sz="3600" dirty="0" err="1"/>
              <a:t>Generalization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1BF9E-4306-1945-4074-CB2BA229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ko-KR" b="1" dirty="0" err="1"/>
              <a:t>Goal</a:t>
            </a:r>
            <a:endParaRPr lang="ko-KR" altLang="ko-KR" b="1" dirty="0"/>
          </a:p>
          <a:p>
            <a:r>
              <a:rPr lang="ko-KR" altLang="ko-KR" dirty="0" err="1"/>
              <a:t>Measure</a:t>
            </a:r>
            <a:r>
              <a:rPr lang="ko-KR" altLang="ko-KR" dirty="0"/>
              <a:t> </a:t>
            </a:r>
            <a:r>
              <a:rPr lang="ko-KR" altLang="ko-KR" dirty="0" err="1"/>
              <a:t>how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set</a:t>
            </a:r>
            <a:r>
              <a:rPr lang="ko-KR" altLang="ko-KR" dirty="0"/>
              <a:t> </a:t>
            </a:r>
            <a:r>
              <a:rPr lang="ko-KR" altLang="ko-KR" dirty="0" err="1"/>
              <a:t>size</a:t>
            </a:r>
            <a:r>
              <a:rPr lang="ko-KR" altLang="ko-KR" dirty="0"/>
              <a:t> </a:t>
            </a:r>
            <a:r>
              <a:rPr lang="ko-KR" altLang="ko-KR" dirty="0" err="1"/>
              <a:t>affects</a:t>
            </a:r>
            <a:r>
              <a:rPr lang="en-US" altLang="ko-KR" dirty="0"/>
              <a:t> </a:t>
            </a:r>
            <a:r>
              <a:rPr lang="ko-KR" altLang="ko-KR" dirty="0" err="1"/>
              <a:t>adversarially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generalization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ko-KR" altLang="ko-KR" dirty="0"/>
          </a:p>
          <a:p>
            <a:pPr marL="0" indent="0">
              <a:buNone/>
            </a:pPr>
            <a:r>
              <a:rPr lang="ko-KR" altLang="ko-KR" b="1" dirty="0" err="1"/>
              <a:t>Method</a:t>
            </a:r>
            <a:endParaRPr lang="en-US" altLang="ko-KR" b="1" dirty="0"/>
          </a:p>
          <a:p>
            <a:r>
              <a:rPr lang="ko-KR" altLang="ko-KR" dirty="0" err="1"/>
              <a:t>Create</a:t>
            </a:r>
            <a:r>
              <a:rPr lang="ko-KR" altLang="ko-KR" dirty="0"/>
              <a:t> </a:t>
            </a:r>
            <a:r>
              <a:rPr lang="ko-KR" altLang="ko-KR" dirty="0" err="1"/>
              <a:t>class-balanced</a:t>
            </a:r>
            <a:r>
              <a:rPr lang="ko-KR" altLang="ko-KR" dirty="0"/>
              <a:t> </a:t>
            </a:r>
            <a:r>
              <a:rPr lang="ko-KR" altLang="ko-KR" dirty="0" err="1"/>
              <a:t>subsets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different</a:t>
            </a:r>
            <a:r>
              <a:rPr lang="ko-KR" altLang="ko-KR" dirty="0"/>
              <a:t> </a:t>
            </a:r>
            <a:r>
              <a:rPr lang="ko-KR" altLang="ko-KR" dirty="0" err="1"/>
              <a:t>sizes</a:t>
            </a:r>
            <a:r>
              <a:rPr lang="ko-KR" altLang="ko-KR" dirty="0"/>
              <a:t> </a:t>
            </a:r>
            <a:r>
              <a:rPr lang="ko-KR" altLang="ko-KR" dirty="0" err="1"/>
              <a:t>N</a:t>
            </a:r>
            <a:endParaRPr lang="en-US" altLang="ko-KR" dirty="0"/>
          </a:p>
          <a:p>
            <a:r>
              <a:rPr lang="ko-KR" altLang="ko-KR" dirty="0" err="1"/>
              <a:t>Train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models</a:t>
            </a:r>
            <a:r>
              <a:rPr lang="ko-KR" altLang="ko-KR" dirty="0"/>
              <a:t> </a:t>
            </a:r>
            <a:r>
              <a:rPr lang="ko-KR" altLang="ko-KR" dirty="0" err="1"/>
              <a:t>using</a:t>
            </a:r>
            <a:r>
              <a:rPr lang="ko-KR" altLang="ko-KR" dirty="0"/>
              <a:t> PGD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endParaRPr lang="ko-KR" altLang="ko-KR" dirty="0"/>
          </a:p>
          <a:p>
            <a:r>
              <a:rPr lang="ko-KR" altLang="ko-KR" dirty="0" err="1"/>
              <a:t>Evaluate</a:t>
            </a:r>
            <a:r>
              <a:rPr lang="ko-KR" altLang="ko-KR" dirty="0"/>
              <a:t> </a:t>
            </a:r>
            <a:r>
              <a:rPr lang="ko-KR" altLang="ko-KR" dirty="0" err="1"/>
              <a:t>multiple</a:t>
            </a:r>
            <a:r>
              <a:rPr lang="ko-KR" altLang="ko-KR" dirty="0"/>
              <a:t> </a:t>
            </a:r>
            <a:r>
              <a:rPr lang="ko-KR" altLang="ko-KR" dirty="0" err="1"/>
              <a:t>attack</a:t>
            </a:r>
            <a:r>
              <a:rPr lang="ko-KR" altLang="ko-KR" dirty="0"/>
              <a:t> </a:t>
            </a:r>
            <a:r>
              <a:rPr lang="ko-KR" altLang="ko-KR" dirty="0" err="1"/>
              <a:t>strengths</a:t>
            </a:r>
            <a:r>
              <a:rPr lang="ko-KR" altLang="ko-KR" dirty="0"/>
              <a:t> </a:t>
            </a:r>
            <a:r>
              <a:rPr lang="ko-KR" altLang="ko-KR" dirty="0" err="1"/>
              <a:t>ε_test</a:t>
            </a:r>
            <a:endParaRPr lang="ko-KR" altLang="ko-KR" dirty="0"/>
          </a:p>
          <a:p>
            <a:r>
              <a:rPr lang="ko-KR" altLang="ko-KR" dirty="0" err="1"/>
              <a:t>Compare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data</a:t>
            </a:r>
            <a:r>
              <a:rPr lang="ko-KR" altLang="ko-KR" dirty="0"/>
              <a:t> </a:t>
            </a:r>
            <a:r>
              <a:rPr lang="ko-KR" altLang="ko-KR" dirty="0" err="1"/>
              <a:t>required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reach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target</a:t>
            </a:r>
            <a:r>
              <a:rPr lang="ko-KR" altLang="ko-KR" dirty="0"/>
              <a:t> </a:t>
            </a:r>
            <a:r>
              <a:rPr lang="ko-KR" altLang="ko-KR" dirty="0" err="1"/>
              <a:t>accuracy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Dataset</a:t>
            </a:r>
          </a:p>
          <a:p>
            <a:r>
              <a:rPr lang="ko-KR" altLang="ko-KR" dirty="0"/>
              <a:t>MNIST, CIFAR-10, SVHN</a:t>
            </a:r>
          </a:p>
          <a:p>
            <a:endParaRPr lang="ko-KR" altLang="ko-KR" dirty="0"/>
          </a:p>
          <a:p>
            <a:endParaRPr lang="ko-KR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D8F03-C38D-4726-B624-E3E93929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99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EF7F2-2414-99DB-B844-7B5DB712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Effect</a:t>
            </a:r>
            <a:r>
              <a:rPr lang="ko-KR" altLang="ko-KR" dirty="0"/>
              <a:t> of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Set</a:t>
            </a:r>
            <a:r>
              <a:rPr lang="ko-KR" altLang="ko-KR" dirty="0"/>
              <a:t> </a:t>
            </a:r>
            <a:r>
              <a:rPr lang="ko-KR" altLang="ko-KR" dirty="0" err="1"/>
              <a:t>Size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6F1C7BE-5272-96D8-D047-8DCDBC8D2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391826"/>
            <a:ext cx="10515600" cy="356929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B6489-D708-A850-E376-E56F539C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443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3FD90-B7F9-2BD3-8327-8CEFFC8D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Theoretical</a:t>
            </a:r>
            <a:r>
              <a:rPr lang="ko-KR" altLang="ko-KR" dirty="0"/>
              <a:t> </a:t>
            </a:r>
            <a:r>
              <a:rPr lang="ko-KR" altLang="ko-KR" dirty="0" err="1"/>
              <a:t>Sample</a:t>
            </a:r>
            <a:r>
              <a:rPr lang="ko-KR" altLang="ko-KR" dirty="0"/>
              <a:t> </a:t>
            </a:r>
            <a:r>
              <a:rPr lang="ko-KR" altLang="ko-KR" dirty="0" err="1"/>
              <a:t>Complexity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F60580-7CB8-D5DE-7413-BD0DB8A0F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ko-KR" altLang="ko-KR" dirty="0" err="1"/>
                  <a:t>Gaussian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Continuous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features</a:t>
                </a:r>
                <a:endParaRPr lang="ko-KR" altLang="ko-KR" dirty="0"/>
              </a:p>
              <a:p>
                <a:pPr lvl="1"/>
                <a:r>
                  <a:rPr lang="ko-KR" altLang="ko-KR" dirty="0" err="1"/>
                  <a:t>x</a:t>
                </a:r>
                <a:r>
                  <a:rPr lang="ko-KR" altLang="ko-KR" dirty="0"/>
                  <a:t> | </a:t>
                </a:r>
                <a:r>
                  <a:rPr lang="ko-KR" altLang="ko-KR" dirty="0" err="1"/>
                  <a:t>y</a:t>
                </a:r>
                <a:r>
                  <a:rPr lang="ko-KR" altLang="ko-KR" dirty="0"/>
                  <a:t> ~ </a:t>
                </a:r>
                <a:r>
                  <a:rPr lang="ko-KR" altLang="ko-KR" dirty="0" err="1"/>
                  <a:t>N</a:t>
                </a:r>
                <a:r>
                  <a:rPr lang="ko-KR" altLang="ko-KR" dirty="0"/>
                  <a:t>(</a:t>
                </a:r>
                <a:r>
                  <a:rPr lang="ko-KR" altLang="ko-KR" dirty="0" err="1"/>
                  <a:t>yμ</a:t>
                </a:r>
                <a:r>
                  <a:rPr lang="ko-KR" altLang="ko-KR" dirty="0"/>
                  <a:t>, σ²I)</a:t>
                </a:r>
              </a:p>
              <a:p>
                <a:pPr lvl="1"/>
                <a:r>
                  <a:rPr lang="ko-KR" altLang="ko-KR" dirty="0"/>
                  <a:t>Standard </a:t>
                </a:r>
                <a:r>
                  <a:rPr lang="ko-KR" altLang="ko-KR" dirty="0" err="1"/>
                  <a:t>learning</a:t>
                </a:r>
                <a:r>
                  <a:rPr lang="ko-KR" altLang="ko-KR" dirty="0"/>
                  <a:t>: </a:t>
                </a:r>
                <a:r>
                  <a:rPr lang="ko-KR" altLang="ko-KR" dirty="0" err="1"/>
                  <a:t>one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sample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can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achieve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low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error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Robust</a:t>
                </a:r>
                <a:r>
                  <a:rPr lang="en-US" altLang="ko-KR" dirty="0"/>
                  <a:t> </a:t>
                </a:r>
                <a:r>
                  <a:rPr lang="ko-KR" altLang="ko-KR" dirty="0" err="1"/>
                  <a:t>lower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bound</a:t>
                </a:r>
                <a:r>
                  <a:rPr lang="en-US" altLang="ko-KR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ko-KR" i="0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ko-KR" altLang="ko-KR" i="1" dirty="0">
                        <a:latin typeface="Cambria Math" panose="02040503050406030204" pitchFamily="18" charset="0"/>
                      </a:rPr>
                      <m:t>𝑐</m:t>
                    </m:r>
                    <m:f>
                      <m:fPr>
                        <m:ctrlPr>
                          <a:rPr lang="ko-KR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ko-KR" altLang="ko-K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ko-KR" i="1" dirty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ko-KR" altLang="ko-KR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ko-KR" altLang="ko-KR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ko-KR" altLang="ko-KR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func>
                          <m:funcPr>
                            <m:ctrlPr>
                              <a:rPr lang="ko-KR" altLang="ko-KR" i="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ko-KR" altLang="ko-KR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ko-KR" altLang="ko-KR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func>
                      </m:den>
                    </m:f>
                    <m:r>
                      <a:rPr lang="ko-KR" altLang="ko-KR" i="0" dirty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ko-KR" altLang="ko-KR" i="0" dirty="0">
                        <a:latin typeface="Cambria Math" panose="02040503050406030204" pitchFamily="18" charset="0"/>
                      </a:rPr>
                      <m:t>robust error</m:t>
                    </m:r>
                    <m:r>
                      <a:rPr lang="ko-KR" altLang="ko-KR" i="0" dirty="0">
                        <a:latin typeface="Cambria Math" panose="02040503050406030204" pitchFamily="18" charset="0"/>
                      </a:rPr>
                      <m:t>≈50%</m:t>
                    </m:r>
                  </m:oMath>
                </a14:m>
                <a:endParaRPr lang="ko-KR" altLang="ko-KR" dirty="0"/>
              </a:p>
              <a:p>
                <a:pPr lvl="1"/>
                <a:r>
                  <a:rPr lang="ko-KR" altLang="ko-KR" dirty="0"/>
                  <a:t>The </a:t>
                </a:r>
                <a:r>
                  <a:rPr lang="ko-KR" altLang="ko-KR" dirty="0" err="1"/>
                  <a:t>gap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holds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for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any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learning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algorithm</a:t>
                </a:r>
                <a:r>
                  <a:rPr lang="ko-KR" altLang="ko-KR" dirty="0"/>
                  <a:t>.</a:t>
                </a: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ko-KR" altLang="ko-KR" dirty="0" err="1"/>
                  <a:t>Bernoulli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Binary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features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x</a:t>
                </a:r>
                <a:r>
                  <a:rPr lang="ko-KR" altLang="ko-KR" dirty="0"/>
                  <a:t> ∈ {−1, +1}ᵈ</a:t>
                </a:r>
              </a:p>
              <a:p>
                <a:pPr lvl="1"/>
                <a:r>
                  <a:rPr lang="ko-KR" altLang="ko-KR" dirty="0" err="1"/>
                  <a:t>Linear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models</a:t>
                </a:r>
                <a:r>
                  <a:rPr lang="ko-KR" altLang="ko-KR" dirty="0"/>
                  <a:t> </a:t>
                </a:r>
                <a:r>
                  <a:rPr lang="en-US" altLang="ko-KR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≲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altLang="ko-KR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altLang="ko-KR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func>
                          <m:funcPr>
                            <m:ctrlPr>
                              <a:rPr lang="en-US" altLang="ko-KR" i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i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ko-KR" i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altLang="ko-KR" i="0">
                        <a:latin typeface="Cambria Math" panose="02040503050406030204" pitchFamily="18" charset="0"/>
                      </a:rPr>
                      <m:t>robust error</m:t>
                    </m:r>
                    <m:r>
                      <a:rPr lang="en-US" altLang="ko-KR" i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ko-KR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-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ko-KR" altLang="ko-KR" dirty="0"/>
              </a:p>
              <a:p>
                <a:endParaRPr lang="ko-KR" altLang="ko-KR" dirty="0"/>
              </a:p>
              <a:p>
                <a:endParaRPr lang="ko-KR" altLang="ko-KR" dirty="0"/>
              </a:p>
              <a:p>
                <a:endParaRPr lang="ko-KR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F60580-7CB8-D5DE-7413-BD0DB8A0F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BBD1C-EB9E-2367-A7F5-78C04C14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71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265FE-5054-D720-5CE6-6B6FCAAE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Robustness</a:t>
            </a:r>
            <a:r>
              <a:rPr lang="ko-KR" altLang="ko-KR" dirty="0"/>
              <a:t> </a:t>
            </a:r>
            <a:r>
              <a:rPr lang="ko-KR" altLang="ko-KR" dirty="0" err="1"/>
              <a:t>Benchmark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내용 개체 틀 4">
                <a:extLst>
                  <a:ext uri="{FF2B5EF4-FFF2-40B4-BE49-F238E27FC236}">
                    <a16:creationId xmlns:a16="http://schemas.microsoft.com/office/drawing/2014/main" id="{90E4BBAE-D311-7640-9628-84F168BCDD3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8186010"/>
                  </p:ext>
                </p:extLst>
              </p:nvPr>
            </p:nvGraphicFramePr>
            <p:xfrm>
              <a:off x="838200" y="1473949"/>
              <a:ext cx="10515600" cy="3383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23332101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33971866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73887646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 err="1"/>
                            <a:t>Model</a:t>
                          </a:r>
                          <a:endParaRPr lang="ko-K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 err="1"/>
                            <a:t>Robust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error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ko-KR" altLang="ko-KR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(%)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b="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0" dirty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altLang="ko-KR" dirty="0"/>
                            <a:t>) </a:t>
                          </a:r>
                          <a:endParaRPr lang="ko-K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Standard </a:t>
                          </a:r>
                          <a:r>
                            <a:rPr lang="ko-KR" dirty="0" err="1"/>
                            <a:t>error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ko-KR" altLang="ko-KR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(%)</a:t>
                          </a:r>
                          <a:r>
                            <a:rPr lang="en-US" altLang="ko-KR" dirty="0"/>
                            <a:t> </a:t>
                          </a:r>
                          <a:r>
                            <a:rPr lang="en-US" altLang="ko-KR" b="0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0" dirty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r>
                            <a:rPr lang="en-US" altLang="ko-KR" b="0" dirty="0"/>
                            <a:t>)</a:t>
                          </a:r>
                          <a:endParaRPr lang="ko-K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3212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Standard training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31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 err="1"/>
                            <a:t>Adversarial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training</a:t>
                          </a:r>
                          <a:r>
                            <a:rPr lang="ko-KR" dirty="0"/>
                            <a:t> [</a:t>
                          </a:r>
                          <a:r>
                            <a:rPr lang="ko-KR" dirty="0" err="1"/>
                            <a:t>Madry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et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al</a:t>
                          </a:r>
                          <a:r>
                            <a:rPr lang="ko-KR" dirty="0"/>
                            <a:t>. 2018]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44703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TRADES [Zhang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47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79199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 err="1"/>
                            <a:t>Adv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training</a:t>
                          </a:r>
                          <a:r>
                            <a:rPr lang="ko-KR" b="1" dirty="0"/>
                            <a:t>++ [</a:t>
                          </a:r>
                          <a:r>
                            <a:rPr lang="ko-KR" b="1" dirty="0" err="1"/>
                            <a:t>Rice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et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al</a:t>
                          </a:r>
                          <a:r>
                            <a:rPr lang="ko-KR" b="1" dirty="0"/>
                            <a:t>. 2020]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/>
                            <a:t>46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15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Fast adv training [Zhang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12685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MART [Wang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9045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내용 개체 틀 4">
                <a:extLst>
                  <a:ext uri="{FF2B5EF4-FFF2-40B4-BE49-F238E27FC236}">
                    <a16:creationId xmlns:a16="http://schemas.microsoft.com/office/drawing/2014/main" id="{90E4BBAE-D311-7640-9628-84F168BCDD3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18186010"/>
                  </p:ext>
                </p:extLst>
              </p:nvPr>
            </p:nvGraphicFramePr>
            <p:xfrm>
              <a:off x="838200" y="1473949"/>
              <a:ext cx="10515600" cy="33832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123332101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33971866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73887646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 err="1"/>
                            <a:t>Model</a:t>
                          </a:r>
                          <a:endParaRPr lang="ko-K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8333" r="-100174" b="-8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48" t="-8333" r="-348" b="-8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13212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Standard training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066311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 err="1"/>
                            <a:t>Adversarial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training</a:t>
                          </a:r>
                          <a:r>
                            <a:rPr lang="ko-KR" dirty="0"/>
                            <a:t> [</a:t>
                          </a:r>
                          <a:r>
                            <a:rPr lang="ko-KR" dirty="0" err="1"/>
                            <a:t>Madry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et</a:t>
                          </a:r>
                          <a:r>
                            <a:rPr lang="ko-KR" dirty="0"/>
                            <a:t> </a:t>
                          </a:r>
                          <a:r>
                            <a:rPr lang="ko-KR" dirty="0" err="1"/>
                            <a:t>al</a:t>
                          </a:r>
                          <a:r>
                            <a:rPr lang="ko-KR" dirty="0"/>
                            <a:t>. 2018]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44703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TRADES [Zhang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47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791992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 err="1"/>
                            <a:t>Adv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training</a:t>
                          </a:r>
                          <a:r>
                            <a:rPr lang="ko-KR" b="1" dirty="0"/>
                            <a:t>++ [</a:t>
                          </a:r>
                          <a:r>
                            <a:rPr lang="ko-KR" b="1" dirty="0" err="1"/>
                            <a:t>Rice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et</a:t>
                          </a:r>
                          <a:r>
                            <a:rPr lang="ko-KR" b="1" dirty="0"/>
                            <a:t> </a:t>
                          </a:r>
                          <a:r>
                            <a:rPr lang="ko-KR" b="1" dirty="0" err="1"/>
                            <a:t>al</a:t>
                          </a:r>
                          <a:r>
                            <a:rPr lang="ko-KR" b="1" dirty="0"/>
                            <a:t>. 2020]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/>
                            <a:t>46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b="1" dirty="0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0153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Fast adv training [Zhang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126853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MART [Wang et al. 2019]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/>
                            <a:t>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ko-KR" dirty="0"/>
                            <a:t>17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9045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745F2F-56D2-737F-16B0-49EE017E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A4367-4A28-480F-D7EA-A4B814550BD1}"/>
                  </a:ext>
                </a:extLst>
              </p:cNvPr>
              <p:cNvSpPr txBox="1"/>
              <p:nvPr/>
            </p:nvSpPr>
            <p:spPr>
              <a:xfrm>
                <a:off x="718457" y="4985736"/>
                <a:ext cx="607422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ko-KR" b="1" dirty="0" err="1"/>
                  <a:t>Dataset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CIFAR-10</a:t>
                </a:r>
                <a:endParaRPr lang="en-US" altLang="ko-KR" dirty="0"/>
              </a:p>
              <a:p>
                <a:r>
                  <a:rPr lang="ko-KR" altLang="ko-KR" b="1" dirty="0" err="1"/>
                  <a:t>Training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set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50,000 </a:t>
                </a:r>
                <a:r>
                  <a:rPr lang="ko-KR" altLang="ko-KR" dirty="0" err="1"/>
                  <a:t>images</a:t>
                </a:r>
                <a:endParaRPr lang="en-US" altLang="ko-KR" dirty="0"/>
              </a:p>
              <a:p>
                <a:r>
                  <a:rPr lang="ko-KR" altLang="ko-KR" b="1" dirty="0" err="1"/>
                  <a:t>Test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set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10,000 </a:t>
                </a:r>
                <a:r>
                  <a:rPr lang="ko-KR" altLang="ko-KR" dirty="0" err="1"/>
                  <a:t>images</a:t>
                </a:r>
                <a:endParaRPr lang="en-US" altLang="ko-KR" dirty="0"/>
              </a:p>
              <a:p>
                <a:pPr lvl="0"/>
                <a:r>
                  <a:rPr lang="ko-KR" altLang="ko-KR" b="1" dirty="0" err="1"/>
                  <a:t>Threat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model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ko-KR" i="0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0"/>
                <a:r>
                  <a:rPr lang="ko-KR" altLang="ko-KR" b="1" dirty="0" err="1"/>
                  <a:t>Attack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radius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</a:t>
                </a:r>
                <a14:m>
                  <m:oMath xmlns:m="http://schemas.openxmlformats.org/officeDocument/2006/math">
                    <m:r>
                      <a:rPr lang="ko-KR" altLang="ko-KR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ko-KR" i="0" dirty="0">
                        <a:latin typeface="Cambria Math" panose="02040503050406030204" pitchFamily="18" charset="0"/>
                      </a:rPr>
                      <m:t>=8/255</m:t>
                    </m:r>
                  </m:oMath>
                </a14:m>
                <a:endParaRPr lang="en-US" altLang="ko-KR" b="1" dirty="0"/>
              </a:p>
              <a:p>
                <a:pPr lvl="0"/>
                <a:r>
                  <a:rPr lang="ko-KR" altLang="ko-KR" b="1" dirty="0" err="1"/>
                  <a:t>Evaluation</a:t>
                </a:r>
                <a:r>
                  <a:rPr lang="ko-KR" altLang="ko-KR" b="1" dirty="0"/>
                  <a:t> </a:t>
                </a:r>
                <a:r>
                  <a:rPr lang="ko-KR" altLang="ko-KR" b="1" dirty="0" err="1"/>
                  <a:t>attack</a:t>
                </a:r>
                <a:r>
                  <a:rPr lang="ko-KR" altLang="ko-KR" b="1" dirty="0"/>
                  <a:t>: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AutoAttack</a:t>
                </a:r>
                <a:endParaRPr lang="ko-KR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8A4367-4A28-480F-D7EA-A4B814550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7" y="4985736"/>
                <a:ext cx="6074229" cy="2031325"/>
              </a:xfrm>
              <a:prstGeom prst="rect">
                <a:avLst/>
              </a:prstGeom>
              <a:blipFill>
                <a:blip r:embed="rId3"/>
                <a:stretch>
                  <a:fillRect l="-904" t="-18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96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68CD9-3601-E5AA-63E0-5458146E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 Dynamics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AED6AA-A3DF-698E-D613-1B74EB8F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Objective</a:t>
            </a:r>
            <a:endParaRPr lang="en-US" altLang="ko-KR" dirty="0"/>
          </a:p>
          <a:p>
            <a:pPr lvl="1"/>
            <a:r>
              <a:rPr lang="ko-KR" altLang="ko-KR" dirty="0" err="1"/>
              <a:t>Analyze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effect</a:t>
            </a:r>
            <a:r>
              <a:rPr lang="ko-KR" altLang="ko-KR" dirty="0"/>
              <a:t> of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duration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generalization</a:t>
            </a:r>
            <a:r>
              <a:rPr lang="ko-KR" altLang="ko-KR" dirty="0"/>
              <a:t>.</a:t>
            </a:r>
            <a:endParaRPr lang="en-US" altLang="ko-KR" dirty="0"/>
          </a:p>
          <a:p>
            <a:pPr lvl="1"/>
            <a:r>
              <a:rPr lang="ko-KR" altLang="ko-KR" dirty="0" err="1"/>
              <a:t>Track</a:t>
            </a:r>
            <a:r>
              <a:rPr lang="ko-KR" altLang="ko-KR" dirty="0"/>
              <a:t> </a:t>
            </a:r>
            <a:r>
              <a:rPr lang="ko-KR" altLang="ko-KR" dirty="0" err="1"/>
              <a:t>standard</a:t>
            </a:r>
            <a:r>
              <a:rPr lang="ko-KR" altLang="ko-KR" dirty="0"/>
              <a:t> and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errors</a:t>
            </a:r>
            <a:r>
              <a:rPr lang="ko-KR" altLang="ko-KR" dirty="0"/>
              <a:t> </a:t>
            </a:r>
            <a:r>
              <a:rPr lang="ko-KR" altLang="ko-KR" dirty="0" err="1"/>
              <a:t>throughout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.</a:t>
            </a:r>
            <a:endParaRPr lang="en-US" altLang="ko-KR" dirty="0"/>
          </a:p>
          <a:p>
            <a:pPr lvl="1"/>
            <a:r>
              <a:rPr lang="ko-KR" altLang="ko-KR" dirty="0" err="1"/>
              <a:t>Compare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best</a:t>
            </a:r>
            <a:r>
              <a:rPr lang="ko-KR" altLang="ko-KR" dirty="0"/>
              <a:t> </a:t>
            </a:r>
            <a:r>
              <a:rPr lang="ko-KR" altLang="ko-KR" dirty="0" err="1"/>
              <a:t>checkpoint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final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.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ko-KR" dirty="0" err="1"/>
              <a:t>Effect</a:t>
            </a:r>
            <a:r>
              <a:rPr lang="ko-KR" altLang="ko-KR" dirty="0"/>
              <a:t> of </a:t>
            </a:r>
            <a:r>
              <a:rPr lang="ko-KR" altLang="ko-KR" dirty="0" err="1"/>
              <a:t>continued</a:t>
            </a:r>
            <a:r>
              <a:rPr lang="ko-KR" altLang="ko-KR" dirty="0"/>
              <a:t> </a:t>
            </a:r>
            <a:r>
              <a:rPr lang="ko-KR" altLang="ko-KR" dirty="0" err="1"/>
              <a:t>adversarial</a:t>
            </a:r>
            <a:r>
              <a:rPr lang="ko-KR" altLang="ko-KR" dirty="0"/>
              <a:t> </a:t>
            </a:r>
            <a:r>
              <a:rPr lang="ko-KR" altLang="ko-KR" dirty="0" err="1"/>
              <a:t>training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test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38154-DD46-A875-6C74-3C03B033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21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616D1-EBDF-8843-B9E5-A58EECAC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Experimental</a:t>
            </a:r>
            <a:r>
              <a:rPr lang="ko-KR" altLang="ko-KR" dirty="0"/>
              <a:t> </a:t>
            </a:r>
            <a:r>
              <a:rPr lang="ko-KR" altLang="ko-KR" dirty="0" err="1"/>
              <a:t>Setup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1F40DE-A982-372D-C36C-C5531D2F8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ko-KR" dirty="0" err="1"/>
                  <a:t>Dataset</a:t>
                </a:r>
                <a:r>
                  <a:rPr lang="ko-KR" altLang="ko-KR" dirty="0"/>
                  <a:t> &amp; </a:t>
                </a:r>
                <a:r>
                  <a:rPr lang="ko-KR" altLang="ko-KR" dirty="0" err="1"/>
                  <a:t>Model</a:t>
                </a:r>
                <a:endParaRPr lang="en-US" altLang="ko-KR" dirty="0"/>
              </a:p>
              <a:p>
                <a:pPr lvl="1"/>
                <a:r>
                  <a:rPr lang="ko-KR" altLang="ko-KR" dirty="0"/>
                  <a:t>CIFAR-10</a:t>
                </a:r>
                <a:endParaRPr lang="en-US" altLang="ko-KR" dirty="0"/>
              </a:p>
              <a:p>
                <a:pPr lvl="1"/>
                <a:r>
                  <a:rPr lang="ko-KR" altLang="ko-KR" dirty="0"/>
                  <a:t>WideResNet-28-10</a:t>
                </a:r>
                <a:endParaRPr lang="en-US" altLang="ko-KR" dirty="0"/>
              </a:p>
              <a:p>
                <a:pPr lvl="1"/>
                <a:r>
                  <a:rPr lang="ko-KR" altLang="ko-KR" dirty="0"/>
                  <a:t>PGD </a:t>
                </a:r>
                <a:r>
                  <a:rPr lang="ko-KR" altLang="ko-KR" dirty="0" err="1"/>
                  <a:t>adversarial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training</a:t>
                </a:r>
                <a:endParaRPr lang="en-US" altLang="ko-KR" dirty="0"/>
              </a:p>
              <a:p>
                <a:r>
                  <a:rPr lang="ko-KR" altLang="ko-KR" dirty="0" err="1"/>
                  <a:t>Adversarial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Perturbation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</a:t>
                </a:r>
                <a:r>
                  <a:rPr lang="ko-KR" altLang="ko-KR" dirty="0" err="1"/>
                  <a:t>hreat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ko-KR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ko-KR" altLang="ko-KR" dirty="0" err="1"/>
                  <a:t>Perturbation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radius</a:t>
                </a:r>
                <a:r>
                  <a:rPr lang="ko-KR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ko-KR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ko-KR" dirty="0">
                        <a:latin typeface="Cambria Math" panose="02040503050406030204" pitchFamily="18" charset="0"/>
                      </a:rPr>
                      <m:t>=8/255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ko-KR" altLang="ko-KR" dirty="0"/>
                  <a:t>PGD: 10 </a:t>
                </a:r>
                <a:r>
                  <a:rPr lang="ko-KR" altLang="ko-KR" dirty="0" err="1"/>
                  <a:t>steps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Step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size</a:t>
                </a:r>
                <a:r>
                  <a:rPr lang="ko-KR" altLang="ko-KR" dirty="0"/>
                  <a:t>: 2/255</a:t>
                </a:r>
                <a:endParaRPr lang="en-US" altLang="ko-KR" dirty="0"/>
              </a:p>
              <a:p>
                <a:r>
                  <a:rPr lang="en-US" altLang="ko-KR" dirty="0"/>
                  <a:t>Training</a:t>
                </a:r>
              </a:p>
              <a:p>
                <a:pPr lvl="1"/>
                <a:r>
                  <a:rPr lang="ko-KR" altLang="ko-KR" dirty="0" err="1"/>
                  <a:t>Initial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learning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rate</a:t>
                </a:r>
                <a:r>
                  <a:rPr lang="ko-KR" altLang="ko-KR" dirty="0"/>
                  <a:t>: 0.1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Learning-rate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decay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epochs</a:t>
                </a:r>
                <a:r>
                  <a:rPr lang="ko-KR" altLang="ko-KR" dirty="0"/>
                  <a:t> 100 and 150</a:t>
                </a:r>
                <a:endParaRPr lang="en-US" altLang="ko-KR" dirty="0"/>
              </a:p>
              <a:p>
                <a:pPr lvl="1"/>
                <a:r>
                  <a:rPr lang="ko-KR" altLang="ko-KR" dirty="0"/>
                  <a:t>200 </a:t>
                </a:r>
                <a:r>
                  <a:rPr lang="ko-KR" altLang="ko-KR" dirty="0" err="1"/>
                  <a:t>epochs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1F40DE-A982-372D-C36C-C5531D2F8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11" b="-23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840F89-3DA1-79DF-0138-66ED8DCA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99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E31BB-D9B0-9E54-F31D-9434F92A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Overfitting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1A1D0B0-E5B1-16D6-F67B-14857BCD0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338" y="1373415"/>
            <a:ext cx="5281209" cy="40367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427D6-B252-B1AA-B54C-37BD4F1C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12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CDA99A3E-7D38-A77B-3760-18D84398B9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892545"/>
                  </p:ext>
                </p:extLst>
              </p:nvPr>
            </p:nvGraphicFramePr>
            <p:xfrm>
              <a:off x="5562600" y="2872740"/>
              <a:ext cx="655391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10543">
                      <a:extLst>
                        <a:ext uri="{9D8B030D-6E8A-4147-A177-3AD203B41FA5}">
                          <a16:colId xmlns:a16="http://schemas.microsoft.com/office/drawing/2014/main" val="1655390820"/>
                        </a:ext>
                      </a:extLst>
                    </a:gridCol>
                    <a:gridCol w="1840688">
                      <a:extLst>
                        <a:ext uri="{9D8B030D-6E8A-4147-A177-3AD203B41FA5}">
                          <a16:colId xmlns:a16="http://schemas.microsoft.com/office/drawing/2014/main" val="2305159515"/>
                        </a:ext>
                      </a:extLst>
                    </a:gridCol>
                    <a:gridCol w="2002688">
                      <a:extLst>
                        <a:ext uri="{9D8B030D-6E8A-4147-A177-3AD203B41FA5}">
                          <a16:colId xmlns:a16="http://schemas.microsoft.com/office/drawing/2014/main" val="11394782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Best checkpoint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Final checkpoint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509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Robust test error 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0" dirty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r>
                            <a:rPr lang="en-US" altLang="ko-KR" b="0" dirty="0"/>
                            <a:t>)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43.2%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51.4%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734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Robust test accuracy 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b="0" i="0" dirty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r>
                            <a:rPr lang="en-US" altLang="ko-KR" b="0" dirty="0"/>
                            <a:t>)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56.8%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48.6%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495071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CDA99A3E-7D38-A77B-3760-18D84398B9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892545"/>
                  </p:ext>
                </p:extLst>
              </p:nvPr>
            </p:nvGraphicFramePr>
            <p:xfrm>
              <a:off x="5562600" y="2872740"/>
              <a:ext cx="6553919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10543">
                      <a:extLst>
                        <a:ext uri="{9D8B030D-6E8A-4147-A177-3AD203B41FA5}">
                          <a16:colId xmlns:a16="http://schemas.microsoft.com/office/drawing/2014/main" val="1655390820"/>
                        </a:ext>
                      </a:extLst>
                    </a:gridCol>
                    <a:gridCol w="1840688">
                      <a:extLst>
                        <a:ext uri="{9D8B030D-6E8A-4147-A177-3AD203B41FA5}">
                          <a16:colId xmlns:a16="http://schemas.microsoft.com/office/drawing/2014/main" val="2305159515"/>
                        </a:ext>
                      </a:extLst>
                    </a:gridCol>
                    <a:gridCol w="2002688">
                      <a:extLst>
                        <a:ext uri="{9D8B030D-6E8A-4147-A177-3AD203B41FA5}">
                          <a16:colId xmlns:a16="http://schemas.microsoft.com/office/drawing/2014/main" val="11394782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Best checkpoint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Final checkpoint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5091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5" t="-108197" r="-14224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43.2%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51.4%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0734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5" t="-208197" r="-14224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56.8%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 dirty="0"/>
                            <a:t>48.6%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49507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2C0DF81-08DE-C121-8345-0ED1887527DB}"/>
              </a:ext>
            </a:extLst>
          </p:cNvPr>
          <p:cNvSpPr txBox="1"/>
          <p:nvPr/>
        </p:nvSpPr>
        <p:spPr>
          <a:xfrm>
            <a:off x="152400" y="6261913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[2] </a:t>
            </a:r>
            <a:r>
              <a:rPr lang="ko-KR" altLang="ko-KR" sz="1200" dirty="0" err="1"/>
              <a:t>L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Rice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E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Wong</a:t>
            </a:r>
            <a:r>
              <a:rPr lang="ko-KR" altLang="ko-KR" sz="1200" dirty="0"/>
              <a:t>, and </a:t>
            </a:r>
            <a:r>
              <a:rPr lang="ko-KR" altLang="ko-KR" sz="1200" dirty="0" err="1"/>
              <a:t>J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Z</a:t>
            </a:r>
            <a:r>
              <a:rPr lang="ko-KR" altLang="ko-KR" sz="1200" dirty="0"/>
              <a:t>. </a:t>
            </a:r>
            <a:r>
              <a:rPr lang="ko-KR" altLang="ko-KR" sz="1200" dirty="0" err="1"/>
              <a:t>Kolter</a:t>
            </a:r>
            <a:r>
              <a:rPr lang="ko-KR" altLang="ko-KR" sz="1200" dirty="0"/>
              <a:t>, “</a:t>
            </a:r>
            <a:r>
              <a:rPr lang="ko-KR" altLang="ko-KR" sz="1200" dirty="0" err="1"/>
              <a:t>Overfitting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adversarially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robust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deep</a:t>
            </a:r>
            <a:r>
              <a:rPr lang="ko-KR" altLang="ko-KR" sz="1200" dirty="0"/>
              <a:t> </a:t>
            </a:r>
            <a:r>
              <a:rPr lang="ko-KR" altLang="ko-KR" sz="1200" dirty="0" err="1"/>
              <a:t>learning</a:t>
            </a:r>
            <a:r>
              <a:rPr lang="ko-KR" altLang="ko-KR" sz="1200" dirty="0"/>
              <a:t>,” </a:t>
            </a:r>
            <a:r>
              <a:rPr lang="ko-KR" altLang="ko-KR" sz="1200" dirty="0" err="1"/>
              <a:t>in</a:t>
            </a:r>
            <a:r>
              <a:rPr lang="ko-KR" altLang="ko-KR" sz="1200" dirty="0"/>
              <a:t> </a:t>
            </a:r>
            <a:r>
              <a:rPr lang="ko-KR" altLang="ko-KR" sz="1200" i="1" dirty="0" err="1"/>
              <a:t>Proceedings</a:t>
            </a:r>
            <a:r>
              <a:rPr lang="ko-KR" altLang="ko-KR" sz="1200" i="1" dirty="0"/>
              <a:t> of </a:t>
            </a:r>
            <a:r>
              <a:rPr lang="ko-KR" altLang="ko-KR" sz="1200" i="1" dirty="0" err="1"/>
              <a:t>the</a:t>
            </a:r>
            <a:r>
              <a:rPr lang="ko-KR" altLang="ko-KR" sz="1200" i="1" dirty="0"/>
              <a:t> 37th International </a:t>
            </a:r>
            <a:r>
              <a:rPr lang="ko-KR" altLang="ko-KR" sz="1200" i="1" dirty="0" err="1"/>
              <a:t>Conference</a:t>
            </a:r>
            <a:r>
              <a:rPr lang="ko-KR" altLang="ko-KR" sz="1200" i="1" dirty="0"/>
              <a:t> </a:t>
            </a:r>
            <a:r>
              <a:rPr lang="ko-KR" altLang="ko-KR" sz="1200" i="1" dirty="0" err="1"/>
              <a:t>on</a:t>
            </a:r>
            <a:r>
              <a:rPr lang="ko-KR" altLang="ko-KR" sz="1200" i="1" dirty="0"/>
              <a:t> </a:t>
            </a:r>
            <a:r>
              <a:rPr lang="ko-KR" altLang="ko-KR" sz="1200" i="1" dirty="0" err="1"/>
              <a:t>Machine</a:t>
            </a:r>
            <a:r>
              <a:rPr lang="ko-KR" altLang="ko-KR" sz="1200" i="1" dirty="0"/>
              <a:t> </a:t>
            </a:r>
            <a:r>
              <a:rPr lang="ko-KR" altLang="ko-KR" sz="1200" i="1" dirty="0" err="1"/>
              <a:t>Learning</a:t>
            </a:r>
            <a:r>
              <a:rPr lang="ko-KR" altLang="ko-KR" sz="1200" i="1" dirty="0"/>
              <a:t> (ICML)</a:t>
            </a:r>
            <a:r>
              <a:rPr lang="ko-KR" altLang="ko-KR" sz="1200" dirty="0"/>
              <a:t>, 2020, </a:t>
            </a:r>
            <a:r>
              <a:rPr lang="ko-KR" altLang="ko-KR" sz="1200" dirty="0" err="1"/>
              <a:t>pp</a:t>
            </a:r>
            <a:r>
              <a:rPr lang="ko-KR" altLang="ko-KR" sz="1200" dirty="0"/>
              <a:t>. 8093–8104.</a:t>
            </a:r>
            <a:endParaRPr lang="ko-KR" altLang="ko-K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25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333D2-D294-3624-DA82-E297CA75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Robust</a:t>
            </a:r>
            <a:r>
              <a:rPr lang="ko-KR" altLang="ko-KR" dirty="0"/>
              <a:t> </a:t>
            </a:r>
            <a:r>
              <a:rPr lang="ko-KR" altLang="ko-KR" dirty="0" err="1"/>
              <a:t>Overfitting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F75752-5D78-11FF-49C1-51A6A7FBF6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ko-KR" dirty="0" err="1"/>
                  <a:t>Robust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overfitting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occurs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across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different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datasets</a:t>
                </a:r>
                <a:r>
                  <a:rPr lang="ko-KR" altLang="ko-KR" dirty="0"/>
                  <a:t>, </a:t>
                </a:r>
                <a:r>
                  <a:rPr lang="ko-KR" altLang="ko-KR" dirty="0" err="1"/>
                  <a:t>attacks</a:t>
                </a:r>
                <a:r>
                  <a:rPr lang="ko-KR" altLang="ko-KR" dirty="0"/>
                  <a:t>, and </a:t>
                </a:r>
                <a:r>
                  <a:rPr lang="ko-KR" altLang="ko-KR" dirty="0" err="1"/>
                  <a:t>training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methods</a:t>
                </a:r>
                <a:r>
                  <a:rPr lang="ko-KR" altLang="ko-KR" dirty="0"/>
                  <a:t>.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Datasets</a:t>
                </a:r>
                <a:r>
                  <a:rPr lang="ko-KR" altLang="ko-KR" dirty="0"/>
                  <a:t>: SVHN, CIFAR-10, CIFAR-100, </a:t>
                </a:r>
                <a:r>
                  <a:rPr lang="ko-KR" altLang="ko-KR" dirty="0" err="1"/>
                  <a:t>ImageNet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Perturbations</a:t>
                </a:r>
                <a:r>
                  <a:rPr lang="ko-KR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ko-KR" i="0" dirty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ko-KR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ko-KR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ko-KR" altLang="ko-KR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ko-KR" altLang="ko-KR" dirty="0" err="1"/>
                  <a:t>Training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methods</a:t>
                </a:r>
                <a:r>
                  <a:rPr lang="ko-KR" altLang="ko-KR" dirty="0"/>
                  <a:t>: PGD, FGSM, TRADES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ko-KR" dirty="0" err="1"/>
                  <a:t>Early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Stopping</a:t>
                </a:r>
                <a:endParaRPr lang="en-US" altLang="ko-KR" dirty="0"/>
              </a:p>
              <a:p>
                <a:pPr lvl="1"/>
                <a:r>
                  <a:rPr lang="ko-KR" altLang="ko-KR" dirty="0"/>
                  <a:t>The </a:t>
                </a:r>
                <a:r>
                  <a:rPr lang="ko-KR" altLang="ko-KR" dirty="0" err="1"/>
                  <a:t>final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is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not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necessarily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the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most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robust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model</a:t>
                </a:r>
                <a:r>
                  <a:rPr lang="ko-KR" altLang="ko-KR" dirty="0"/>
                  <a:t>.</a:t>
                </a:r>
                <a:endParaRPr lang="en-US" altLang="ko-KR" dirty="0"/>
              </a:p>
              <a:p>
                <a:r>
                  <a:rPr lang="ko-KR" altLang="ko-KR" dirty="0" err="1"/>
                  <a:t>Other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Approaches</a:t>
                </a:r>
                <a:endParaRPr lang="en-US" altLang="ko-KR" dirty="0"/>
              </a:p>
              <a:p>
                <a:pPr lvl="1"/>
                <a:r>
                  <a:rPr lang="ko-KR" altLang="ko-KR" dirty="0" err="1"/>
                  <a:t>Regularization</a:t>
                </a:r>
                <a:r>
                  <a:rPr lang="ko-KR" altLang="ko-KR" dirty="0"/>
                  <a:t> and </a:t>
                </a:r>
                <a:r>
                  <a:rPr lang="ko-KR" altLang="ko-KR" dirty="0" err="1"/>
                  <a:t>data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augmentation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did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not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outperform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early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stopping</a:t>
                </a:r>
                <a:r>
                  <a:rPr lang="ko-KR" altLang="ko-KR" dirty="0"/>
                  <a:t> </a:t>
                </a:r>
                <a:r>
                  <a:rPr lang="ko-KR" altLang="ko-KR" dirty="0" err="1"/>
                  <a:t>alone</a:t>
                </a:r>
                <a:r>
                  <a:rPr lang="ko-KR" altLang="ko-KR" dirty="0"/>
                  <a:t>.</a:t>
                </a:r>
                <a:endParaRPr lang="ko-KR" altLang="en-US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b="1" dirty="0"/>
                  <a:t>   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F75752-5D78-11FF-49C1-51A6A7FBF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918CEF-0A51-123D-808B-2154E8A6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8DB76-62DF-05DA-51E6-65F9AC645DBC}"/>
              </a:ext>
            </a:extLst>
          </p:cNvPr>
          <p:cNvSpPr txBox="1"/>
          <p:nvPr/>
        </p:nvSpPr>
        <p:spPr>
          <a:xfrm>
            <a:off x="1409700" y="5402221"/>
            <a:ext cx="937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400" b="1" dirty="0" err="1"/>
              <a:t>Robust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models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need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sufficient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data</a:t>
            </a:r>
            <a:r>
              <a:rPr lang="ko-KR" altLang="ko-KR" sz="2400" b="1" dirty="0"/>
              <a:t> and </a:t>
            </a:r>
            <a:r>
              <a:rPr lang="ko-KR" altLang="ko-KR" sz="2400" b="1" dirty="0" err="1"/>
              <a:t>proper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early</a:t>
            </a:r>
            <a:r>
              <a:rPr lang="ko-KR" altLang="ko-KR" sz="2400" b="1" dirty="0"/>
              <a:t> </a:t>
            </a:r>
            <a:r>
              <a:rPr lang="ko-KR" altLang="ko-KR" sz="2400" b="1" dirty="0" err="1"/>
              <a:t>stopping</a:t>
            </a:r>
            <a:r>
              <a:rPr lang="ko-KR" altLang="ko-KR" sz="2400" b="1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875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61EF-6066-EA8D-A17A-BEA41F0E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C646F-8255-A0D2-EC1E-81CA8214F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7E6BD-AFD4-D28A-FA5D-42DC0806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97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9513</TotalTime>
  <Words>679</Words>
  <Application>Microsoft Office PowerPoint</Application>
  <PresentationFormat>와이드스크린</PresentationFormat>
  <Paragraphs>150</Paragraphs>
  <Slides>14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Cambria Math</vt:lpstr>
      <vt:lpstr>Office 테마</vt:lpstr>
      <vt:lpstr>Generalization: adversarially robust  vs standard</vt:lpstr>
      <vt:lpstr>Adversarial Training</vt:lpstr>
      <vt:lpstr>Standard vs Robust Accuracy</vt:lpstr>
      <vt:lpstr>Robust Generalization</vt:lpstr>
      <vt:lpstr>Robust Generalization Gap</vt:lpstr>
      <vt:lpstr>Data Requirements for Robust Generalization</vt:lpstr>
      <vt:lpstr>Effect of Training Set Size</vt:lpstr>
      <vt:lpstr>Theoretical Sample Complexity</vt:lpstr>
      <vt:lpstr>Robustness Benchmark</vt:lpstr>
      <vt:lpstr>Robust Training Dynamics</vt:lpstr>
      <vt:lpstr>Experimental Setup</vt:lpstr>
      <vt:lpstr>Robust Overfitting</vt:lpstr>
      <vt:lpstr>Robust Overfitting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오정호</dc:creator>
  <cp:lastModifiedBy>오정호</cp:lastModifiedBy>
  <cp:revision>29</cp:revision>
  <dcterms:created xsi:type="dcterms:W3CDTF">2025-09-10T03:09:38Z</dcterms:created>
  <dcterms:modified xsi:type="dcterms:W3CDTF">2026-08-26T07:02:56Z</dcterms:modified>
</cp:coreProperties>
</file>
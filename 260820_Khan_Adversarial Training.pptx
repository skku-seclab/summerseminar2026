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Google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ogleSans-bold.fntdata"/><Relationship Id="rId30" Type="http://schemas.openxmlformats.org/officeDocument/2006/relationships/font" Target="fonts/GoogleSans-regular.fntdata"/><Relationship Id="rId11" Type="http://schemas.openxmlformats.org/officeDocument/2006/relationships/slide" Target="slides/slide6.xml"/><Relationship Id="rId33" Type="http://schemas.openxmlformats.org/officeDocument/2006/relationships/font" Target="fonts/GoogleSans-boldItalic.fntdata"/><Relationship Id="rId10" Type="http://schemas.openxmlformats.org/officeDocument/2006/relationships/slide" Target="slides/slide5.xml"/><Relationship Id="rId32" Type="http://schemas.openxmlformats.org/officeDocument/2006/relationships/font" Target="fonts/Google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566efa4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566efa4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566efa4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7566efa4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7566efa4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7566efa4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7566efa4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7566efa4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7566efa4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7566efa4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7566efa4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7566efa4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7566efa4e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7566efa4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7566efa4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7566efa4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7566efa4e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7566efa4e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7566efa4e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7566efa4e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7566efa4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7566efa4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7566efa4e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7566efa4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566efa4e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7566efa4e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566efa4e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7566efa4e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7566efa4e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7566efa4e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Google Sans"/>
              <a:buNone/>
              <a:defRPr sz="4200"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oogle Sans"/>
              <a:buNone/>
              <a:defRPr sz="1600"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oogle Sans"/>
              <a:buNone/>
              <a:defRPr sz="36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Google Sans"/>
              <a:buNone/>
              <a:defRPr sz="2600"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Google Sans"/>
              <a:buChar char="●"/>
              <a:defRPr>
                <a:latin typeface="Google Sans"/>
                <a:ea typeface="Google Sans"/>
                <a:cs typeface="Google Sans"/>
                <a:sym typeface="Google Sans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○"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■"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●"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○"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■"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●"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○"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Google Sans"/>
              <a:buChar char="■"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oogle Sans"/>
              <a:buNone/>
              <a:defRPr b="1" sz="2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Google Sans"/>
              <a:buChar char="●"/>
              <a:defRPr sz="1300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Google Sans"/>
              <a:buChar char="○"/>
              <a:defRPr sz="1100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Google Sans"/>
              <a:buChar char="■"/>
              <a:defRPr sz="1100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Google Sans"/>
              <a:buChar char="●"/>
              <a:defRPr sz="1100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Google Sans"/>
              <a:buChar char="○"/>
              <a:defRPr sz="1100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Google Sans"/>
              <a:buChar char="■"/>
              <a:defRPr sz="1100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Google Sans"/>
              <a:buChar char="●"/>
              <a:defRPr sz="1100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Google Sans"/>
              <a:buChar char="○"/>
              <a:defRPr sz="1100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Google Sans"/>
              <a:buChar char="■"/>
              <a:defRPr sz="1100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7950" y="2046000"/>
            <a:ext cx="7688100" cy="1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Adversarial Training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0" y="3420125"/>
            <a:ext cx="76881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Presenter: Ahmad Khan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Textbook Seminar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Definition:</a:t>
            </a:r>
            <a:r>
              <a:rPr lang="en">
                <a:solidFill>
                  <a:srgbClr val="000000"/>
                </a:solidFill>
              </a:rPr>
              <a:t> Adversarial Training is a defense technique where a neural network is explicitly trained on adversarial examples (inputs with intentionally crafted noise) to make it resilient against attacks.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Why Standard Training Fails:</a:t>
            </a:r>
            <a:r>
              <a:rPr lang="en">
                <a:solidFill>
                  <a:srgbClr val="000000"/>
                </a:solidFill>
              </a:rPr>
              <a:t> Standard empirical risk minimization (ERM) only optimizes for clean data, leaving the decision boundary vulnerable to tiny, imperceptible perturbations.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Objective:</a:t>
            </a:r>
            <a:r>
              <a:rPr lang="en">
                <a:solidFill>
                  <a:srgbClr val="000000"/>
                </a:solidFill>
              </a:rPr>
              <a:t> Trade a small fraction of clean accuracy to gain substantial security and robustness against worst-case inputs.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125" y="3535176"/>
            <a:ext cx="5188425" cy="15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Min-Max Optimization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894226"/>
            <a:ext cx="76887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>
                <a:solidFill>
                  <a:srgbClr val="000000"/>
                </a:solidFill>
              </a:rPr>
              <a:t>The core learning objective is formulated as a two-player zero-sum game.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>
                <a:solidFill>
                  <a:srgbClr val="000000"/>
                </a:solidFill>
              </a:rPr>
              <a:t>Two Opposing Goals:</a:t>
            </a:r>
            <a:endParaRPr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Inner Maximization (max</a:t>
            </a:r>
            <a:r>
              <a:rPr b="1" baseline="-25000" lang="en" sz="1300">
                <a:solidFill>
                  <a:srgbClr val="000000"/>
                </a:solidFill>
              </a:rPr>
              <a:t>δ∈Δ</a:t>
            </a:r>
            <a:r>
              <a:rPr b="1" lang="en" sz="1300">
                <a:solidFill>
                  <a:srgbClr val="000000"/>
                </a:solidFill>
              </a:rPr>
              <a:t>):</a:t>
            </a:r>
            <a:r>
              <a:rPr lang="en" sz="1300">
                <a:solidFill>
                  <a:srgbClr val="000000"/>
                </a:solidFill>
              </a:rPr>
              <a:t> Adversary searches for noise δ that maximizes model loss.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Outer Minimization (min</a:t>
            </a:r>
            <a:r>
              <a:rPr b="1" baseline="-25000" lang="en" sz="1300">
                <a:solidFill>
                  <a:srgbClr val="000000"/>
                </a:solidFill>
              </a:rPr>
              <a:t>θ</a:t>
            </a:r>
            <a:r>
              <a:rPr b="1" lang="en" sz="1300">
                <a:solidFill>
                  <a:srgbClr val="000000"/>
                </a:solidFill>
              </a:rPr>
              <a:t>):</a:t>
            </a:r>
            <a:r>
              <a:rPr lang="en" sz="1300">
                <a:solidFill>
                  <a:srgbClr val="000000"/>
                </a:solidFill>
              </a:rPr>
              <a:t> Defender adjusts weights θ to minimize worst-case loss.</a:t>
            </a:r>
            <a:endParaRPr b="1" sz="1300">
              <a:solidFill>
                <a:srgbClr val="000000"/>
              </a:solidFill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078887"/>
            <a:ext cx="3015376" cy="5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Gradient Sign Method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571750"/>
            <a:ext cx="7688700" cy="25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Concept:</a:t>
            </a:r>
            <a:r>
              <a:rPr lang="en">
                <a:solidFill>
                  <a:srgbClr val="000000"/>
                </a:solidFill>
              </a:rPr>
              <a:t> Takes a single step in the direction of the loss gradient to maximize loss.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Why </a:t>
            </a:r>
            <a:r>
              <a:rPr b="1" lang="en">
                <a:solidFill>
                  <a:srgbClr val="999999"/>
                </a:solidFill>
              </a:rPr>
              <a:t>sign()</a:t>
            </a:r>
            <a:r>
              <a:rPr b="1" lang="en">
                <a:solidFill>
                  <a:srgbClr val="000000"/>
                </a:solidFill>
              </a:rPr>
              <a:t>:</a:t>
            </a:r>
            <a:r>
              <a:rPr lang="en">
                <a:solidFill>
                  <a:srgbClr val="000000"/>
                </a:solidFill>
              </a:rPr>
              <a:t> Moving along the sign vector steps directly to the corners of the ℓ</a:t>
            </a:r>
            <a:r>
              <a:rPr baseline="-25000" lang="en">
                <a:solidFill>
                  <a:srgbClr val="000000"/>
                </a:solidFill>
              </a:rPr>
              <a:t>∞</a:t>
            </a:r>
            <a:r>
              <a:rPr lang="en">
                <a:solidFill>
                  <a:srgbClr val="000000"/>
                </a:solidFill>
              </a:rPr>
              <a:t> bounding box, maximizing step size.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Pro:</a:t>
            </a:r>
            <a:r>
              <a:rPr lang="en">
                <a:solidFill>
                  <a:srgbClr val="000000"/>
                </a:solidFill>
              </a:rPr>
              <a:t> Very fast to compute.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Con:</a:t>
            </a:r>
            <a:r>
              <a:rPr lang="en">
                <a:solidFill>
                  <a:srgbClr val="000000"/>
                </a:solidFill>
              </a:rPr>
              <a:t> Provides a coarse linear approximation that often fails against stronger multi-step attacks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8" name="Google Shape;108;p16" title="math-20260819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53850"/>
            <a:ext cx="5111700" cy="65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Projected Gradient Descent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6140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Concept:</a:t>
            </a:r>
            <a:r>
              <a:rPr lang="en">
                <a:solidFill>
                  <a:srgbClr val="000000"/>
                </a:solidFill>
              </a:rPr>
              <a:t> An iterative multi-step version of FGSM that explores the non-linear loss landscape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Key Components: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Step Size α:</a:t>
            </a:r>
            <a:r>
              <a:rPr lang="en" sz="1300">
                <a:solidFill>
                  <a:srgbClr val="000000"/>
                </a:solidFill>
              </a:rPr>
              <a:t> Takes smaller steps than ε.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Projection Π:</a:t>
            </a:r>
            <a:r>
              <a:rPr lang="en" sz="1300">
                <a:solidFill>
                  <a:srgbClr val="000000"/>
                </a:solidFill>
              </a:rPr>
              <a:t> Clips values back into [-ε, ε] if an iteration steps outside the threat model.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Random Restarts:</a:t>
            </a:r>
            <a:r>
              <a:rPr lang="en" sz="1300">
                <a:solidFill>
                  <a:srgbClr val="000000"/>
                </a:solidFill>
              </a:rPr>
              <a:t> Starts from multiple random points inside x + </a:t>
            </a:r>
            <a:r>
              <a:rPr lang="en" sz="1300">
                <a:solidFill>
                  <a:srgbClr val="000000"/>
                </a:solidFill>
              </a:rPr>
              <a:t>Δ</a:t>
            </a:r>
            <a:r>
              <a:rPr lang="en" sz="1300">
                <a:solidFill>
                  <a:srgbClr val="000000"/>
                </a:solidFill>
              </a:rPr>
              <a:t> to avoid getting stuck in local traps.</a:t>
            </a:r>
            <a:endParaRPr sz="1300">
              <a:solidFill>
                <a:srgbClr val="000000"/>
              </a:solidFill>
            </a:endParaRPr>
          </a:p>
        </p:txBody>
      </p:sp>
      <p:pic>
        <p:nvPicPr>
          <p:cNvPr id="115" name="Google Shape;115;p17" title="math-20260819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53850"/>
            <a:ext cx="6172949" cy="7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Attack Crafting Requires Backpropagation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Forward Pass:</a:t>
            </a:r>
            <a:r>
              <a:rPr lang="en">
                <a:solidFill>
                  <a:srgbClr val="000000"/>
                </a:solidFill>
              </a:rPr>
              <a:t> Input → Model → Loss</a:t>
            </a:r>
            <a:endParaRPr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i="1" lang="en" sz="1300">
                <a:solidFill>
                  <a:srgbClr val="000000"/>
                </a:solidFill>
              </a:rPr>
              <a:t>Problem:</a:t>
            </a:r>
            <a:r>
              <a:rPr lang="en" sz="1300">
                <a:solidFill>
                  <a:srgbClr val="000000"/>
                </a:solidFill>
              </a:rPr>
              <a:t> Tells you how wrong the model is, but gives zero direction on how to tweak pixels.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Backward Pass:</a:t>
            </a:r>
            <a:r>
              <a:rPr lang="en">
                <a:solidFill>
                  <a:srgbClr val="000000"/>
                </a:solidFill>
              </a:rPr>
              <a:t> Computes exact partial derivatives using the chain rule.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Dual Role of Backpropagation: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∇</a:t>
            </a:r>
            <a:r>
              <a:rPr b="1" baseline="-25000" lang="en" sz="1300">
                <a:solidFill>
                  <a:srgbClr val="000000"/>
                </a:solidFill>
              </a:rPr>
              <a:t>θ</a:t>
            </a:r>
            <a:r>
              <a:rPr b="1" lang="en" sz="1300">
                <a:solidFill>
                  <a:srgbClr val="000000"/>
                </a:solidFill>
              </a:rPr>
              <a:t>Loss:</a:t>
            </a:r>
            <a:r>
              <a:rPr lang="en" sz="1300">
                <a:solidFill>
                  <a:srgbClr val="000000"/>
                </a:solidFill>
              </a:rPr>
              <a:t> Gradient w.r.t. parameters → Update weights to decrease loss.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∇</a:t>
            </a:r>
            <a:r>
              <a:rPr b="1" baseline="-25000" lang="en" sz="1300">
                <a:solidFill>
                  <a:srgbClr val="000000"/>
                </a:solidFill>
              </a:rPr>
              <a:t>x</a:t>
            </a:r>
            <a:r>
              <a:rPr b="1" lang="en" sz="1300">
                <a:solidFill>
                  <a:srgbClr val="000000"/>
                </a:solidFill>
              </a:rPr>
              <a:t> Loss:</a:t>
            </a:r>
            <a:r>
              <a:rPr lang="en" sz="1300">
                <a:solidFill>
                  <a:srgbClr val="000000"/>
                </a:solidFill>
              </a:rPr>
              <a:t> Gradient w.r.t. input pixels → Update noise to increase loss.</a:t>
            </a:r>
            <a:endParaRPr sz="1300"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138" y="3853100"/>
            <a:ext cx="4261326" cy="12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Non-Concavity and Universal Adversaries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Challenge:</a:t>
            </a:r>
            <a:r>
              <a:rPr lang="en">
                <a:solidFill>
                  <a:srgbClr val="000000"/>
                </a:solidFill>
              </a:rPr>
              <a:t> Neural network loss surfaces are highly non-concave; finding global maxima is theoretically hard.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Empirical Discovery: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Local maxima found by PGD have remarkably consistent, high loss values across random restarts.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The loss values of local maxima are concentrated in a narrow band.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Takeaway:</a:t>
            </a:r>
            <a:r>
              <a:rPr lang="en">
                <a:solidFill>
                  <a:srgbClr val="000000"/>
                </a:solidFill>
              </a:rPr>
              <a:t> PGD acts as a </a:t>
            </a:r>
            <a:r>
              <a:rPr b="1" lang="en">
                <a:solidFill>
                  <a:srgbClr val="000000"/>
                </a:solidFill>
              </a:rPr>
              <a:t>"universal first-order adversary."</a:t>
            </a:r>
            <a:r>
              <a:rPr lang="en">
                <a:solidFill>
                  <a:srgbClr val="000000"/>
                </a:solidFill>
              </a:rPr>
              <a:t> If a model is defended against PGD, it inherits resistance against all first-order attacks.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8550" y="3960675"/>
            <a:ext cx="4213617" cy="11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Capacity is Essential for Robustness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>
                <a:solidFill>
                  <a:srgbClr val="000000"/>
                </a:solidFill>
              </a:rPr>
              <a:t>Robust training requires separating whole ℓ</a:t>
            </a:r>
            <a:r>
              <a:rPr baseline="-25000" lang="en">
                <a:solidFill>
                  <a:srgbClr val="000000"/>
                </a:solidFill>
              </a:rPr>
              <a:t>∞</a:t>
            </a:r>
            <a:r>
              <a:rPr lang="en">
                <a:solidFill>
                  <a:srgbClr val="000000"/>
                </a:solidFill>
              </a:rPr>
              <a:t>-balls around data points, not just individual points.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Key Insights: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Increased Demand:</a:t>
            </a:r>
            <a:r>
              <a:rPr lang="en" sz="1300">
                <a:solidFill>
                  <a:srgbClr val="000000"/>
                </a:solidFill>
              </a:rPr>
              <a:t> Decision boundaries must be significantly more complex to encapsulate perturbation balls.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Capacity Limit:</a:t>
            </a:r>
            <a:r>
              <a:rPr lang="en" sz="1300">
                <a:solidFill>
                  <a:srgbClr val="000000"/>
                </a:solidFill>
              </a:rPr>
              <a:t> Small networks (low parameter count) suffer severe capacity bottlenecks and cannot achieve both clean and robust accuracy.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Solution:</a:t>
            </a:r>
            <a:r>
              <a:rPr lang="en" sz="1300">
                <a:solidFill>
                  <a:srgbClr val="000000"/>
                </a:solidFill>
              </a:rPr>
              <a:t> Scaling up network width (e.g., Wide-ResNet) dramatically improves robust performance.</a:t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5950" y="3755925"/>
            <a:ext cx="4206600" cy="127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</a:t>
            </a:r>
            <a:r>
              <a:rPr lang="en"/>
              <a:t>Cost of </a:t>
            </a:r>
            <a:r>
              <a:rPr lang="en"/>
              <a:t>Standard </a:t>
            </a:r>
            <a:r>
              <a:rPr lang="en"/>
              <a:t>Robust Training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The PGD-7 Math: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7 Backward passes to generate the 7-step PGD attack.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1 Backward pass to compute ∇</a:t>
            </a:r>
            <a:r>
              <a:rPr baseline="-25000" lang="en" sz="1300">
                <a:solidFill>
                  <a:srgbClr val="000000"/>
                </a:solidFill>
              </a:rPr>
              <a:t>θ</a:t>
            </a:r>
            <a:r>
              <a:rPr lang="en" sz="1300">
                <a:solidFill>
                  <a:srgbClr val="000000"/>
                </a:solidFill>
              </a:rPr>
              <a:t> and update model weights.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b="1" lang="en" sz="1300">
                <a:solidFill>
                  <a:srgbClr val="000000"/>
                </a:solidFill>
              </a:rPr>
              <a:t>Total:</a:t>
            </a:r>
            <a:r>
              <a:rPr lang="en" sz="1300">
                <a:solidFill>
                  <a:srgbClr val="000000"/>
                </a:solidFill>
              </a:rPr>
              <a:t> 8 Backward passes per training iteration (≈ 8 × slowdown over standard training).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Impact:</a:t>
            </a:r>
            <a:r>
              <a:rPr lang="en">
                <a:solidFill>
                  <a:srgbClr val="000000"/>
                </a:solidFill>
              </a:rPr>
              <a:t> Training standard models on datasets like CIFAR-10 or ImageNet takes days or weeks.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Question:</a:t>
            </a:r>
            <a:r>
              <a:rPr lang="en">
                <a:solidFill>
                  <a:srgbClr val="000000"/>
                </a:solidFill>
              </a:rPr>
              <a:t> Can we get PGD-level robustness without paying the N × computational penalty?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</a:t>
            </a:r>
            <a:r>
              <a:rPr lang="en"/>
              <a:t>Free</a:t>
            </a:r>
            <a:r>
              <a:rPr lang="en"/>
              <a:t>"</a:t>
            </a:r>
            <a:r>
              <a:rPr lang="en"/>
              <a:t> Adversarial Training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Breakthrough Concept:</a:t>
            </a:r>
            <a:r>
              <a:rPr lang="en">
                <a:solidFill>
                  <a:srgbClr val="000000"/>
                </a:solidFill>
              </a:rPr>
              <a:t> Simultaneous updates!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>
                <a:solidFill>
                  <a:srgbClr val="000000"/>
                </a:solidFill>
              </a:rPr>
              <a:t>Instead of wasting backward passes strictly crafting noise, update both pixels δ and weights θ in the exact same step.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Mechanics: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Replays each minibatch m times consecutively.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Backward pass calculates </a:t>
            </a:r>
            <a:r>
              <a:rPr b="1" lang="en" sz="1300">
                <a:solidFill>
                  <a:srgbClr val="000000"/>
                </a:solidFill>
              </a:rPr>
              <a:t>∇</a:t>
            </a:r>
            <a:r>
              <a:rPr b="1" baseline="-25000" lang="en" sz="1300">
                <a:solidFill>
                  <a:srgbClr val="000000"/>
                </a:solidFill>
              </a:rPr>
              <a:t>x</a:t>
            </a:r>
            <a:r>
              <a:rPr b="1" lang="en" sz="1300">
                <a:solidFill>
                  <a:srgbClr val="000000"/>
                </a:solidFill>
              </a:rPr>
              <a:t> Loss</a:t>
            </a:r>
            <a:r>
              <a:rPr lang="en" sz="1300">
                <a:solidFill>
                  <a:srgbClr val="000000"/>
                </a:solidFill>
              </a:rPr>
              <a:t> and </a:t>
            </a:r>
            <a:r>
              <a:rPr b="1" lang="en" sz="1300">
                <a:solidFill>
                  <a:srgbClr val="000000"/>
                </a:solidFill>
              </a:rPr>
              <a:t>∇</a:t>
            </a:r>
            <a:r>
              <a:rPr b="1" baseline="-25000" lang="en" sz="1300">
                <a:solidFill>
                  <a:srgbClr val="000000"/>
                </a:solidFill>
              </a:rPr>
              <a:t>θ</a:t>
            </a:r>
            <a:r>
              <a:rPr b="1" lang="en" sz="1300">
                <a:solidFill>
                  <a:srgbClr val="000000"/>
                </a:solidFill>
              </a:rPr>
              <a:t> Loss</a:t>
            </a:r>
            <a:r>
              <a:rPr lang="en" sz="1300">
                <a:solidFill>
                  <a:srgbClr val="000000"/>
                </a:solidFill>
              </a:rPr>
              <a:t> simultaneously.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Updates δ to make attack harder </a:t>
            </a:r>
            <a:r>
              <a:rPr i="1" lang="en" sz="1300">
                <a:solidFill>
                  <a:srgbClr val="000000"/>
                </a:solidFill>
              </a:rPr>
              <a:t>and</a:t>
            </a:r>
            <a:r>
              <a:rPr lang="en" sz="1300">
                <a:solidFill>
                  <a:srgbClr val="000000"/>
                </a:solidFill>
              </a:rPr>
              <a:t> updates θ to make model smarter in 1 pass.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To balance compute time, total training epochs are reduced by m.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Fast-FGSM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Revisiting Single-Step Training: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Single-step FGSM was previously thought to be ineffective.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Fix - Random Initialization: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Initialize noise randomly within the ball before taking an FGSM step: δ∼ Uniform (-ε, ε).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Prevents perturbations from over-fitting to zero-centered boundaries.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Result:</a:t>
            </a:r>
            <a:r>
              <a:rPr lang="en">
                <a:solidFill>
                  <a:srgbClr val="000000"/>
                </a:solidFill>
              </a:rPr>
              <a:t> Achieves robust accuracy equal to 7-step PGD while running as fast as standard single-step training.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Comparison</a:t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53850"/>
            <a:ext cx="694903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Catastrophic Overfitting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Catastrophic Overfitting:</a:t>
            </a:r>
            <a:r>
              <a:rPr lang="en">
                <a:solidFill>
                  <a:srgbClr val="000000"/>
                </a:solidFill>
              </a:rPr>
              <a:t> A sudden breakdown during Fast-FGSM training where robust accuracy against multi-step PGD crashes to 0% in a single epoch.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Causes: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Step size</a:t>
            </a:r>
            <a:r>
              <a:rPr lang="en" sz="1300">
                <a:solidFill>
                  <a:srgbClr val="000000"/>
                </a:solidFill>
              </a:rPr>
              <a:t> </a:t>
            </a:r>
            <a:r>
              <a:rPr lang="en" sz="1300">
                <a:solidFill>
                  <a:srgbClr val="000000"/>
                </a:solidFill>
              </a:rPr>
              <a:t>α chosen too large (e.g., α = 2ε).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Lack of random noise initialization.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Prevention: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Use optimal step sizes (α ≈ 1.25ε).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Monitor robust accuracy on a small validation batch evaluated with multi-step PGD.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Mathematical Core:</a:t>
            </a:r>
            <a:r>
              <a:rPr lang="en">
                <a:solidFill>
                  <a:srgbClr val="000000"/>
                </a:solidFill>
              </a:rPr>
              <a:t> Adversarial training is modeled as a Min-Max optimization problem balancing inner maximization (attack) and outer minimization (defense).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Capacity Requirement:</a:t>
            </a:r>
            <a:r>
              <a:rPr lang="en">
                <a:solidFill>
                  <a:srgbClr val="000000"/>
                </a:solidFill>
              </a:rPr>
              <a:t> High network capacity is mandatory to accommodate complex, robust decision boundaries.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b="1" lang="en">
                <a:solidFill>
                  <a:srgbClr val="000000"/>
                </a:solidFill>
              </a:rPr>
              <a:t>Optimization Evolution:</a:t>
            </a:r>
            <a:endParaRPr b="1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PGD: Strongest benchmark, but computationally expensive (N × backward passes).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Free: Recycles backward passes to update parameters and perturbations concurrently.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lphaLcPeriod"/>
            </a:pPr>
            <a:r>
              <a:rPr lang="en" sz="1300">
                <a:solidFill>
                  <a:srgbClr val="000000"/>
                </a:solidFill>
              </a:rPr>
              <a:t>Fast-FGSM: Restores single-step training efficiency via random initialization.</a:t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727650" y="2304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7650" y="2304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:)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